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sldIdLst>
    <p:sldId id="256" r:id="rId2"/>
    <p:sldId id="324" r:id="rId3"/>
    <p:sldId id="259" r:id="rId4"/>
    <p:sldId id="260" r:id="rId5"/>
    <p:sldId id="338" r:id="rId6"/>
    <p:sldId id="339" r:id="rId7"/>
    <p:sldId id="340" r:id="rId8"/>
    <p:sldId id="341" r:id="rId9"/>
    <p:sldId id="261" r:id="rId10"/>
    <p:sldId id="334" r:id="rId11"/>
    <p:sldId id="265" r:id="rId12"/>
    <p:sldId id="347" r:id="rId13"/>
    <p:sldId id="328" r:id="rId14"/>
    <p:sldId id="349" r:id="rId15"/>
    <p:sldId id="350" r:id="rId16"/>
    <p:sldId id="351" r:id="rId17"/>
    <p:sldId id="335" r:id="rId18"/>
    <p:sldId id="257" r:id="rId19"/>
    <p:sldId id="344" r:id="rId20"/>
    <p:sldId id="342" r:id="rId21"/>
    <p:sldId id="343" r:id="rId22"/>
    <p:sldId id="345" r:id="rId23"/>
    <p:sldId id="346" r:id="rId24"/>
    <p:sldId id="352" r:id="rId25"/>
    <p:sldId id="321" r:id="rId26"/>
  </p:sldIdLst>
  <p:sldSz cx="12801600" cy="7315200"/>
  <p:notesSz cx="6858000" cy="9144000"/>
  <p:defaultTextStyle>
    <a:defPPr>
      <a:defRPr lang="en-US"/>
    </a:defPPr>
    <a:lvl1pPr marL="0" algn="l" defTabSz="1149448" rtl="0" eaLnBrk="1" latinLnBrk="0" hangingPunct="1">
      <a:defRPr sz="2300" kern="1200">
        <a:solidFill>
          <a:schemeClr val="tx1"/>
        </a:solidFill>
        <a:latin typeface="+mn-lt"/>
        <a:ea typeface="+mn-ea"/>
        <a:cs typeface="+mn-cs"/>
      </a:defRPr>
    </a:lvl1pPr>
    <a:lvl2pPr marL="574724" algn="l" defTabSz="1149448" rtl="0" eaLnBrk="1" latinLnBrk="0" hangingPunct="1">
      <a:defRPr sz="2300" kern="1200">
        <a:solidFill>
          <a:schemeClr val="tx1"/>
        </a:solidFill>
        <a:latin typeface="+mn-lt"/>
        <a:ea typeface="+mn-ea"/>
        <a:cs typeface="+mn-cs"/>
      </a:defRPr>
    </a:lvl2pPr>
    <a:lvl3pPr marL="1149448" algn="l" defTabSz="1149448" rtl="0" eaLnBrk="1" latinLnBrk="0" hangingPunct="1">
      <a:defRPr sz="2300" kern="1200">
        <a:solidFill>
          <a:schemeClr val="tx1"/>
        </a:solidFill>
        <a:latin typeface="+mn-lt"/>
        <a:ea typeface="+mn-ea"/>
        <a:cs typeface="+mn-cs"/>
      </a:defRPr>
    </a:lvl3pPr>
    <a:lvl4pPr marL="1724172" algn="l" defTabSz="1149448" rtl="0" eaLnBrk="1" latinLnBrk="0" hangingPunct="1">
      <a:defRPr sz="2300" kern="1200">
        <a:solidFill>
          <a:schemeClr val="tx1"/>
        </a:solidFill>
        <a:latin typeface="+mn-lt"/>
        <a:ea typeface="+mn-ea"/>
        <a:cs typeface="+mn-cs"/>
      </a:defRPr>
    </a:lvl4pPr>
    <a:lvl5pPr marL="2298895" algn="l" defTabSz="1149448" rtl="0" eaLnBrk="1" latinLnBrk="0" hangingPunct="1">
      <a:defRPr sz="2300" kern="1200">
        <a:solidFill>
          <a:schemeClr val="tx1"/>
        </a:solidFill>
        <a:latin typeface="+mn-lt"/>
        <a:ea typeface="+mn-ea"/>
        <a:cs typeface="+mn-cs"/>
      </a:defRPr>
    </a:lvl5pPr>
    <a:lvl6pPr marL="2873621" algn="l" defTabSz="1149448" rtl="0" eaLnBrk="1" latinLnBrk="0" hangingPunct="1">
      <a:defRPr sz="2300" kern="1200">
        <a:solidFill>
          <a:schemeClr val="tx1"/>
        </a:solidFill>
        <a:latin typeface="+mn-lt"/>
        <a:ea typeface="+mn-ea"/>
        <a:cs typeface="+mn-cs"/>
      </a:defRPr>
    </a:lvl6pPr>
    <a:lvl7pPr marL="3448344" algn="l" defTabSz="1149448" rtl="0" eaLnBrk="1" latinLnBrk="0" hangingPunct="1">
      <a:defRPr sz="2300" kern="1200">
        <a:solidFill>
          <a:schemeClr val="tx1"/>
        </a:solidFill>
        <a:latin typeface="+mn-lt"/>
        <a:ea typeface="+mn-ea"/>
        <a:cs typeface="+mn-cs"/>
      </a:defRPr>
    </a:lvl7pPr>
    <a:lvl8pPr marL="4023069" algn="l" defTabSz="1149448" rtl="0" eaLnBrk="1" latinLnBrk="0" hangingPunct="1">
      <a:defRPr sz="2300" kern="1200">
        <a:solidFill>
          <a:schemeClr val="tx1"/>
        </a:solidFill>
        <a:latin typeface="+mn-lt"/>
        <a:ea typeface="+mn-ea"/>
        <a:cs typeface="+mn-cs"/>
      </a:defRPr>
    </a:lvl8pPr>
    <a:lvl9pPr marL="4597793" algn="l" defTabSz="1149448" rtl="0" eaLnBrk="1" latinLnBrk="0" hangingPunct="1">
      <a:defRPr sz="2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p15:clr>
            <a:srgbClr val="A4A3A4"/>
          </p15:clr>
        </p15:guide>
        <p15:guide id="2" pos="40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D9F1"/>
    <a:srgbClr val="C4E1F2"/>
    <a:srgbClr val="558ED5"/>
    <a:srgbClr val="558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3447" autoAdjust="0"/>
  </p:normalViewPr>
  <p:slideViewPr>
    <p:cSldViewPr>
      <p:cViewPr varScale="1">
        <p:scale>
          <a:sx n="59" d="100"/>
          <a:sy n="59" d="100"/>
        </p:scale>
        <p:origin x="828" y="60"/>
      </p:cViewPr>
      <p:guideLst>
        <p:guide orient="horz" pos="2304"/>
        <p:guide pos="40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CD7A36-15CF-4B40-B7C9-B299C824610E}" type="datetimeFigureOut">
              <a:rPr lang="en-US" smtClean="0"/>
              <a:t>9/30/2026</a:t>
            </a:fld>
            <a:endParaRPr lang="en-US"/>
          </a:p>
        </p:txBody>
      </p:sp>
      <p:sp>
        <p:nvSpPr>
          <p:cNvPr id="4" name="Slide Image Placeholder 3"/>
          <p:cNvSpPr>
            <a:spLocks noGrp="1" noRot="1" noChangeAspect="1"/>
          </p:cNvSpPr>
          <p:nvPr>
            <p:ph type="sldImg" idx="2"/>
          </p:nvPr>
        </p:nvSpPr>
        <p:spPr>
          <a:xfrm>
            <a:off x="428625" y="685800"/>
            <a:ext cx="60007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DE4103-D868-498D-BB7B-ABDA25F9744E}" type="slidenum">
              <a:rPr lang="en-US" smtClean="0"/>
              <a:t>‹#›</a:t>
            </a:fld>
            <a:endParaRPr lang="en-US"/>
          </a:p>
        </p:txBody>
      </p:sp>
    </p:spTree>
    <p:extLst>
      <p:ext uri="{BB962C8B-B14F-4D97-AF65-F5344CB8AC3E}">
        <p14:creationId xmlns:p14="http://schemas.microsoft.com/office/powerpoint/2010/main" val="4146365420"/>
      </p:ext>
    </p:extLst>
  </p:cSld>
  <p:clrMap bg1="lt1" tx1="dk1" bg2="lt2" tx2="dk2" accent1="accent1" accent2="accent2" accent3="accent3" accent4="accent4" accent5="accent5" accent6="accent6" hlink="hlink" folHlink="folHlink"/>
  <p:notesStyle>
    <a:lvl1pPr marL="0" algn="l" defTabSz="1149448" rtl="0" eaLnBrk="1" latinLnBrk="0" hangingPunct="1">
      <a:defRPr sz="1500" kern="1200">
        <a:solidFill>
          <a:schemeClr val="tx1"/>
        </a:solidFill>
        <a:latin typeface="+mn-lt"/>
        <a:ea typeface="+mn-ea"/>
        <a:cs typeface="+mn-cs"/>
      </a:defRPr>
    </a:lvl1pPr>
    <a:lvl2pPr marL="574724" algn="l" defTabSz="1149448" rtl="0" eaLnBrk="1" latinLnBrk="0" hangingPunct="1">
      <a:defRPr sz="1500" kern="1200">
        <a:solidFill>
          <a:schemeClr val="tx1"/>
        </a:solidFill>
        <a:latin typeface="+mn-lt"/>
        <a:ea typeface="+mn-ea"/>
        <a:cs typeface="+mn-cs"/>
      </a:defRPr>
    </a:lvl2pPr>
    <a:lvl3pPr marL="1149448" algn="l" defTabSz="1149448" rtl="0" eaLnBrk="1" latinLnBrk="0" hangingPunct="1">
      <a:defRPr sz="1500" kern="1200">
        <a:solidFill>
          <a:schemeClr val="tx1"/>
        </a:solidFill>
        <a:latin typeface="+mn-lt"/>
        <a:ea typeface="+mn-ea"/>
        <a:cs typeface="+mn-cs"/>
      </a:defRPr>
    </a:lvl3pPr>
    <a:lvl4pPr marL="1724172" algn="l" defTabSz="1149448" rtl="0" eaLnBrk="1" latinLnBrk="0" hangingPunct="1">
      <a:defRPr sz="1500" kern="1200">
        <a:solidFill>
          <a:schemeClr val="tx1"/>
        </a:solidFill>
        <a:latin typeface="+mn-lt"/>
        <a:ea typeface="+mn-ea"/>
        <a:cs typeface="+mn-cs"/>
      </a:defRPr>
    </a:lvl4pPr>
    <a:lvl5pPr marL="2298895" algn="l" defTabSz="1149448" rtl="0" eaLnBrk="1" latinLnBrk="0" hangingPunct="1">
      <a:defRPr sz="1500" kern="1200">
        <a:solidFill>
          <a:schemeClr val="tx1"/>
        </a:solidFill>
        <a:latin typeface="+mn-lt"/>
        <a:ea typeface="+mn-ea"/>
        <a:cs typeface="+mn-cs"/>
      </a:defRPr>
    </a:lvl5pPr>
    <a:lvl6pPr marL="2873621" algn="l" defTabSz="1149448" rtl="0" eaLnBrk="1" latinLnBrk="0" hangingPunct="1">
      <a:defRPr sz="1500" kern="1200">
        <a:solidFill>
          <a:schemeClr val="tx1"/>
        </a:solidFill>
        <a:latin typeface="+mn-lt"/>
        <a:ea typeface="+mn-ea"/>
        <a:cs typeface="+mn-cs"/>
      </a:defRPr>
    </a:lvl6pPr>
    <a:lvl7pPr marL="3448344" algn="l" defTabSz="1149448" rtl="0" eaLnBrk="1" latinLnBrk="0" hangingPunct="1">
      <a:defRPr sz="1500" kern="1200">
        <a:solidFill>
          <a:schemeClr val="tx1"/>
        </a:solidFill>
        <a:latin typeface="+mn-lt"/>
        <a:ea typeface="+mn-ea"/>
        <a:cs typeface="+mn-cs"/>
      </a:defRPr>
    </a:lvl7pPr>
    <a:lvl8pPr marL="4023069" algn="l" defTabSz="1149448" rtl="0" eaLnBrk="1" latinLnBrk="0" hangingPunct="1">
      <a:defRPr sz="1500" kern="1200">
        <a:solidFill>
          <a:schemeClr val="tx1"/>
        </a:solidFill>
        <a:latin typeface="+mn-lt"/>
        <a:ea typeface="+mn-ea"/>
        <a:cs typeface="+mn-cs"/>
      </a:defRPr>
    </a:lvl8pPr>
    <a:lvl9pPr marL="4597793" algn="l" defTabSz="1149448" rtl="0" eaLnBrk="1" latinLnBrk="0" hangingPunct="1">
      <a:defRPr sz="15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“Good morning ma’am. My project is titled </a:t>
            </a:r>
            <a:r>
              <a:rPr lang="en-IN" i="1" dirty="0"/>
              <a:t>Sentence-Level Detection and Tiered Abstention Framework for Reducing Hallucinations in Domain-Specific RAG Systems</a:t>
            </a:r>
            <a:r>
              <a:rPr lang="en-IN" dirty="0"/>
              <a:t>. The main idea is to improve the reliability of RAG systems, particularly for medical applications, by checking the generated response sentence by sentence and taking appropriate action when a claim is not supported by the retrieved evidence.”</a:t>
            </a:r>
          </a:p>
          <a:p>
            <a:r>
              <a:rPr lang="en-IN" dirty="0"/>
              <a:t>“I will first explain the problem and motivation, then discuss the research gap identified from existing literature. After that, I will explain the objectives, modules, system architecture, development and integration strategy, the datasets being considered, and finally the proposed research framework.”</a:t>
            </a:r>
          </a:p>
        </p:txBody>
      </p:sp>
      <p:sp>
        <p:nvSpPr>
          <p:cNvPr id="4" name="Slide Number Placeholder 3"/>
          <p:cNvSpPr>
            <a:spLocks noGrp="1"/>
          </p:cNvSpPr>
          <p:nvPr>
            <p:ph type="sldNum" sz="quarter" idx="5"/>
          </p:nvPr>
        </p:nvSpPr>
        <p:spPr/>
        <p:txBody>
          <a:bodyPr/>
          <a:lstStyle/>
          <a:p>
            <a:fld id="{83DE4103-D868-498D-BB7B-ABDA25F9744E}" type="slidenum">
              <a:rPr lang="en-US" smtClean="0"/>
              <a:t>1</a:t>
            </a:fld>
            <a:endParaRPr lang="en-US"/>
          </a:p>
        </p:txBody>
      </p:sp>
    </p:spTree>
    <p:extLst>
      <p:ext uri="{BB962C8B-B14F-4D97-AF65-F5344CB8AC3E}">
        <p14:creationId xmlns:p14="http://schemas.microsoft.com/office/powerpoint/2010/main" val="188359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“RAG reduces hallucinations by providing external documents to an LLM, but retrieval alone does not guarantee that every generated statement is supported. My proposed framework therefore verifies every generated sentence using an NLI model. Depending on whether the claim is supported, unsupported or uncertain, the system can display it, suppress it, retrieve additional evidence, or flag it. The expected outcome is a more reliable and transparent RAG system.”</a:t>
            </a:r>
          </a:p>
        </p:txBody>
      </p:sp>
      <p:sp>
        <p:nvSpPr>
          <p:cNvPr id="4" name="Slide Number Placeholder 3"/>
          <p:cNvSpPr>
            <a:spLocks noGrp="1"/>
          </p:cNvSpPr>
          <p:nvPr>
            <p:ph type="sldNum" sz="quarter" idx="5"/>
          </p:nvPr>
        </p:nvSpPr>
        <p:spPr/>
        <p:txBody>
          <a:bodyPr/>
          <a:lstStyle/>
          <a:p>
            <a:fld id="{83DE4103-D868-498D-BB7B-ABDA25F9744E}" type="slidenum">
              <a:rPr lang="en-US" smtClean="0"/>
              <a:t>3</a:t>
            </a:fld>
            <a:endParaRPr lang="en-US"/>
          </a:p>
        </p:txBody>
      </p:sp>
    </p:spTree>
    <p:extLst>
      <p:ext uri="{BB962C8B-B14F-4D97-AF65-F5344CB8AC3E}">
        <p14:creationId xmlns:p14="http://schemas.microsoft.com/office/powerpoint/2010/main" val="3584162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basic advantage of RAG is that instead of relying only on the LLM's internal knowledge, it retrieves relevant external information and uses that information to generate an answer. However, the LLM can still ignore the retrieved evidence or generate additional information that is not present in the sources. This becomes especially risky in domains like healthcare. So my project adds a verification layer after generation to check whether each sentence is actually supported by the retrieved evidence.”</a:t>
            </a:r>
          </a:p>
        </p:txBody>
      </p:sp>
      <p:sp>
        <p:nvSpPr>
          <p:cNvPr id="4" name="Slide Number Placeholder 3"/>
          <p:cNvSpPr>
            <a:spLocks noGrp="1"/>
          </p:cNvSpPr>
          <p:nvPr>
            <p:ph type="sldNum" sz="quarter" idx="5"/>
          </p:nvPr>
        </p:nvSpPr>
        <p:spPr/>
        <p:txBody>
          <a:bodyPr/>
          <a:lstStyle/>
          <a:p>
            <a:fld id="{83DE4103-D868-498D-BB7B-ABDA25F9744E}" type="slidenum">
              <a:rPr lang="en-US" smtClean="0"/>
              <a:t>4</a:t>
            </a:fld>
            <a:endParaRPr lang="en-US"/>
          </a:p>
        </p:txBody>
      </p:sp>
    </p:spTree>
    <p:extLst>
      <p:ext uri="{BB962C8B-B14F-4D97-AF65-F5344CB8AC3E}">
        <p14:creationId xmlns:p14="http://schemas.microsoft.com/office/powerpoint/2010/main" val="3296309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1. </a:t>
            </a:r>
            <a:r>
              <a:rPr lang="en-IN" b="1" dirty="0" err="1"/>
              <a:t>RAGTruth</a:t>
            </a:r>
            <a:r>
              <a:rPr lang="en-IN" b="1" dirty="0"/>
              <a:t> (2024)</a:t>
            </a:r>
            <a:endParaRPr lang="en-IN" dirty="0"/>
          </a:p>
          <a:p>
            <a:pPr lvl="0"/>
            <a:r>
              <a:rPr lang="en-IN" dirty="0"/>
              <a:t>Introduces a human-annotated dataset for detecting hallucinations in RAG responses. </a:t>
            </a:r>
          </a:p>
          <a:p>
            <a:pPr lvl="0"/>
            <a:r>
              <a:rPr lang="en-IN" dirty="0"/>
              <a:t>It provides sentence/claim-level ground truth, which is useful for evaluating our NLI-based detector. </a:t>
            </a:r>
          </a:p>
          <a:p>
            <a:pPr lvl="0"/>
            <a:r>
              <a:rPr lang="en-IN" b="1" dirty="0"/>
              <a:t>Gap:</a:t>
            </a:r>
            <a:r>
              <a:rPr lang="en-IN" dirty="0"/>
              <a:t> It is mainly a benchmark, not a medical-domain mitigation system. </a:t>
            </a:r>
          </a:p>
          <a:p>
            <a:r>
              <a:rPr lang="en-IN" b="1" dirty="0"/>
              <a:t>2. Hierarchical Semantic Piece (2025)</a:t>
            </a:r>
            <a:endParaRPr lang="en-IN" dirty="0"/>
          </a:p>
          <a:p>
            <a:pPr lvl="0"/>
            <a:r>
              <a:rPr lang="en-IN" dirty="0"/>
              <a:t>Detects hallucinations by breaking generated text into smaller semantic units and verifying them. </a:t>
            </a:r>
          </a:p>
          <a:p>
            <a:pPr lvl="0"/>
            <a:r>
              <a:rPr lang="en-IN" dirty="0"/>
              <a:t>Shows that fine-grained verification can improve hallucination detection. </a:t>
            </a:r>
          </a:p>
          <a:p>
            <a:pPr lvl="0"/>
            <a:r>
              <a:rPr lang="en-IN" b="1" dirty="0"/>
              <a:t>Gap:</a:t>
            </a:r>
            <a:r>
              <a:rPr lang="en-IN" dirty="0"/>
              <a:t> It is not specifically designed for medical RAG or tiered abstention. </a:t>
            </a:r>
          </a:p>
          <a:p>
            <a:r>
              <a:rPr lang="en-IN" b="1" dirty="0"/>
              <a:t>3. Multi-Signal Relevance Scoring (2026)</a:t>
            </a:r>
            <a:endParaRPr lang="en-IN" dirty="0"/>
          </a:p>
          <a:p>
            <a:pPr lvl="0"/>
            <a:r>
              <a:rPr lang="en-IN" dirty="0"/>
              <a:t>Combines lexical, semantic and NLI-based signals to improve RAG retrieval. </a:t>
            </a:r>
          </a:p>
          <a:p>
            <a:pPr lvl="0"/>
            <a:r>
              <a:rPr lang="en-IN" dirty="0"/>
              <a:t>Shows that using multiple retrieval signals can improve factual responses. </a:t>
            </a:r>
          </a:p>
          <a:p>
            <a:pPr lvl="0"/>
            <a:r>
              <a:rPr lang="en-IN" b="1" dirty="0"/>
              <a:t>Gap:</a:t>
            </a:r>
            <a:r>
              <a:rPr lang="en-IN" dirty="0"/>
              <a:t> It focuses mainly on retrieval, not what happens when a generated sentence is unsupported. </a:t>
            </a:r>
          </a:p>
          <a:p>
            <a:r>
              <a:rPr lang="en-IN" b="1" dirty="0"/>
              <a:t>4. </a:t>
            </a:r>
            <a:r>
              <a:rPr lang="en-IN" b="1" dirty="0" err="1"/>
              <a:t>SelfCheckGPT</a:t>
            </a:r>
            <a:r>
              <a:rPr lang="en-IN" b="1" dirty="0"/>
              <a:t> (2023)</a:t>
            </a:r>
            <a:endParaRPr lang="en-IN" dirty="0"/>
          </a:p>
          <a:p>
            <a:pPr lvl="0"/>
            <a:r>
              <a:rPr lang="en-IN" dirty="0"/>
              <a:t>Detects hallucinations by checking consistency between multiple generated responses. </a:t>
            </a:r>
          </a:p>
          <a:p>
            <a:pPr lvl="0"/>
            <a:r>
              <a:rPr lang="en-IN" dirty="0"/>
              <a:t>It can work without an external knowledge base. </a:t>
            </a:r>
          </a:p>
          <a:p>
            <a:r>
              <a:rPr lang="en-IN" b="1" dirty="0"/>
              <a:t>Gap:</a:t>
            </a:r>
            <a:r>
              <a:rPr lang="en-IN" dirty="0"/>
              <a:t> Consistency does not necessarily mean medical factual correctness.</a:t>
            </a:r>
          </a:p>
        </p:txBody>
      </p:sp>
      <p:sp>
        <p:nvSpPr>
          <p:cNvPr id="4" name="Slide Number Placeholder 3"/>
          <p:cNvSpPr>
            <a:spLocks noGrp="1"/>
          </p:cNvSpPr>
          <p:nvPr>
            <p:ph type="sldNum" sz="quarter" idx="5"/>
          </p:nvPr>
        </p:nvSpPr>
        <p:spPr/>
        <p:txBody>
          <a:bodyPr/>
          <a:lstStyle/>
          <a:p>
            <a:fld id="{83DE4103-D868-498D-BB7B-ABDA25F9744E}" type="slidenum">
              <a:rPr lang="en-US" smtClean="0"/>
              <a:t>5</a:t>
            </a:fld>
            <a:endParaRPr lang="en-US"/>
          </a:p>
        </p:txBody>
      </p:sp>
    </p:spTree>
    <p:extLst>
      <p:ext uri="{BB962C8B-B14F-4D97-AF65-F5344CB8AC3E}">
        <p14:creationId xmlns:p14="http://schemas.microsoft.com/office/powerpoint/2010/main" val="4176096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5. </a:t>
            </a:r>
            <a:r>
              <a:rPr lang="en-IN" b="1" dirty="0" err="1"/>
              <a:t>FActScore</a:t>
            </a:r>
            <a:r>
              <a:rPr lang="en-IN" b="1" dirty="0"/>
              <a:t> (2023)</a:t>
            </a:r>
            <a:endParaRPr lang="en-IN" dirty="0"/>
          </a:p>
          <a:p>
            <a:pPr lvl="0"/>
            <a:r>
              <a:rPr lang="en-IN" dirty="0"/>
              <a:t>Breaks long answers into atomic factual claims and checks their factual support. </a:t>
            </a:r>
          </a:p>
          <a:p>
            <a:pPr lvl="0"/>
            <a:r>
              <a:rPr lang="en-IN" dirty="0"/>
              <a:t>This supports the idea of evaluating individual claims rather than an entire answer. </a:t>
            </a:r>
          </a:p>
          <a:p>
            <a:pPr lvl="0"/>
            <a:r>
              <a:rPr lang="en-IN" b="1" dirty="0"/>
              <a:t>Gap:</a:t>
            </a:r>
            <a:r>
              <a:rPr lang="en-IN" dirty="0"/>
              <a:t> Mainly an evaluation approach rather than a real-time mitigation system. </a:t>
            </a:r>
          </a:p>
          <a:p>
            <a:r>
              <a:rPr lang="en-IN" b="1" dirty="0"/>
              <a:t>6. Faithful to the Original (2018)</a:t>
            </a:r>
            <a:endParaRPr lang="en-IN" dirty="0"/>
          </a:p>
          <a:p>
            <a:pPr lvl="0"/>
            <a:r>
              <a:rPr lang="en-IN" dirty="0"/>
              <a:t>Uses fact-aware mechanisms to reduce fabricated information during text generation. </a:t>
            </a:r>
          </a:p>
          <a:p>
            <a:pPr lvl="0"/>
            <a:r>
              <a:rPr lang="en-IN" dirty="0"/>
              <a:t>Shows that explicitly modelling factual information can improve faithfulness. </a:t>
            </a:r>
          </a:p>
          <a:p>
            <a:pPr lvl="0"/>
            <a:r>
              <a:rPr lang="en-IN" b="1" dirty="0"/>
              <a:t>Gap:</a:t>
            </a:r>
            <a:r>
              <a:rPr lang="en-IN" dirty="0"/>
              <a:t> It was developed for summarization, not modern medical RAG. </a:t>
            </a:r>
          </a:p>
          <a:p>
            <a:r>
              <a:rPr lang="en-IN" b="1" dirty="0"/>
              <a:t>7. RARR (2023)</a:t>
            </a:r>
            <a:endParaRPr lang="en-IN" dirty="0"/>
          </a:p>
          <a:p>
            <a:pPr lvl="0"/>
            <a:r>
              <a:rPr lang="en-IN" dirty="0"/>
              <a:t>Retrieves evidence for generated claims and revises unsupported statements. </a:t>
            </a:r>
          </a:p>
          <a:p>
            <a:pPr lvl="0"/>
            <a:r>
              <a:rPr lang="en-IN" dirty="0"/>
              <a:t>It is important because it combines detection with actual correction. </a:t>
            </a:r>
          </a:p>
          <a:p>
            <a:pPr lvl="0"/>
            <a:r>
              <a:rPr lang="en-IN" b="1" dirty="0"/>
              <a:t>Gap:</a:t>
            </a:r>
            <a:r>
              <a:rPr lang="en-IN" dirty="0"/>
              <a:t> It does not use our tiered Display/Suppress/Re-retrieve/Flag strategy. </a:t>
            </a:r>
          </a:p>
          <a:p>
            <a:r>
              <a:rPr lang="en-IN" b="1" dirty="0"/>
              <a:t>8. Almanac (2024)</a:t>
            </a:r>
            <a:endParaRPr lang="en-IN" dirty="0"/>
          </a:p>
          <a:p>
            <a:pPr lvl="0"/>
            <a:r>
              <a:rPr lang="en-IN" dirty="0"/>
              <a:t>Applies RAG to clinical medicine using curated medical resources. </a:t>
            </a:r>
          </a:p>
          <a:p>
            <a:pPr lvl="0"/>
            <a:r>
              <a:rPr lang="en-IN" dirty="0"/>
              <a:t>Shows that retrieval can improve the factuality and usefulness of medical LLM responses. </a:t>
            </a:r>
          </a:p>
          <a:p>
            <a:pPr lvl="0"/>
            <a:r>
              <a:rPr lang="en-IN" b="1" dirty="0"/>
              <a:t>Gap:</a:t>
            </a:r>
            <a:r>
              <a:rPr lang="en-IN" dirty="0"/>
              <a:t> It does not perform sentence-level verification or automated abstention. </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6</a:t>
            </a:fld>
            <a:endParaRPr lang="en-US"/>
          </a:p>
        </p:txBody>
      </p:sp>
    </p:spTree>
    <p:extLst>
      <p:ext uri="{BB962C8B-B14F-4D97-AF65-F5344CB8AC3E}">
        <p14:creationId xmlns:p14="http://schemas.microsoft.com/office/powerpoint/2010/main" val="40958489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9. MIRAGE (2024)</a:t>
            </a:r>
            <a:endParaRPr lang="en-IN" dirty="0"/>
          </a:p>
          <a:p>
            <a:pPr lvl="0"/>
            <a:r>
              <a:rPr lang="en-IN" dirty="0"/>
              <a:t>Provides a benchmark for evaluating RAG systems specifically in medicine. </a:t>
            </a:r>
          </a:p>
          <a:p>
            <a:pPr lvl="0"/>
            <a:r>
              <a:rPr lang="en-IN" dirty="0"/>
              <a:t>It compares different medical corpora, retrievers and LLMs. </a:t>
            </a:r>
          </a:p>
          <a:p>
            <a:pPr lvl="0"/>
            <a:r>
              <a:rPr lang="en-IN" b="1" dirty="0"/>
              <a:t>Gap:</a:t>
            </a:r>
            <a:r>
              <a:rPr lang="en-IN" dirty="0"/>
              <a:t> Mainly evaluates medical RAG performance rather than mitigating individual hallucinated claims. </a:t>
            </a:r>
          </a:p>
          <a:p>
            <a:r>
              <a:rPr lang="en-IN" b="1" dirty="0"/>
              <a:t>10. Dual RAG with Diabetes Guidelines (2024)</a:t>
            </a:r>
            <a:endParaRPr lang="en-IN" dirty="0"/>
          </a:p>
          <a:p>
            <a:pPr lvl="0"/>
            <a:r>
              <a:rPr lang="en-IN" dirty="0"/>
              <a:t>Uses dense and BM25 retrieval over diabetes guidelines. </a:t>
            </a:r>
          </a:p>
          <a:p>
            <a:pPr lvl="0"/>
            <a:r>
              <a:rPr lang="en-IN" dirty="0"/>
              <a:t>Shows that combining retrieval methods improves evidence coverage and reliability. </a:t>
            </a:r>
          </a:p>
          <a:p>
            <a:pPr lvl="0"/>
            <a:r>
              <a:rPr lang="en-IN" b="1" dirty="0"/>
              <a:t>Gap:</a:t>
            </a:r>
            <a:r>
              <a:rPr lang="en-IN" dirty="0"/>
              <a:t> Better retrieval does not guarantee that every generated sentence is supported. </a:t>
            </a:r>
          </a:p>
          <a:p>
            <a:r>
              <a:rPr lang="en-IN" b="1" dirty="0"/>
              <a:t>11. Rationale-Guided RAG (2025)</a:t>
            </a:r>
            <a:endParaRPr lang="en-IN" dirty="0"/>
          </a:p>
          <a:p>
            <a:pPr lvl="0"/>
            <a:r>
              <a:rPr lang="en-IN" dirty="0"/>
              <a:t>Uses generated rationales and retrieval filtering to improve medical question answering. </a:t>
            </a:r>
          </a:p>
          <a:p>
            <a:pPr lvl="0"/>
            <a:r>
              <a:rPr lang="en-IN" dirty="0"/>
              <a:t>The approach reduces irrelevant evidence and retrieval bias. </a:t>
            </a:r>
          </a:p>
          <a:p>
            <a:pPr lvl="0"/>
            <a:r>
              <a:rPr lang="en-IN" b="1" dirty="0"/>
              <a:t>Gap:</a:t>
            </a:r>
            <a:r>
              <a:rPr lang="en-IN" dirty="0"/>
              <a:t> It does not provide post-generation sentence-level abstention. </a:t>
            </a:r>
          </a:p>
          <a:p>
            <a:r>
              <a:rPr lang="en-IN" b="1" dirty="0"/>
              <a:t>12. Medication-Related Osteonecrosis RAG Chatbot (2025)</a:t>
            </a:r>
            <a:endParaRPr lang="en-IN" dirty="0"/>
          </a:p>
          <a:p>
            <a:pPr lvl="0"/>
            <a:r>
              <a:rPr lang="en-IN" dirty="0"/>
              <a:t>Develops a clinical RAG chatbot using a medical literature knowledge base. </a:t>
            </a:r>
          </a:p>
          <a:p>
            <a:pPr lvl="0"/>
            <a:r>
              <a:rPr lang="en-IN" dirty="0"/>
              <a:t>Shows the usefulness of domain-specific RAG for specialised medical questions. </a:t>
            </a:r>
          </a:p>
          <a:p>
            <a:pPr lvl="0"/>
            <a:r>
              <a:rPr lang="en-IN" b="1" dirty="0"/>
              <a:t>Gap:</a:t>
            </a:r>
            <a:r>
              <a:rPr lang="en-IN" dirty="0"/>
              <a:t> Narrow medical domain and no automated claim-level hallucination safety layer.</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7</a:t>
            </a:fld>
            <a:endParaRPr lang="en-US"/>
          </a:p>
        </p:txBody>
      </p:sp>
    </p:spTree>
    <p:extLst>
      <p:ext uri="{BB962C8B-B14F-4D97-AF65-F5344CB8AC3E}">
        <p14:creationId xmlns:p14="http://schemas.microsoft.com/office/powerpoint/2010/main" val="5967369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13. Emergency Radiology RAG (2025)</a:t>
            </a:r>
            <a:endParaRPr lang="en-IN" dirty="0"/>
          </a:p>
          <a:p>
            <a:pPr lvl="0"/>
            <a:r>
              <a:rPr lang="en-IN" dirty="0"/>
              <a:t>Uses RAG with GPT-4 for emergency radiology diagnosis. </a:t>
            </a:r>
          </a:p>
          <a:p>
            <a:pPr lvl="0"/>
            <a:r>
              <a:rPr lang="en-IN" dirty="0"/>
              <a:t>Retrieved evidence improved diagnostic precision and trust. </a:t>
            </a:r>
          </a:p>
          <a:p>
            <a:pPr lvl="0"/>
            <a:r>
              <a:rPr lang="en-IN" b="1" dirty="0"/>
              <a:t>Gap:</a:t>
            </a:r>
            <a:r>
              <a:rPr lang="en-IN" dirty="0"/>
              <a:t> It does not specifically detect or suppress unsupported generated sentences. </a:t>
            </a:r>
          </a:p>
          <a:p>
            <a:r>
              <a:rPr lang="en-IN" b="1" dirty="0"/>
              <a:t>14. Japanese Nuclear Medicine RAG (2025)</a:t>
            </a:r>
            <a:endParaRPr lang="en-IN" dirty="0"/>
          </a:p>
          <a:p>
            <a:pPr lvl="0"/>
            <a:r>
              <a:rPr lang="en-IN" dirty="0"/>
              <a:t>Builds RAG using institutional nuclear medicine manuals. </a:t>
            </a:r>
          </a:p>
          <a:p>
            <a:pPr lvl="0"/>
            <a:r>
              <a:rPr lang="en-IN" dirty="0"/>
              <a:t>Demonstrates that organisation-specific documents can ground medical answers. </a:t>
            </a:r>
          </a:p>
          <a:p>
            <a:pPr lvl="0"/>
            <a:r>
              <a:rPr lang="en-IN" b="1" dirty="0"/>
              <a:t>Gap:</a:t>
            </a:r>
            <a:r>
              <a:rPr lang="en-IN" dirty="0"/>
              <a:t> Limited to one institutional knowledge base and lacks adaptive abstention. </a:t>
            </a:r>
          </a:p>
          <a:p>
            <a:r>
              <a:rPr lang="en-IN" b="1" dirty="0"/>
              <a:t>15. </a:t>
            </a:r>
            <a:r>
              <a:rPr lang="en-IN" b="1" dirty="0" err="1"/>
              <a:t>RAGCare</a:t>
            </a:r>
            <a:r>
              <a:rPr lang="en-IN" b="1" dirty="0"/>
              <a:t>-QA (2025)</a:t>
            </a:r>
            <a:endParaRPr lang="en-IN" dirty="0"/>
          </a:p>
          <a:p>
            <a:pPr lvl="0"/>
            <a:r>
              <a:rPr lang="en-IN" dirty="0"/>
              <a:t>Provides a medical benchmark covering multiple specialties for evaluating RAG systems. </a:t>
            </a:r>
          </a:p>
          <a:p>
            <a:pPr lvl="0"/>
            <a:r>
              <a:rPr lang="en-IN" dirty="0"/>
              <a:t>Useful for testing whether our framework works across different medical domains. </a:t>
            </a:r>
          </a:p>
          <a:p>
            <a:pPr lvl="0"/>
            <a:r>
              <a:rPr lang="en-IN" b="1" dirty="0"/>
              <a:t>Gap:</a:t>
            </a:r>
            <a:r>
              <a:rPr lang="en-IN" dirty="0"/>
              <a:t> It evaluates RAG pipelines but does not itself provide hallucination mitigation. </a:t>
            </a:r>
          </a:p>
          <a:p>
            <a:r>
              <a:rPr lang="en-IN" b="1" dirty="0"/>
              <a:t>16. RAG in Clinical Practice: A Cautionary Tale (2026)</a:t>
            </a:r>
            <a:endParaRPr lang="en-IN" dirty="0"/>
          </a:p>
          <a:p>
            <a:pPr lvl="0"/>
            <a:r>
              <a:rPr lang="en-IN" dirty="0"/>
              <a:t>Shows that clinical RAG can still produce problematic hallucinations, especially as conversation history increases. </a:t>
            </a:r>
          </a:p>
          <a:p>
            <a:pPr lvl="0"/>
            <a:r>
              <a:rPr lang="en-IN" dirty="0"/>
              <a:t>This directly supports the need for an additional safety/verification layer. </a:t>
            </a:r>
          </a:p>
          <a:p>
            <a:pPr lvl="0"/>
            <a:r>
              <a:rPr lang="en-IN" b="1" dirty="0"/>
              <a:t>Gap:</a:t>
            </a:r>
            <a:r>
              <a:rPr lang="en-IN" dirty="0"/>
              <a:t> Demonstrates the problem but does not provide a sentence-level tiered abstention solution. </a:t>
            </a:r>
          </a:p>
          <a:p>
            <a:r>
              <a:rPr lang="en-IN" b="1" dirty="0"/>
              <a:t>The one sentence tying all 16 together</a:t>
            </a:r>
          </a:p>
          <a:p>
            <a:r>
              <a:rPr lang="en-IN" b="1" dirty="0"/>
              <a:t>“The literature shows that medical RAG improves retrieval and answer quality, while separate studies show that claim-level hallucination detection is possible; however, there is still a gap in combining sentence-level verification with a real-time, tiered abstention mechanism specifically for medical RAG.”</a:t>
            </a:r>
            <a:endParaRPr lang="en-IN" dirty="0"/>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8</a:t>
            </a:fld>
            <a:endParaRPr lang="en-US"/>
          </a:p>
        </p:txBody>
      </p:sp>
    </p:spTree>
    <p:extLst>
      <p:ext uri="{BB962C8B-B14F-4D97-AF65-F5344CB8AC3E}">
        <p14:creationId xmlns:p14="http://schemas.microsoft.com/office/powerpoint/2010/main" val="27384113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main gap I identified is that existing approaches generally focus on one part of the problem. Retrieval methods improve the evidence that is provided to the model, while verification methods detect whether an answer is grounded. Some approaches can also revise or re-query the system. However, there is still limited work that combines sentence-level verification with an adaptive action mechanism specifically for medical RAG. My framework addresses this by deciding what to do with each unsupported claim.”</a:t>
            </a:r>
          </a:p>
          <a:p>
            <a:r>
              <a:rPr lang="en-IN" dirty="0"/>
              <a:t>“Instead of simply saying the entire answer is wrong, the system can display a supported sentence, suppress an unsupported one, re-retrieve when evidence is insufficient, or flag uncertain information.”</a:t>
            </a:r>
          </a:p>
        </p:txBody>
      </p:sp>
      <p:sp>
        <p:nvSpPr>
          <p:cNvPr id="4" name="Slide Number Placeholder 3"/>
          <p:cNvSpPr>
            <a:spLocks noGrp="1"/>
          </p:cNvSpPr>
          <p:nvPr>
            <p:ph type="sldNum" sz="quarter" idx="5"/>
          </p:nvPr>
        </p:nvSpPr>
        <p:spPr/>
        <p:txBody>
          <a:bodyPr/>
          <a:lstStyle/>
          <a:p>
            <a:fld id="{83DE4103-D868-498D-BB7B-ABDA25F9744E}" type="slidenum">
              <a:rPr lang="en-US" smtClean="0"/>
              <a:t>9</a:t>
            </a:fld>
            <a:endParaRPr lang="en-US"/>
          </a:p>
        </p:txBody>
      </p:sp>
    </p:spTree>
    <p:extLst>
      <p:ext uri="{BB962C8B-B14F-4D97-AF65-F5344CB8AC3E}">
        <p14:creationId xmlns:p14="http://schemas.microsoft.com/office/powerpoint/2010/main" val="8907696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novelty is not RAG itself or NLI itself. The contribution is integrating sentence-level verification with a tiered, user-facing abstention mechanism for medical RAG.”</a:t>
            </a:r>
          </a:p>
          <a:p>
            <a:r>
              <a:rPr lang="en-IN" dirty="0"/>
              <a:t>“The first objective is to develop a domain-specific medical RAG system. The second is to detect hallucinations at the sentence level using NLI. The third is to verify generated claims against the retrieved evidence. Then I implement tiered abstention so that unsupported claims are not blindly presented to the user. Finally, I evaluate whether this reduces hallucinations without causing excessive false abstention.”</a:t>
            </a:r>
          </a:p>
        </p:txBody>
      </p:sp>
      <p:sp>
        <p:nvSpPr>
          <p:cNvPr id="4" name="Slide Number Placeholder 3"/>
          <p:cNvSpPr>
            <a:spLocks noGrp="1"/>
          </p:cNvSpPr>
          <p:nvPr>
            <p:ph type="sldNum" sz="quarter" idx="5"/>
          </p:nvPr>
        </p:nvSpPr>
        <p:spPr/>
        <p:txBody>
          <a:bodyPr/>
          <a:lstStyle/>
          <a:p>
            <a:fld id="{83DE4103-D868-498D-BB7B-ABDA25F9744E}" type="slidenum">
              <a:rPr lang="en-US" smtClean="0"/>
              <a:t>10</a:t>
            </a:fld>
            <a:endParaRPr lang="en-US"/>
          </a:p>
        </p:txBody>
      </p:sp>
    </p:spTree>
    <p:extLst>
      <p:ext uri="{BB962C8B-B14F-4D97-AF65-F5344CB8AC3E}">
        <p14:creationId xmlns:p14="http://schemas.microsoft.com/office/powerpoint/2010/main" val="1047822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framework is divided into five main modules. First is the Medical Document Retrieval Module, which retrieves relevant information from trusted medical sources. Second is the Response Generation Module, where the LLM generates an answer using that retrieved context.”</a:t>
            </a:r>
          </a:p>
          <a:p>
            <a:r>
              <a:rPr lang="en-IN" dirty="0"/>
              <a:t>“Third is the Sentence-Level Verification Module, which breaks the answer into individual claims and uses an NLI model to determine whether each claim is supported. Fourth is the Tiered Abstention Module, which decides the appropriate action for each claim. Finally, the Evaluation Module measures how effectively the complete framework reduces hallucinations.”</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11</a:t>
            </a:fld>
            <a:endParaRPr lang="en-US"/>
          </a:p>
        </p:txBody>
      </p:sp>
    </p:spTree>
    <p:extLst>
      <p:ext uri="{BB962C8B-B14F-4D97-AF65-F5344CB8AC3E}">
        <p14:creationId xmlns:p14="http://schemas.microsoft.com/office/powerpoint/2010/main" val="33811344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shows the complete flow of the system. The user first submits a query. The retriever fetches relevant medical chunks, and the LLM generates a draft response using those chunks. Instead of directly showing this answer to the user, I first split it into individual sentences.”</a:t>
            </a:r>
          </a:p>
          <a:p>
            <a:r>
              <a:rPr lang="en-IN" dirty="0"/>
              <a:t>Then:</a:t>
            </a:r>
          </a:p>
          <a:p>
            <a:r>
              <a:rPr lang="en-IN" dirty="0"/>
              <a:t>“Each sentence is passed to the NLI verifier, which checks its relationship with the retrieved evidence. If the sentence is entailed, it can be accepted. If it is unsupported or contradicted, the abstention layer decides whether to hedge or suppress it, retrieve additional evidence, or flag it. Finally, the verified sentences are assembled into the response shown to the user.”</a:t>
            </a:r>
          </a:p>
          <a:p>
            <a:r>
              <a:rPr lang="en-IN" b="1" dirty="0"/>
              <a:t>Why sentence level?</a:t>
            </a:r>
          </a:p>
          <a:p>
            <a:r>
              <a:rPr lang="en-IN" dirty="0"/>
              <a:t>“Because an entire answer can be partially correct. If only one sentence is unsupported, rejecting the complete response would unnecessarily reduce answer coverage. Sentence-level verification allows us to keep the supported information while handling only the problematic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241582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“For implementation, I first develop the medical-domain RAG pipeline using trusted clinical sources. Relevant documents are retrieved using vector or hybrid search, and the LLM generates an evidence-grounded response.”</a:t>
            </a:r>
          </a:p>
          <a:p>
            <a:r>
              <a:rPr lang="en-IN" dirty="0"/>
              <a:t>“After generation, the response is split into sentences and each claim is verified using NLI. The abstention layer then performs one of four actions: display, suppress, re-retrieve or flag. Finally, I compare this framework against standard medical RAG to determine whether the additional verification layer actually reduces hallucination.”</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13</a:t>
            </a:fld>
            <a:endParaRPr lang="en-US"/>
          </a:p>
        </p:txBody>
      </p:sp>
    </p:spTree>
    <p:extLst>
      <p:ext uri="{BB962C8B-B14F-4D97-AF65-F5344CB8AC3E}">
        <p14:creationId xmlns:p14="http://schemas.microsoft.com/office/powerpoint/2010/main" val="6567488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81CE1-D971-0804-F9A7-3EDE4361F3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0F8BC-FE01-CAB0-E4B3-EC132019BF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48758E-5AE3-E5EA-C79C-5287AF76CEDF}"/>
              </a:ext>
            </a:extLst>
          </p:cNvPr>
          <p:cNvSpPr>
            <a:spLocks noGrp="1"/>
          </p:cNvSpPr>
          <p:nvPr>
            <p:ph type="body" idx="1"/>
          </p:nvPr>
        </p:nvSpPr>
        <p:spPr/>
        <p:txBody>
          <a:bodyPr/>
          <a:lstStyle/>
          <a:p>
            <a:r>
              <a:rPr lang="en-IN" dirty="0"/>
              <a:t>“For implementation, I first develop the medical-domain RAG pipeline using trusted clinical sources. Relevant documents are retrieved using vector or hybrid search, and the LLM generates an evidence-grounded response.”</a:t>
            </a:r>
          </a:p>
          <a:p>
            <a:r>
              <a:rPr lang="en-IN" dirty="0"/>
              <a:t>“After generation, the response is split into sentences and each claim is verified using NLI. The abstention layer then performs one of four actions: display, suppress, re-retrieve or flag. Finally, I compare this framework against standard medical RAG to determine whether the additional verification layer actually reduces hallucination.”</a:t>
            </a:r>
          </a:p>
          <a:p>
            <a:endParaRPr lang="en-IN" dirty="0"/>
          </a:p>
        </p:txBody>
      </p:sp>
      <p:sp>
        <p:nvSpPr>
          <p:cNvPr id="4" name="Slide Number Placeholder 3">
            <a:extLst>
              <a:ext uri="{FF2B5EF4-FFF2-40B4-BE49-F238E27FC236}">
                <a16:creationId xmlns:a16="http://schemas.microsoft.com/office/drawing/2014/main" id="{FB270325-CCA3-6C6E-2680-805669296009}"/>
              </a:ext>
            </a:extLst>
          </p:cNvPr>
          <p:cNvSpPr>
            <a:spLocks noGrp="1"/>
          </p:cNvSpPr>
          <p:nvPr>
            <p:ph type="sldNum" sz="quarter" idx="5"/>
          </p:nvPr>
        </p:nvSpPr>
        <p:spPr/>
        <p:txBody>
          <a:bodyPr/>
          <a:lstStyle/>
          <a:p>
            <a:fld id="{83DE4103-D868-498D-BB7B-ABDA25F9744E}" type="slidenum">
              <a:rPr lang="en-US" smtClean="0"/>
              <a:t>14</a:t>
            </a:fld>
            <a:endParaRPr lang="en-US"/>
          </a:p>
        </p:txBody>
      </p:sp>
    </p:spTree>
    <p:extLst>
      <p:ext uri="{BB962C8B-B14F-4D97-AF65-F5344CB8AC3E}">
        <p14:creationId xmlns:p14="http://schemas.microsoft.com/office/powerpoint/2010/main" val="25343112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5F949-FC4C-F0EC-1F3C-49D4FA9CBD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32C48-DAC8-891F-04CA-EE79A9806F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A64411-0E9F-7CE9-300E-C9BD917E107B}"/>
              </a:ext>
            </a:extLst>
          </p:cNvPr>
          <p:cNvSpPr>
            <a:spLocks noGrp="1"/>
          </p:cNvSpPr>
          <p:nvPr>
            <p:ph type="body" idx="1"/>
          </p:nvPr>
        </p:nvSpPr>
        <p:spPr/>
        <p:txBody>
          <a:bodyPr/>
          <a:lstStyle/>
          <a:p>
            <a:r>
              <a:rPr lang="en-IN" dirty="0"/>
              <a:t>“For implementation, I first develop the medical-domain RAG pipeline using trusted clinical sources. Relevant documents are retrieved using vector or hybrid search, and the LLM generates an evidence-grounded response.”</a:t>
            </a:r>
          </a:p>
          <a:p>
            <a:r>
              <a:rPr lang="en-IN" dirty="0"/>
              <a:t>“After generation, the response is split into sentences and each claim is verified using NLI. The abstention layer then performs one of four actions: display, suppress, re-retrieve or flag. Finally, I compare this framework against standard medical RAG to determine whether the additional verification layer actually reduces hallucination.”</a:t>
            </a:r>
          </a:p>
          <a:p>
            <a:endParaRPr lang="en-IN" dirty="0"/>
          </a:p>
        </p:txBody>
      </p:sp>
      <p:sp>
        <p:nvSpPr>
          <p:cNvPr id="4" name="Slide Number Placeholder 3">
            <a:extLst>
              <a:ext uri="{FF2B5EF4-FFF2-40B4-BE49-F238E27FC236}">
                <a16:creationId xmlns:a16="http://schemas.microsoft.com/office/drawing/2014/main" id="{C6EC25A4-63E5-5BC2-D682-E8B0CAA2CA27}"/>
              </a:ext>
            </a:extLst>
          </p:cNvPr>
          <p:cNvSpPr>
            <a:spLocks noGrp="1"/>
          </p:cNvSpPr>
          <p:nvPr>
            <p:ph type="sldNum" sz="quarter" idx="5"/>
          </p:nvPr>
        </p:nvSpPr>
        <p:spPr/>
        <p:txBody>
          <a:bodyPr/>
          <a:lstStyle/>
          <a:p>
            <a:fld id="{83DE4103-D868-498D-BB7B-ABDA25F9744E}" type="slidenum">
              <a:rPr lang="en-US" smtClean="0"/>
              <a:t>15</a:t>
            </a:fld>
            <a:endParaRPr lang="en-US"/>
          </a:p>
        </p:txBody>
      </p:sp>
    </p:spTree>
    <p:extLst>
      <p:ext uri="{BB962C8B-B14F-4D97-AF65-F5344CB8AC3E}">
        <p14:creationId xmlns:p14="http://schemas.microsoft.com/office/powerpoint/2010/main" val="6810549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BB659-7549-B43A-6B7D-612D72CA47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D30E82-0D7A-6D44-AB7D-1F0E4A9588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401B3-8657-7F7F-3355-603DDB7E3010}"/>
              </a:ext>
            </a:extLst>
          </p:cNvPr>
          <p:cNvSpPr>
            <a:spLocks noGrp="1"/>
          </p:cNvSpPr>
          <p:nvPr>
            <p:ph type="body" idx="1"/>
          </p:nvPr>
        </p:nvSpPr>
        <p:spPr/>
        <p:txBody>
          <a:bodyPr/>
          <a:lstStyle/>
          <a:p>
            <a:r>
              <a:rPr lang="en-IN" dirty="0"/>
              <a:t>“For implementation, I first develop the medical-domain RAG pipeline using trusted clinical sources. Relevant documents are retrieved using vector or hybrid search, and the LLM generates an evidence-grounded response.”</a:t>
            </a:r>
          </a:p>
          <a:p>
            <a:r>
              <a:rPr lang="en-IN" dirty="0"/>
              <a:t>“After generation, the response is split into sentences and each claim is verified using NLI. The abstention layer then performs one of four actions: display, suppress, re-retrieve or flag. Finally, I compare this framework against standard medical RAG to determine whether the additional verification layer actually reduces hallucination.”</a:t>
            </a:r>
          </a:p>
          <a:p>
            <a:endParaRPr lang="en-IN" dirty="0"/>
          </a:p>
        </p:txBody>
      </p:sp>
      <p:sp>
        <p:nvSpPr>
          <p:cNvPr id="4" name="Slide Number Placeholder 3">
            <a:extLst>
              <a:ext uri="{FF2B5EF4-FFF2-40B4-BE49-F238E27FC236}">
                <a16:creationId xmlns:a16="http://schemas.microsoft.com/office/drawing/2014/main" id="{14C73499-152B-5A5B-6982-724636F3DC33}"/>
              </a:ext>
            </a:extLst>
          </p:cNvPr>
          <p:cNvSpPr>
            <a:spLocks noGrp="1"/>
          </p:cNvSpPr>
          <p:nvPr>
            <p:ph type="sldNum" sz="quarter" idx="5"/>
          </p:nvPr>
        </p:nvSpPr>
        <p:spPr/>
        <p:txBody>
          <a:bodyPr/>
          <a:lstStyle/>
          <a:p>
            <a:fld id="{83DE4103-D868-498D-BB7B-ABDA25F9744E}" type="slidenum">
              <a:rPr lang="en-US" smtClean="0"/>
              <a:t>16</a:t>
            </a:fld>
            <a:endParaRPr lang="en-US"/>
          </a:p>
        </p:txBody>
      </p:sp>
    </p:spTree>
    <p:extLst>
      <p:ext uri="{BB962C8B-B14F-4D97-AF65-F5344CB8AC3E}">
        <p14:creationId xmlns:p14="http://schemas.microsoft.com/office/powerpoint/2010/main" val="22094693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“There are three major challenges. First, an LLM can generate information that sounds medically plausible even when it is unsupported. I address this using sentence-level NLI verification.”</a:t>
            </a:r>
          </a:p>
          <a:p>
            <a:r>
              <a:rPr lang="en-IN" dirty="0"/>
              <a:t>“Second, the retrieved evidence itself may be insufficient. In that case, instead of immediately refusing the answer, the system can reformulate the query and perform re-retrieval.”</a:t>
            </a:r>
          </a:p>
          <a:p>
            <a:r>
              <a:rPr lang="en-IN" dirty="0"/>
              <a:t>“Third, if the system is too conservative, it may reject many correct answers. Therefore, I use tiered abstention instead of a simple yes-or-no refusal, which gives a balance between reliability and answer coverage.”</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17</a:t>
            </a:fld>
            <a:endParaRPr lang="en-US"/>
          </a:p>
        </p:txBody>
      </p:sp>
    </p:spTree>
    <p:extLst>
      <p:ext uri="{BB962C8B-B14F-4D97-AF65-F5344CB8AC3E}">
        <p14:creationId xmlns:p14="http://schemas.microsoft.com/office/powerpoint/2010/main" val="17886847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 am using multiple datasets because each serves a different purpose. </a:t>
            </a:r>
            <a:r>
              <a:rPr lang="en-IN" dirty="0" err="1"/>
              <a:t>MedHallu</a:t>
            </a:r>
            <a:r>
              <a:rPr lang="en-IN" dirty="0"/>
              <a:t> provides medical hallucination examples and sentence-level hallucination labels, so it is useful for developing and testing the hallucination detection component.”</a:t>
            </a:r>
          </a:p>
          <a:p>
            <a:r>
              <a:rPr lang="en-IN" dirty="0"/>
              <a:t>“MIRAGE provides a large medical RAG benchmark with 7,663 medical questions and multiple medical QA benchmarks. This helps evaluate the overall medical RAG pipeline.”</a:t>
            </a:r>
          </a:p>
          <a:p>
            <a:r>
              <a:rPr lang="en-IN" dirty="0"/>
              <a:t>“</a:t>
            </a:r>
            <a:r>
              <a:rPr lang="en-IN" dirty="0" err="1"/>
              <a:t>PubMedQA</a:t>
            </a:r>
            <a:r>
              <a:rPr lang="en-IN" dirty="0"/>
              <a:t> provides authentic biomedical questions together with supporting PubMed abstracts, making it useful for checking whether generated claims are actually supported by medical evidence.”</a:t>
            </a:r>
          </a:p>
          <a:p>
            <a:r>
              <a:rPr lang="en-IN" b="1" dirty="0"/>
              <a:t>"Why not use only one dataset?"</a:t>
            </a:r>
          </a:p>
          <a:p>
            <a:r>
              <a:rPr lang="en-IN" dirty="0"/>
              <a:t>Say:</a:t>
            </a:r>
          </a:p>
          <a:p>
            <a:r>
              <a:rPr lang="en-IN" dirty="0"/>
              <a:t>“Because detection and RAG evaluation are different tasks. </a:t>
            </a:r>
            <a:r>
              <a:rPr lang="en-IN" dirty="0" err="1"/>
              <a:t>MedHallu</a:t>
            </a:r>
            <a:r>
              <a:rPr lang="en-IN" dirty="0"/>
              <a:t> is useful for hallucination detection, MIRAGE for medical RAG evaluation, and </a:t>
            </a:r>
            <a:r>
              <a:rPr lang="en-IN" dirty="0" err="1"/>
              <a:t>PubMedQA</a:t>
            </a:r>
            <a:r>
              <a:rPr lang="en-IN" dirty="0"/>
              <a:t> provides evidence passages for claim verification.”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2918454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is the proposed working framework. A user submits a medical query, relevant documents are retrieved, and the LLM generates an answer. The generated answer is then divided into individual claims and each claim is checked against the retrieved evidence.”</a:t>
            </a:r>
          </a:p>
          <a:p>
            <a:r>
              <a:rPr lang="en-IN" dirty="0"/>
              <a:t>Then explain the decision mechanism:</a:t>
            </a:r>
          </a:p>
          <a:p>
            <a:r>
              <a:rPr lang="en-IN" dirty="0"/>
              <a:t>“Supported claims are displayed normally. Contradicted or unsupported claims can be suppressed. If there is not enough evidence, the system can re-retrieve relevant information. If the system still has uncertainty, the claim can be flagged as unverified. The final response therefore contains only information that has passed through the verification and decision process.”</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19</a:t>
            </a:fld>
            <a:endParaRPr lang="en-US"/>
          </a:p>
        </p:txBody>
      </p:sp>
    </p:spTree>
    <p:extLst>
      <p:ext uri="{BB962C8B-B14F-4D97-AF65-F5344CB8AC3E}">
        <p14:creationId xmlns:p14="http://schemas.microsoft.com/office/powerpoint/2010/main" val="3057638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1. What is the actual novelty?</a:t>
            </a:r>
          </a:p>
          <a:p>
            <a:r>
              <a:rPr lang="en-IN" dirty="0"/>
              <a:t>“The novelty is the combination of sentence-level hallucination verification and tiered abstention in a medical RAG pipeline. Existing work often focuses on retrieval, detection, evaluation or correction separately.”</a:t>
            </a:r>
          </a:p>
          <a:p>
            <a:r>
              <a:rPr lang="en-IN" b="1" dirty="0"/>
              <a:t>2. Why use NLI?</a:t>
            </a:r>
          </a:p>
          <a:p>
            <a:r>
              <a:rPr lang="en-IN" dirty="0"/>
              <a:t>“NLI provides a direct way to classify the relationship between a generated claim and the retrieved evidence as entailment, contradiction or neutral. This makes it suitable for sentence-level grounding verification.”</a:t>
            </a:r>
          </a:p>
          <a:p>
            <a:r>
              <a:rPr lang="en-IN" b="1" dirty="0"/>
              <a:t>3. Why not simply reject the entire answer?</a:t>
            </a:r>
          </a:p>
          <a:p>
            <a:r>
              <a:rPr lang="en-IN" dirty="0"/>
              <a:t>“Because a response can contain both correct and incorrect claims. Sentence-level handling allows us to retain supported information instead of unnecessarily rejecting the complete response.”</a:t>
            </a:r>
          </a:p>
          <a:p>
            <a:r>
              <a:rPr lang="en-IN" b="1" dirty="0"/>
              <a:t>4. What happens when the NLI model is wrong?</a:t>
            </a:r>
          </a:p>
          <a:p>
            <a:r>
              <a:rPr lang="en-IN" dirty="0"/>
              <a:t>“The framework does not treat the detector as perfectly reliable. That is why the decision layer is tiered. Low-confidence cases can trigger re-retrieval or be flagged rather than automatically being treated as factual or false.”</a:t>
            </a:r>
          </a:p>
          <a:p>
            <a:r>
              <a:rPr lang="en-IN" b="1" dirty="0"/>
              <a:t>5. How will you prove your system is better?</a:t>
            </a:r>
          </a:p>
          <a:p>
            <a:r>
              <a:rPr lang="en-IN" dirty="0"/>
              <a:t>“I will compare standard medical RAG against the proposed framework using hallucination rate, precision, recall, false abstention rate and answer coverage across the selected medical benchmarks.”</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20</a:t>
            </a:fld>
            <a:endParaRPr lang="en-US"/>
          </a:p>
        </p:txBody>
      </p:sp>
    </p:spTree>
    <p:extLst>
      <p:ext uri="{BB962C8B-B14F-4D97-AF65-F5344CB8AC3E}">
        <p14:creationId xmlns:p14="http://schemas.microsoft.com/office/powerpoint/2010/main" val="41653453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“My project is basically a safety layer for medical RAG. Normally, RAG retrieves medical documents and the LLM generates an answer, but the LLM can still add unsupported information. My system therefore takes the generated answer, breaks it into individual claims, and checks each claim against the retrieved evidence using NLI. Supported claims are displayed, while unsupported claims can be suppressed, re-retrieved or flagged. The goal is to reduce hallucinations without simply refusing the entire answer.”</a:t>
            </a:r>
          </a:p>
        </p:txBody>
      </p:sp>
      <p:sp>
        <p:nvSpPr>
          <p:cNvPr id="4" name="Slide Number Placeholder 3"/>
          <p:cNvSpPr>
            <a:spLocks noGrp="1"/>
          </p:cNvSpPr>
          <p:nvPr>
            <p:ph type="sldNum" sz="quarter" idx="5"/>
          </p:nvPr>
        </p:nvSpPr>
        <p:spPr/>
        <p:txBody>
          <a:bodyPr/>
          <a:lstStyle/>
          <a:p>
            <a:fld id="{83DE4103-D868-498D-BB7B-ABDA25F9744E}" type="slidenum">
              <a:rPr lang="en-US" smtClean="0"/>
              <a:t>25</a:t>
            </a:fld>
            <a:endParaRPr lang="en-US"/>
          </a:p>
        </p:txBody>
      </p:sp>
    </p:spTree>
    <p:extLst>
      <p:ext uri="{BB962C8B-B14F-4D97-AF65-F5344CB8AC3E}">
        <p14:creationId xmlns:p14="http://schemas.microsoft.com/office/powerpoint/2010/main" val="826444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2272456"/>
            <a:ext cx="10881360" cy="1568027"/>
          </a:xfrm>
        </p:spPr>
        <p:txBody>
          <a:bodyPr/>
          <a:lstStyle/>
          <a:p>
            <a:r>
              <a:rPr lang="en-US"/>
              <a:t>Click to edit Master title style</a:t>
            </a:r>
          </a:p>
        </p:txBody>
      </p:sp>
      <p:sp>
        <p:nvSpPr>
          <p:cNvPr id="3" name="Subtitle 2"/>
          <p:cNvSpPr>
            <a:spLocks noGrp="1"/>
          </p:cNvSpPr>
          <p:nvPr>
            <p:ph type="subTitle" idx="1"/>
          </p:nvPr>
        </p:nvSpPr>
        <p:spPr>
          <a:xfrm>
            <a:off x="1920240" y="4145280"/>
            <a:ext cx="8961120" cy="1869440"/>
          </a:xfrm>
        </p:spPr>
        <p:txBody>
          <a:bodyPr/>
          <a:lstStyle>
            <a:lvl1pPr marL="0" indent="0" algn="ctr">
              <a:buNone/>
              <a:defRPr>
                <a:solidFill>
                  <a:schemeClr val="tx1">
                    <a:tint val="75000"/>
                  </a:schemeClr>
                </a:solidFill>
              </a:defRPr>
            </a:lvl1pPr>
            <a:lvl2pPr marL="574724" indent="0" algn="ctr">
              <a:buNone/>
              <a:defRPr>
                <a:solidFill>
                  <a:schemeClr val="tx1">
                    <a:tint val="75000"/>
                  </a:schemeClr>
                </a:solidFill>
              </a:defRPr>
            </a:lvl2pPr>
            <a:lvl3pPr marL="1149448" indent="0" algn="ctr">
              <a:buNone/>
              <a:defRPr>
                <a:solidFill>
                  <a:schemeClr val="tx1">
                    <a:tint val="75000"/>
                  </a:schemeClr>
                </a:solidFill>
              </a:defRPr>
            </a:lvl3pPr>
            <a:lvl4pPr marL="1724172" indent="0" algn="ctr">
              <a:buNone/>
              <a:defRPr>
                <a:solidFill>
                  <a:schemeClr val="tx1">
                    <a:tint val="75000"/>
                  </a:schemeClr>
                </a:solidFill>
              </a:defRPr>
            </a:lvl4pPr>
            <a:lvl5pPr marL="2298895" indent="0" algn="ctr">
              <a:buNone/>
              <a:defRPr>
                <a:solidFill>
                  <a:schemeClr val="tx1">
                    <a:tint val="75000"/>
                  </a:schemeClr>
                </a:solidFill>
              </a:defRPr>
            </a:lvl5pPr>
            <a:lvl6pPr marL="2873621" indent="0" algn="ctr">
              <a:buNone/>
              <a:defRPr>
                <a:solidFill>
                  <a:schemeClr val="tx1">
                    <a:tint val="75000"/>
                  </a:schemeClr>
                </a:solidFill>
              </a:defRPr>
            </a:lvl6pPr>
            <a:lvl7pPr marL="3448344" indent="0" algn="ctr">
              <a:buNone/>
              <a:defRPr>
                <a:solidFill>
                  <a:schemeClr val="tx1">
                    <a:tint val="75000"/>
                  </a:schemeClr>
                </a:solidFill>
              </a:defRPr>
            </a:lvl7pPr>
            <a:lvl8pPr marL="4023069" indent="0" algn="ctr">
              <a:buNone/>
              <a:defRPr>
                <a:solidFill>
                  <a:schemeClr val="tx1">
                    <a:tint val="75000"/>
                  </a:schemeClr>
                </a:solidFill>
              </a:defRPr>
            </a:lvl8pPr>
            <a:lvl9pPr marL="4597793"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C2E1E87-9C15-4984-91E0-215221CAF7F6}" type="datetime1">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2505882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116BE9-D6CB-4D14-A12D-7F5512E1435B}" type="datetime1">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141061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1238" y="4700695"/>
            <a:ext cx="10881360" cy="1452880"/>
          </a:xfrm>
        </p:spPr>
        <p:txBody>
          <a:bodyPr anchor="t"/>
          <a:lstStyle>
            <a:lvl1pPr algn="l">
              <a:defRPr sz="5100" b="1" cap="all"/>
            </a:lvl1pPr>
          </a:lstStyle>
          <a:p>
            <a:r>
              <a:rPr lang="en-US"/>
              <a:t>Click to edit Master title style</a:t>
            </a:r>
          </a:p>
        </p:txBody>
      </p:sp>
      <p:sp>
        <p:nvSpPr>
          <p:cNvPr id="3" name="Text Placeholder 2"/>
          <p:cNvSpPr>
            <a:spLocks noGrp="1"/>
          </p:cNvSpPr>
          <p:nvPr>
            <p:ph type="body" idx="1"/>
          </p:nvPr>
        </p:nvSpPr>
        <p:spPr>
          <a:xfrm>
            <a:off x="1011238" y="3100496"/>
            <a:ext cx="10881360" cy="1600199"/>
          </a:xfrm>
        </p:spPr>
        <p:txBody>
          <a:bodyPr anchor="b"/>
          <a:lstStyle>
            <a:lvl1pPr marL="0" indent="0">
              <a:buNone/>
              <a:defRPr sz="2500">
                <a:solidFill>
                  <a:schemeClr val="tx1">
                    <a:tint val="75000"/>
                  </a:schemeClr>
                </a:solidFill>
              </a:defRPr>
            </a:lvl1pPr>
            <a:lvl2pPr marL="574724" indent="0">
              <a:buNone/>
              <a:defRPr sz="2300">
                <a:solidFill>
                  <a:schemeClr val="tx1">
                    <a:tint val="75000"/>
                  </a:schemeClr>
                </a:solidFill>
              </a:defRPr>
            </a:lvl2pPr>
            <a:lvl3pPr marL="1149448" indent="0">
              <a:buNone/>
              <a:defRPr sz="2000">
                <a:solidFill>
                  <a:schemeClr val="tx1">
                    <a:tint val="75000"/>
                  </a:schemeClr>
                </a:solidFill>
              </a:defRPr>
            </a:lvl3pPr>
            <a:lvl4pPr marL="1724172" indent="0">
              <a:buNone/>
              <a:defRPr sz="1800">
                <a:solidFill>
                  <a:schemeClr val="tx1">
                    <a:tint val="75000"/>
                  </a:schemeClr>
                </a:solidFill>
              </a:defRPr>
            </a:lvl4pPr>
            <a:lvl5pPr marL="2298895" indent="0">
              <a:buNone/>
              <a:defRPr sz="1800">
                <a:solidFill>
                  <a:schemeClr val="tx1">
                    <a:tint val="75000"/>
                  </a:schemeClr>
                </a:solidFill>
              </a:defRPr>
            </a:lvl5pPr>
            <a:lvl6pPr marL="2873621" indent="0">
              <a:buNone/>
              <a:defRPr sz="1800">
                <a:solidFill>
                  <a:schemeClr val="tx1">
                    <a:tint val="75000"/>
                  </a:schemeClr>
                </a:solidFill>
              </a:defRPr>
            </a:lvl6pPr>
            <a:lvl7pPr marL="3448344" indent="0">
              <a:buNone/>
              <a:defRPr sz="1800">
                <a:solidFill>
                  <a:schemeClr val="tx1">
                    <a:tint val="75000"/>
                  </a:schemeClr>
                </a:solidFill>
              </a:defRPr>
            </a:lvl7pPr>
            <a:lvl8pPr marL="4023069" indent="0">
              <a:buNone/>
              <a:defRPr sz="1800">
                <a:solidFill>
                  <a:schemeClr val="tx1">
                    <a:tint val="75000"/>
                  </a:schemeClr>
                </a:solidFill>
              </a:defRPr>
            </a:lvl8pPr>
            <a:lvl9pPr marL="4597793" indent="0">
              <a:buNone/>
              <a:defRPr sz="1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2A9D04-24B9-408C-A000-3B78FDBD0AEB}" type="datetime1">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86023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40080" y="1706880"/>
            <a:ext cx="5654040" cy="4827694"/>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7480" y="1706880"/>
            <a:ext cx="5654040" cy="4827694"/>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2B91B48-F2B5-44C0-A324-732125246729}" type="datetime1">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189833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40080" y="1637454"/>
            <a:ext cx="5656263" cy="682414"/>
          </a:xfrm>
        </p:spPr>
        <p:txBody>
          <a:bodyPr anchor="b"/>
          <a:lstStyle>
            <a:lvl1pPr marL="0" indent="0">
              <a:buNone/>
              <a:defRPr sz="3000" b="1"/>
            </a:lvl1pPr>
            <a:lvl2pPr marL="574724" indent="0">
              <a:buNone/>
              <a:defRPr sz="2500" b="1"/>
            </a:lvl2pPr>
            <a:lvl3pPr marL="1149448" indent="0">
              <a:buNone/>
              <a:defRPr sz="2300" b="1"/>
            </a:lvl3pPr>
            <a:lvl4pPr marL="1724172" indent="0">
              <a:buNone/>
              <a:defRPr sz="2000" b="1"/>
            </a:lvl4pPr>
            <a:lvl5pPr marL="2298895" indent="0">
              <a:buNone/>
              <a:defRPr sz="2000" b="1"/>
            </a:lvl5pPr>
            <a:lvl6pPr marL="2873621" indent="0">
              <a:buNone/>
              <a:defRPr sz="2000" b="1"/>
            </a:lvl6pPr>
            <a:lvl7pPr marL="3448344" indent="0">
              <a:buNone/>
              <a:defRPr sz="2000" b="1"/>
            </a:lvl7pPr>
            <a:lvl8pPr marL="4023069" indent="0">
              <a:buNone/>
              <a:defRPr sz="2000" b="1"/>
            </a:lvl8pPr>
            <a:lvl9pPr marL="4597793" indent="0">
              <a:buNone/>
              <a:defRPr sz="2000" b="1"/>
            </a:lvl9pPr>
          </a:lstStyle>
          <a:p>
            <a:pPr lvl="0"/>
            <a:r>
              <a:rPr lang="en-US"/>
              <a:t>Click to edit Master text styles</a:t>
            </a:r>
          </a:p>
        </p:txBody>
      </p:sp>
      <p:sp>
        <p:nvSpPr>
          <p:cNvPr id="4" name="Content Placeholder 3"/>
          <p:cNvSpPr>
            <a:spLocks noGrp="1"/>
          </p:cNvSpPr>
          <p:nvPr>
            <p:ph sz="half" idx="2"/>
          </p:nvPr>
        </p:nvSpPr>
        <p:spPr>
          <a:xfrm>
            <a:off x="640080" y="2319868"/>
            <a:ext cx="5656263" cy="4214707"/>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03037" y="1637454"/>
            <a:ext cx="5658485" cy="682414"/>
          </a:xfrm>
        </p:spPr>
        <p:txBody>
          <a:bodyPr anchor="b"/>
          <a:lstStyle>
            <a:lvl1pPr marL="0" indent="0">
              <a:buNone/>
              <a:defRPr sz="3000" b="1"/>
            </a:lvl1pPr>
            <a:lvl2pPr marL="574724" indent="0">
              <a:buNone/>
              <a:defRPr sz="2500" b="1"/>
            </a:lvl2pPr>
            <a:lvl3pPr marL="1149448" indent="0">
              <a:buNone/>
              <a:defRPr sz="2300" b="1"/>
            </a:lvl3pPr>
            <a:lvl4pPr marL="1724172" indent="0">
              <a:buNone/>
              <a:defRPr sz="2000" b="1"/>
            </a:lvl4pPr>
            <a:lvl5pPr marL="2298895" indent="0">
              <a:buNone/>
              <a:defRPr sz="2000" b="1"/>
            </a:lvl5pPr>
            <a:lvl6pPr marL="2873621" indent="0">
              <a:buNone/>
              <a:defRPr sz="2000" b="1"/>
            </a:lvl6pPr>
            <a:lvl7pPr marL="3448344" indent="0">
              <a:buNone/>
              <a:defRPr sz="2000" b="1"/>
            </a:lvl7pPr>
            <a:lvl8pPr marL="4023069" indent="0">
              <a:buNone/>
              <a:defRPr sz="2000" b="1"/>
            </a:lvl8pPr>
            <a:lvl9pPr marL="4597793" indent="0">
              <a:buNone/>
              <a:defRPr sz="2000" b="1"/>
            </a:lvl9pPr>
          </a:lstStyle>
          <a:p>
            <a:pPr lvl="0"/>
            <a:r>
              <a:rPr lang="en-US"/>
              <a:t>Click to edit Master text styles</a:t>
            </a:r>
          </a:p>
        </p:txBody>
      </p:sp>
      <p:sp>
        <p:nvSpPr>
          <p:cNvPr id="6" name="Content Placeholder 5"/>
          <p:cNvSpPr>
            <a:spLocks noGrp="1"/>
          </p:cNvSpPr>
          <p:nvPr>
            <p:ph sz="quarter" idx="4"/>
          </p:nvPr>
        </p:nvSpPr>
        <p:spPr>
          <a:xfrm>
            <a:off x="6503037" y="2319868"/>
            <a:ext cx="5658485" cy="4214707"/>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337E91-F602-4F18-92CA-FB1A231376B0}" type="datetime1">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79367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0818EFE-411D-495F-AE32-482368671348}" type="datetime1">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2036217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6129DD-E279-4A67-BA32-75987FE76FB7}" type="datetime1">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844010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2" y="291252"/>
            <a:ext cx="4211638" cy="1239521"/>
          </a:xfrm>
        </p:spPr>
        <p:txBody>
          <a:bodyPr anchor="b"/>
          <a:lstStyle>
            <a:lvl1pPr algn="l">
              <a:defRPr sz="2500" b="1"/>
            </a:lvl1pPr>
          </a:lstStyle>
          <a:p>
            <a:r>
              <a:rPr lang="en-US"/>
              <a:t>Click to edit Master title style</a:t>
            </a:r>
          </a:p>
        </p:txBody>
      </p:sp>
      <p:sp>
        <p:nvSpPr>
          <p:cNvPr id="3" name="Content Placeholder 2"/>
          <p:cNvSpPr>
            <a:spLocks noGrp="1"/>
          </p:cNvSpPr>
          <p:nvPr>
            <p:ph idx="1"/>
          </p:nvPr>
        </p:nvSpPr>
        <p:spPr>
          <a:xfrm>
            <a:off x="5005070" y="291255"/>
            <a:ext cx="7156450" cy="6243321"/>
          </a:xfrm>
        </p:spPr>
        <p:txBody>
          <a:bodyPr/>
          <a:lstStyle>
            <a:lvl1pPr>
              <a:defRPr sz="39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0082" y="1530775"/>
            <a:ext cx="4211638" cy="5003802"/>
          </a:xfrm>
        </p:spPr>
        <p:txBody>
          <a:bodyPr/>
          <a:lstStyle>
            <a:lvl1pPr marL="0" indent="0">
              <a:buNone/>
              <a:defRPr sz="1800"/>
            </a:lvl1pPr>
            <a:lvl2pPr marL="574724" indent="0">
              <a:buNone/>
              <a:defRPr sz="1500"/>
            </a:lvl2pPr>
            <a:lvl3pPr marL="1149448" indent="0">
              <a:buNone/>
              <a:defRPr sz="1300"/>
            </a:lvl3pPr>
            <a:lvl4pPr marL="1724172" indent="0">
              <a:buNone/>
              <a:defRPr sz="1100"/>
            </a:lvl4pPr>
            <a:lvl5pPr marL="2298895" indent="0">
              <a:buNone/>
              <a:defRPr sz="1100"/>
            </a:lvl5pPr>
            <a:lvl6pPr marL="2873621" indent="0">
              <a:buNone/>
              <a:defRPr sz="1100"/>
            </a:lvl6pPr>
            <a:lvl7pPr marL="3448344" indent="0">
              <a:buNone/>
              <a:defRPr sz="1100"/>
            </a:lvl7pPr>
            <a:lvl8pPr marL="4023069" indent="0">
              <a:buNone/>
              <a:defRPr sz="1100"/>
            </a:lvl8pPr>
            <a:lvl9pPr marL="459779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E97BA02B-9B73-458F-B848-E99C8FA83242}" type="datetime1">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684943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9203" y="5120640"/>
            <a:ext cx="7680960" cy="604521"/>
          </a:xfrm>
        </p:spPr>
        <p:txBody>
          <a:bodyPr anchor="b"/>
          <a:lstStyle>
            <a:lvl1pPr algn="l">
              <a:defRPr sz="2500" b="1"/>
            </a:lvl1pPr>
          </a:lstStyle>
          <a:p>
            <a:r>
              <a:rPr lang="en-US"/>
              <a:t>Click to edit Master title style</a:t>
            </a:r>
          </a:p>
        </p:txBody>
      </p:sp>
      <p:sp>
        <p:nvSpPr>
          <p:cNvPr id="3" name="Picture Placeholder 2"/>
          <p:cNvSpPr>
            <a:spLocks noGrp="1"/>
          </p:cNvSpPr>
          <p:nvPr>
            <p:ph type="pic" idx="1"/>
          </p:nvPr>
        </p:nvSpPr>
        <p:spPr>
          <a:xfrm>
            <a:off x="2509203" y="653626"/>
            <a:ext cx="7680960" cy="4389120"/>
          </a:xfrm>
        </p:spPr>
        <p:txBody>
          <a:bodyPr/>
          <a:lstStyle>
            <a:lvl1pPr marL="0" indent="0">
              <a:buNone/>
              <a:defRPr sz="3900"/>
            </a:lvl1pPr>
            <a:lvl2pPr marL="574724" indent="0">
              <a:buNone/>
              <a:defRPr sz="3500"/>
            </a:lvl2pPr>
            <a:lvl3pPr marL="1149448" indent="0">
              <a:buNone/>
              <a:defRPr sz="3000"/>
            </a:lvl3pPr>
            <a:lvl4pPr marL="1724172" indent="0">
              <a:buNone/>
              <a:defRPr sz="2500"/>
            </a:lvl4pPr>
            <a:lvl5pPr marL="2298895" indent="0">
              <a:buNone/>
              <a:defRPr sz="2500"/>
            </a:lvl5pPr>
            <a:lvl6pPr marL="2873621" indent="0">
              <a:buNone/>
              <a:defRPr sz="2500"/>
            </a:lvl6pPr>
            <a:lvl7pPr marL="3448344" indent="0">
              <a:buNone/>
              <a:defRPr sz="2500"/>
            </a:lvl7pPr>
            <a:lvl8pPr marL="4023069" indent="0">
              <a:buNone/>
              <a:defRPr sz="2500"/>
            </a:lvl8pPr>
            <a:lvl9pPr marL="4597793" indent="0">
              <a:buNone/>
              <a:defRPr sz="2500"/>
            </a:lvl9pPr>
          </a:lstStyle>
          <a:p>
            <a:endParaRPr lang="en-US"/>
          </a:p>
        </p:txBody>
      </p:sp>
      <p:sp>
        <p:nvSpPr>
          <p:cNvPr id="4" name="Text Placeholder 3"/>
          <p:cNvSpPr>
            <a:spLocks noGrp="1"/>
          </p:cNvSpPr>
          <p:nvPr>
            <p:ph type="body" sz="half" idx="2"/>
          </p:nvPr>
        </p:nvSpPr>
        <p:spPr>
          <a:xfrm>
            <a:off x="2509203" y="5725161"/>
            <a:ext cx="7680960" cy="858519"/>
          </a:xfrm>
        </p:spPr>
        <p:txBody>
          <a:bodyPr/>
          <a:lstStyle>
            <a:lvl1pPr marL="0" indent="0">
              <a:buNone/>
              <a:defRPr sz="1800"/>
            </a:lvl1pPr>
            <a:lvl2pPr marL="574724" indent="0">
              <a:buNone/>
              <a:defRPr sz="1500"/>
            </a:lvl2pPr>
            <a:lvl3pPr marL="1149448" indent="0">
              <a:buNone/>
              <a:defRPr sz="1300"/>
            </a:lvl3pPr>
            <a:lvl4pPr marL="1724172" indent="0">
              <a:buNone/>
              <a:defRPr sz="1100"/>
            </a:lvl4pPr>
            <a:lvl5pPr marL="2298895" indent="0">
              <a:buNone/>
              <a:defRPr sz="1100"/>
            </a:lvl5pPr>
            <a:lvl6pPr marL="2873621" indent="0">
              <a:buNone/>
              <a:defRPr sz="1100"/>
            </a:lvl6pPr>
            <a:lvl7pPr marL="3448344" indent="0">
              <a:buNone/>
              <a:defRPr sz="1100"/>
            </a:lvl7pPr>
            <a:lvl8pPr marL="4023069" indent="0">
              <a:buNone/>
              <a:defRPr sz="1100"/>
            </a:lvl8pPr>
            <a:lvl9pPr marL="459779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3752997-1B9E-4EF2-B260-9EB38D81F553}" type="datetime1">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131600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1370E5-7D69-44CE-AE73-71BFC3B68EE4}" type="datetime1">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683209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81160" y="292948"/>
            <a:ext cx="2880360" cy="624162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0080" y="292948"/>
            <a:ext cx="8427720" cy="62416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FF8B80-F83C-48AA-AA3F-63D37C1606D6}" type="datetime1">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0111354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5730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292946"/>
            <a:ext cx="11521440" cy="1219200"/>
          </a:xfrm>
          <a:prstGeom prst="rect">
            <a:avLst/>
          </a:prstGeom>
        </p:spPr>
        <p:txBody>
          <a:bodyPr vert="horz" lIns="114945" tIns="57473" rIns="114945" bIns="57473" rtlCol="0" anchor="ctr">
            <a:normAutofit/>
          </a:bodyPr>
          <a:lstStyle/>
          <a:p>
            <a:r>
              <a:rPr lang="en-US"/>
              <a:t>Click to edit Master title style</a:t>
            </a:r>
          </a:p>
        </p:txBody>
      </p:sp>
      <p:sp>
        <p:nvSpPr>
          <p:cNvPr id="3" name="Text Placeholder 2"/>
          <p:cNvSpPr>
            <a:spLocks noGrp="1"/>
          </p:cNvSpPr>
          <p:nvPr>
            <p:ph type="body" idx="1"/>
          </p:nvPr>
        </p:nvSpPr>
        <p:spPr>
          <a:xfrm>
            <a:off x="640080" y="1706880"/>
            <a:ext cx="11521440" cy="4827694"/>
          </a:xfrm>
          <a:prstGeom prst="rect">
            <a:avLst/>
          </a:prstGeom>
        </p:spPr>
        <p:txBody>
          <a:bodyPr vert="horz" lIns="114945" tIns="57473" rIns="114945" bIns="5747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40080" y="6780107"/>
            <a:ext cx="2987040" cy="389467"/>
          </a:xfrm>
          <a:prstGeom prst="rect">
            <a:avLst/>
          </a:prstGeom>
        </p:spPr>
        <p:txBody>
          <a:bodyPr vert="horz" lIns="114945" tIns="57473" rIns="114945" bIns="57473" rtlCol="0" anchor="ctr"/>
          <a:lstStyle>
            <a:lvl1pPr algn="l">
              <a:defRPr sz="1500">
                <a:solidFill>
                  <a:schemeClr val="tx1">
                    <a:tint val="75000"/>
                  </a:schemeClr>
                </a:solidFill>
              </a:defRPr>
            </a:lvl1pPr>
          </a:lstStyle>
          <a:p>
            <a:fld id="{0E5C8E2D-1657-4F9E-9BA7-8881C66FCBC2}" type="datetime1">
              <a:rPr lang="en-US" smtClean="0"/>
              <a:t>9/30/2026</a:t>
            </a:fld>
            <a:endParaRPr lang="en-US"/>
          </a:p>
        </p:txBody>
      </p:sp>
      <p:sp>
        <p:nvSpPr>
          <p:cNvPr id="5" name="Footer Placeholder 4"/>
          <p:cNvSpPr>
            <a:spLocks noGrp="1"/>
          </p:cNvSpPr>
          <p:nvPr>
            <p:ph type="ftr" sz="quarter" idx="3"/>
          </p:nvPr>
        </p:nvSpPr>
        <p:spPr>
          <a:xfrm>
            <a:off x="4373880" y="6780107"/>
            <a:ext cx="4053840" cy="389467"/>
          </a:xfrm>
          <a:prstGeom prst="rect">
            <a:avLst/>
          </a:prstGeom>
        </p:spPr>
        <p:txBody>
          <a:bodyPr vert="horz" lIns="114945" tIns="57473" rIns="114945" bIns="57473" rtlCol="0" anchor="ctr"/>
          <a:lstStyle>
            <a:lvl1pPr algn="ctr">
              <a:defRPr sz="1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74480" y="6780107"/>
            <a:ext cx="2987040" cy="389467"/>
          </a:xfrm>
          <a:prstGeom prst="rect">
            <a:avLst/>
          </a:prstGeom>
        </p:spPr>
        <p:txBody>
          <a:bodyPr vert="horz" lIns="114945" tIns="57473" rIns="114945" bIns="57473" rtlCol="0" anchor="ctr"/>
          <a:lstStyle>
            <a:lvl1pPr algn="r">
              <a:defRPr sz="1500">
                <a:solidFill>
                  <a:schemeClr val="tx1">
                    <a:tint val="75000"/>
                  </a:schemeClr>
                </a:solidFill>
              </a:defRPr>
            </a:lvl1pPr>
          </a:lstStyle>
          <a:p>
            <a:fld id="{C02A2637-A5A3-49FA-B214-6E67543099EF}" type="slidenum">
              <a:rPr lang="en-US" smtClean="0"/>
              <a:t>‹#›</a:t>
            </a:fld>
            <a:endParaRPr lang="en-US"/>
          </a:p>
        </p:txBody>
      </p:sp>
    </p:spTree>
    <p:extLst>
      <p:ext uri="{BB962C8B-B14F-4D97-AF65-F5344CB8AC3E}">
        <p14:creationId xmlns:p14="http://schemas.microsoft.com/office/powerpoint/2010/main" val="641038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1149448" rtl="0" eaLnBrk="1" latinLnBrk="0" hangingPunct="1">
        <a:spcBef>
          <a:spcPct val="0"/>
        </a:spcBef>
        <a:buNone/>
        <a:defRPr sz="5500" kern="1200">
          <a:solidFill>
            <a:schemeClr val="tx1"/>
          </a:solidFill>
          <a:latin typeface="+mj-lt"/>
          <a:ea typeface="+mj-ea"/>
          <a:cs typeface="+mj-cs"/>
        </a:defRPr>
      </a:lvl1pPr>
    </p:titleStyle>
    <p:bodyStyle>
      <a:lvl1pPr marL="431044" indent="-431044" algn="l" defTabSz="1149448" rtl="0" eaLnBrk="1" latinLnBrk="0" hangingPunct="1">
        <a:spcBef>
          <a:spcPct val="20000"/>
        </a:spcBef>
        <a:buFont typeface="Arial" pitchFamily="34" charset="0"/>
        <a:buChar char="•"/>
        <a:defRPr sz="3900" kern="1200">
          <a:solidFill>
            <a:schemeClr val="tx1"/>
          </a:solidFill>
          <a:latin typeface="+mn-lt"/>
          <a:ea typeface="+mn-ea"/>
          <a:cs typeface="+mn-cs"/>
        </a:defRPr>
      </a:lvl1pPr>
      <a:lvl2pPr marL="933926" indent="-359202" algn="l" defTabSz="1149448"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36810" indent="-287362" algn="l" defTabSz="1149448"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2011534"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86258"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60983"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35707"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310430"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85155"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en-US"/>
      </a:defPPr>
      <a:lvl1pPr marL="0" algn="l" defTabSz="1149448" rtl="0" eaLnBrk="1" latinLnBrk="0" hangingPunct="1">
        <a:defRPr sz="2300" kern="1200">
          <a:solidFill>
            <a:schemeClr val="tx1"/>
          </a:solidFill>
          <a:latin typeface="+mn-lt"/>
          <a:ea typeface="+mn-ea"/>
          <a:cs typeface="+mn-cs"/>
        </a:defRPr>
      </a:lvl1pPr>
      <a:lvl2pPr marL="574724" algn="l" defTabSz="1149448" rtl="0" eaLnBrk="1" latinLnBrk="0" hangingPunct="1">
        <a:defRPr sz="2300" kern="1200">
          <a:solidFill>
            <a:schemeClr val="tx1"/>
          </a:solidFill>
          <a:latin typeface="+mn-lt"/>
          <a:ea typeface="+mn-ea"/>
          <a:cs typeface="+mn-cs"/>
        </a:defRPr>
      </a:lvl2pPr>
      <a:lvl3pPr marL="1149448" algn="l" defTabSz="1149448" rtl="0" eaLnBrk="1" latinLnBrk="0" hangingPunct="1">
        <a:defRPr sz="2300" kern="1200">
          <a:solidFill>
            <a:schemeClr val="tx1"/>
          </a:solidFill>
          <a:latin typeface="+mn-lt"/>
          <a:ea typeface="+mn-ea"/>
          <a:cs typeface="+mn-cs"/>
        </a:defRPr>
      </a:lvl3pPr>
      <a:lvl4pPr marL="1724172" algn="l" defTabSz="1149448" rtl="0" eaLnBrk="1" latinLnBrk="0" hangingPunct="1">
        <a:defRPr sz="2300" kern="1200">
          <a:solidFill>
            <a:schemeClr val="tx1"/>
          </a:solidFill>
          <a:latin typeface="+mn-lt"/>
          <a:ea typeface="+mn-ea"/>
          <a:cs typeface="+mn-cs"/>
        </a:defRPr>
      </a:lvl4pPr>
      <a:lvl5pPr marL="2298895" algn="l" defTabSz="1149448" rtl="0" eaLnBrk="1" latinLnBrk="0" hangingPunct="1">
        <a:defRPr sz="2300" kern="1200">
          <a:solidFill>
            <a:schemeClr val="tx1"/>
          </a:solidFill>
          <a:latin typeface="+mn-lt"/>
          <a:ea typeface="+mn-ea"/>
          <a:cs typeface="+mn-cs"/>
        </a:defRPr>
      </a:lvl5pPr>
      <a:lvl6pPr marL="2873621" algn="l" defTabSz="1149448" rtl="0" eaLnBrk="1" latinLnBrk="0" hangingPunct="1">
        <a:defRPr sz="2300" kern="1200">
          <a:solidFill>
            <a:schemeClr val="tx1"/>
          </a:solidFill>
          <a:latin typeface="+mn-lt"/>
          <a:ea typeface="+mn-ea"/>
          <a:cs typeface="+mn-cs"/>
        </a:defRPr>
      </a:lvl6pPr>
      <a:lvl7pPr marL="3448344" algn="l" defTabSz="1149448" rtl="0" eaLnBrk="1" latinLnBrk="0" hangingPunct="1">
        <a:defRPr sz="2300" kern="1200">
          <a:solidFill>
            <a:schemeClr val="tx1"/>
          </a:solidFill>
          <a:latin typeface="+mn-lt"/>
          <a:ea typeface="+mn-ea"/>
          <a:cs typeface="+mn-cs"/>
        </a:defRPr>
      </a:lvl7pPr>
      <a:lvl8pPr marL="4023069" algn="l" defTabSz="1149448" rtl="0" eaLnBrk="1" latinLnBrk="0" hangingPunct="1">
        <a:defRPr sz="2300" kern="1200">
          <a:solidFill>
            <a:schemeClr val="tx1"/>
          </a:solidFill>
          <a:latin typeface="+mn-lt"/>
          <a:ea typeface="+mn-ea"/>
          <a:cs typeface="+mn-cs"/>
        </a:defRPr>
      </a:lvl8pPr>
      <a:lvl9pPr marL="4597793" algn="l" defTabSz="1149448"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huggingface.co/datasets/UTAustin-AIHealth/MedHallu" TargetMode="External"/><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hyperlink" Target="https://huggingface.co/datasets/qiaojin/PubMedQA" TargetMode="External"/><Relationship Id="rId4" Type="http://schemas.openxmlformats.org/officeDocument/2006/relationships/hyperlink" Target="https://github.com/Teddy-XiongGZ/MIRAGE"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aclanthology.org/2024.acl-long.585/?utm_source=chatgpt.com" TargetMode="External"/><Relationship Id="rId7" Type="http://schemas.openxmlformats.org/officeDocument/2006/relationships/hyperlink" Target="https://arxiv.org/abs/2305.14251?utm_source=chatgpt.com"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aclanthology.org/2023.emnlp-main.557/?utm_source=chatgpt.com" TargetMode="External"/><Relationship Id="rId5" Type="http://schemas.openxmlformats.org/officeDocument/2006/relationships/hyperlink" Target="https://www.sciencedirect.com/science/article/pii/S1877050926017114?utm_source=chatgpt.com" TargetMode="External"/><Relationship Id="rId4" Type="http://schemas.openxmlformats.org/officeDocument/2006/relationships/hyperlink" Target="https://link.springer.com/article/10.1007/s40747-025-01833-9?utm_source=chatgpt.com"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aclanthology.org/2023.acl-long.910/?utm_source=chatgpt.com" TargetMode="External"/><Relationship Id="rId7" Type="http://schemas.openxmlformats.org/officeDocument/2006/relationships/hyperlink" Target="https://www.nature.com/articles/s44401-026-00115-x" TargetMode="External"/><Relationship Id="rId2" Type="http://schemas.openxmlformats.org/officeDocument/2006/relationships/hyperlink" Target="https://ojs.aaai.org/index.php/AAAI/article/view/11912?utm_source=chatgpt.com" TargetMode="External"/><Relationship Id="rId1" Type="http://schemas.openxmlformats.org/officeDocument/2006/relationships/slideLayout" Target="../slideLayouts/slideLayout2.xml"/><Relationship Id="rId6" Type="http://schemas.openxmlformats.org/officeDocument/2006/relationships/hyperlink" Target="https://www.mdpi.com/2075-4426/14/12/1131?utm_source=chatgpt.com" TargetMode="External"/><Relationship Id="rId5" Type="http://schemas.openxmlformats.org/officeDocument/2006/relationships/hyperlink" Target="https://aclanthology.org/2024.findings-acl.372/?utm_source=chatgpt.com" TargetMode="External"/><Relationship Id="rId4" Type="http://schemas.openxmlformats.org/officeDocument/2006/relationships/hyperlink" Target="https://pmc.ncbi.nlm.nih.gov/articles/PMC10857783/?utm_source=chatgpt.com"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link.springer.com/article/10.1007/s00330-025-11445-z?utm_source=chatgpt.com" TargetMode="External"/><Relationship Id="rId7" Type="http://schemas.openxmlformats.org/officeDocument/2006/relationships/hyperlink" Target="https://www.nature.com/articles/s44401-026-00115-x" TargetMode="External"/><Relationship Id="rId2" Type="http://schemas.openxmlformats.org/officeDocument/2006/relationships/hyperlink" Target="https://ojs.aaai.org/index.php/AAAI/article/view/11912?utm_source=chatgpt.com" TargetMode="External"/><Relationship Id="rId1" Type="http://schemas.openxmlformats.org/officeDocument/2006/relationships/slideLayout" Target="../slideLayouts/slideLayout2.xml"/><Relationship Id="rId6" Type="http://schemas.openxmlformats.org/officeDocument/2006/relationships/hyperlink" Target="https://www.nature.com/articles/s44401-026-00115-x?utm_source=chatgpt.com" TargetMode="External"/><Relationship Id="rId5" Type="http://schemas.openxmlformats.org/officeDocument/2006/relationships/hyperlink" Target="https://www.sciencedirect.com/science/article/pii/S2352340925008674?utm_source=chatgpt.com" TargetMode="External"/><Relationship Id="rId4" Type="http://schemas.openxmlformats.org/officeDocument/2006/relationships/hyperlink" Target="https://link.springer.com/article/10.1007/s12194-025-00941-y?utm_source=chatgpt.com"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801600" cy="1831078"/>
          </a:xfrm>
          <a:solidFill>
            <a:schemeClr val="tx2">
              <a:lumMod val="60000"/>
              <a:lumOff val="40000"/>
            </a:schemeClr>
          </a:solidFill>
        </p:spPr>
        <p:txBody>
          <a:bodyPr>
            <a:noAutofit/>
          </a:bodyPr>
          <a:lstStyle/>
          <a:p>
            <a:r>
              <a:rPr lang="en-US" sz="3200" b="1" dirty="0">
                <a:solidFill>
                  <a:schemeClr val="bg1"/>
                </a:solidFill>
                <a:latin typeface="Times New Roman" pitchFamily="18" charset="0"/>
                <a:cs typeface="Times New Roman" pitchFamily="18" charset="0"/>
              </a:rPr>
              <a:t>SENTENCE-LEVEL DETECTION AND TIERED ABSTENTION FRAMEWORK FOR REDUCING HALLUCINATIONS IN DOMAIN-SPECIFIC  RAG SYSTEMS</a:t>
            </a:r>
          </a:p>
        </p:txBody>
      </p:sp>
      <p:sp>
        <p:nvSpPr>
          <p:cNvPr id="3" name="Subtitle 2"/>
          <p:cNvSpPr>
            <a:spLocks noGrp="1"/>
          </p:cNvSpPr>
          <p:nvPr>
            <p:ph type="subTitle" idx="1"/>
          </p:nvPr>
        </p:nvSpPr>
        <p:spPr>
          <a:xfrm>
            <a:off x="2026920" y="3088640"/>
            <a:ext cx="8961120" cy="3982720"/>
          </a:xfrm>
        </p:spPr>
        <p:txBody>
          <a:bodyPr>
            <a:normAutofit fontScale="47500" lnSpcReduction="20000"/>
          </a:bodyPr>
          <a:lstStyle/>
          <a:p>
            <a:r>
              <a:rPr lang="en-US" sz="4400" dirty="0" err="1">
                <a:solidFill>
                  <a:schemeClr val="accent1">
                    <a:lumMod val="50000"/>
                  </a:schemeClr>
                </a:solidFill>
                <a:latin typeface="Times New Roman" pitchFamily="18" charset="0"/>
                <a:cs typeface="Times New Roman" pitchFamily="18" charset="0"/>
              </a:rPr>
              <a:t>M.Tech</a:t>
            </a:r>
            <a:r>
              <a:rPr lang="en-US" sz="4400" dirty="0">
                <a:solidFill>
                  <a:schemeClr val="accent1">
                    <a:lumMod val="50000"/>
                  </a:schemeClr>
                </a:solidFill>
                <a:latin typeface="Times New Roman" pitchFamily="18" charset="0"/>
                <a:cs typeface="Times New Roman" pitchFamily="18" charset="0"/>
              </a:rPr>
              <a:t> Project Work Review-III</a:t>
            </a:r>
          </a:p>
          <a:p>
            <a:r>
              <a:rPr lang="en-US" sz="4400" dirty="0">
                <a:solidFill>
                  <a:schemeClr val="accent1">
                    <a:lumMod val="50000"/>
                  </a:schemeClr>
                </a:solidFill>
                <a:latin typeface="Times New Roman" pitchFamily="18" charset="0"/>
                <a:cs typeface="Times New Roman" pitchFamily="18" charset="0"/>
              </a:rPr>
              <a:t> Presented by</a:t>
            </a:r>
          </a:p>
          <a:p>
            <a:endParaRPr lang="en-US" sz="4400" dirty="0">
              <a:solidFill>
                <a:schemeClr val="accent1">
                  <a:lumMod val="50000"/>
                </a:schemeClr>
              </a:solidFill>
              <a:latin typeface="Times New Roman" pitchFamily="18" charset="0"/>
              <a:cs typeface="Times New Roman" pitchFamily="18" charset="0"/>
            </a:endParaRPr>
          </a:p>
          <a:p>
            <a:r>
              <a:rPr lang="en-US" sz="4400" dirty="0">
                <a:solidFill>
                  <a:schemeClr val="accent1">
                    <a:lumMod val="50000"/>
                  </a:schemeClr>
                </a:solidFill>
                <a:latin typeface="Times New Roman" pitchFamily="18" charset="0"/>
                <a:cs typeface="Times New Roman" pitchFamily="18" charset="0"/>
              </a:rPr>
              <a:t>SONAL AGNIHOTRI 25MCS1005</a:t>
            </a:r>
          </a:p>
          <a:p>
            <a:r>
              <a:rPr lang="en-US" sz="4400" dirty="0" err="1">
                <a:solidFill>
                  <a:schemeClr val="accent1">
                    <a:lumMod val="50000"/>
                  </a:schemeClr>
                </a:solidFill>
                <a:latin typeface="Times New Roman" pitchFamily="18" charset="0"/>
                <a:cs typeface="Times New Roman" pitchFamily="18" charset="0"/>
              </a:rPr>
              <a:t>M.Tech</a:t>
            </a:r>
            <a:r>
              <a:rPr lang="en-US" sz="4400" dirty="0">
                <a:solidFill>
                  <a:schemeClr val="accent1">
                    <a:lumMod val="50000"/>
                  </a:schemeClr>
                </a:solidFill>
                <a:latin typeface="Times New Roman" pitchFamily="18" charset="0"/>
                <a:cs typeface="Times New Roman" pitchFamily="18" charset="0"/>
              </a:rPr>
              <a:t> Computer Science and Engineering</a:t>
            </a:r>
          </a:p>
          <a:p>
            <a:endParaRPr lang="en-US" sz="4400" dirty="0">
              <a:solidFill>
                <a:schemeClr val="accent1">
                  <a:lumMod val="50000"/>
                </a:schemeClr>
              </a:solidFill>
              <a:latin typeface="Times New Roman" pitchFamily="18" charset="0"/>
              <a:cs typeface="Times New Roman" pitchFamily="18" charset="0"/>
            </a:endParaRPr>
          </a:p>
          <a:p>
            <a:r>
              <a:rPr lang="en-US" sz="4400" dirty="0">
                <a:solidFill>
                  <a:schemeClr val="accent1">
                    <a:lumMod val="50000"/>
                  </a:schemeClr>
                </a:solidFill>
                <a:latin typeface="Times New Roman" pitchFamily="18" charset="0"/>
                <a:cs typeface="Times New Roman" pitchFamily="18" charset="0"/>
              </a:rPr>
              <a:t>Under the Guidance of</a:t>
            </a:r>
          </a:p>
          <a:p>
            <a:r>
              <a:rPr lang="en-US" sz="4400" dirty="0">
                <a:solidFill>
                  <a:schemeClr val="accent1">
                    <a:lumMod val="50000"/>
                  </a:schemeClr>
                </a:solidFill>
                <a:latin typeface="Times New Roman" pitchFamily="18" charset="0"/>
                <a:cs typeface="Times New Roman" pitchFamily="18" charset="0"/>
              </a:rPr>
              <a:t>Dr. </a:t>
            </a:r>
            <a:r>
              <a:rPr lang="en-US" sz="4400" dirty="0" err="1">
                <a:solidFill>
                  <a:schemeClr val="accent1">
                    <a:lumMod val="50000"/>
                  </a:schemeClr>
                </a:solidFill>
                <a:latin typeface="Times New Roman" pitchFamily="18" charset="0"/>
                <a:cs typeface="Times New Roman" pitchFamily="18" charset="0"/>
              </a:rPr>
              <a:t>Jenila</a:t>
            </a:r>
            <a:r>
              <a:rPr lang="en-US" sz="4400" dirty="0">
                <a:solidFill>
                  <a:schemeClr val="accent1">
                    <a:lumMod val="50000"/>
                  </a:schemeClr>
                </a:solidFill>
                <a:latin typeface="Times New Roman" pitchFamily="18" charset="0"/>
                <a:cs typeface="Times New Roman" pitchFamily="18" charset="0"/>
              </a:rPr>
              <a:t> Livingston L M </a:t>
            </a:r>
          </a:p>
          <a:p>
            <a:r>
              <a:rPr lang="en-US" sz="4400" dirty="0">
                <a:solidFill>
                  <a:schemeClr val="accent1">
                    <a:lumMod val="50000"/>
                  </a:schemeClr>
                </a:solidFill>
                <a:latin typeface="Times New Roman" pitchFamily="18" charset="0"/>
                <a:cs typeface="Times New Roman" pitchFamily="18" charset="0"/>
              </a:rPr>
              <a:t>Associate Professor</a:t>
            </a:r>
          </a:p>
          <a:p>
            <a:r>
              <a:rPr lang="en-US" sz="4400" dirty="0">
                <a:solidFill>
                  <a:schemeClr val="accent1">
                    <a:lumMod val="50000"/>
                  </a:schemeClr>
                </a:solidFill>
                <a:latin typeface="Times New Roman" pitchFamily="18" charset="0"/>
                <a:cs typeface="Times New Roman" pitchFamily="18" charset="0"/>
              </a:rPr>
              <a:t>School of Computer Science and Engineering</a:t>
            </a:r>
          </a:p>
          <a:p>
            <a:r>
              <a:rPr lang="en-US" sz="4400" dirty="0">
                <a:solidFill>
                  <a:schemeClr val="accent1">
                    <a:lumMod val="50000"/>
                  </a:schemeClr>
                </a:solidFill>
                <a:latin typeface="Times New Roman" pitchFamily="18" charset="0"/>
                <a:cs typeface="Times New Roman" pitchFamily="18" charset="0"/>
              </a:rPr>
              <a:t>Vellore Institute of Technology, Chennai</a:t>
            </a:r>
            <a:r>
              <a:rPr lang="en-US" dirty="0"/>
              <a:t>.</a:t>
            </a:r>
          </a:p>
          <a:p>
            <a:endParaRPr lang="en-US" dirty="0"/>
          </a:p>
        </p:txBody>
      </p:sp>
      <p:pic>
        <p:nvPicPr>
          <p:cNvPr id="1026" name="Picture 2" descr="VIT Logo">
            <a:extLst>
              <a:ext uri="{FF2B5EF4-FFF2-40B4-BE49-F238E27FC236}">
                <a16:creationId xmlns:a16="http://schemas.microsoft.com/office/drawing/2014/main" id="{3480622C-94EE-8879-D91B-FCEDA7BB9B6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42591" y="1831079"/>
            <a:ext cx="4716417" cy="1289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9843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02A2637-A5A3-49FA-B214-6E67543099EF}" type="slidenum">
              <a:rPr lang="en-US" smtClean="0"/>
              <a:t>2</a:t>
            </a:fld>
            <a:endParaRPr lang="en-US" dirty="0"/>
          </a:p>
        </p:txBody>
      </p:sp>
      <p:sp>
        <p:nvSpPr>
          <p:cNvPr id="14" name="Title 1"/>
          <p:cNvSpPr>
            <a:spLocks noGrp="1"/>
          </p:cNvSpPr>
          <p:nvPr>
            <p:ph type="title"/>
          </p:nvPr>
        </p:nvSpPr>
        <p:spPr>
          <a:xfrm>
            <a:off x="0" y="0"/>
            <a:ext cx="12801600" cy="1512146"/>
          </a:xfrm>
          <a:solidFill>
            <a:schemeClr val="tx2">
              <a:lumMod val="60000"/>
              <a:lumOff val="40000"/>
            </a:schemeClr>
          </a:solidFill>
        </p:spPr>
        <p:txBody>
          <a:bodyPr/>
          <a:lstStyle/>
          <a:p>
            <a:r>
              <a:rPr lang="en-US" sz="3700" b="1" dirty="0">
                <a:solidFill>
                  <a:schemeClr val="bg1"/>
                </a:solidFill>
                <a:latin typeface="Times New Roman" pitchFamily="18" charset="0"/>
                <a:cs typeface="Times New Roman" pitchFamily="18" charset="0"/>
              </a:rPr>
              <a:t>CONTENTS</a:t>
            </a:r>
          </a:p>
        </p:txBody>
      </p:sp>
      <p:sp>
        <p:nvSpPr>
          <p:cNvPr id="5" name="Content Placeholder 2"/>
          <p:cNvSpPr txBox="1">
            <a:spLocks/>
          </p:cNvSpPr>
          <p:nvPr/>
        </p:nvSpPr>
        <p:spPr>
          <a:xfrm>
            <a:off x="640080" y="1706880"/>
            <a:ext cx="11521440" cy="4827694"/>
          </a:xfrm>
          <a:prstGeom prst="rect">
            <a:avLst/>
          </a:prstGeom>
        </p:spPr>
        <p:txBody>
          <a:bodyPr vert="horz" lIns="114945" tIns="57473" rIns="114945" bIns="57473" rtlCol="0">
            <a:normAutofit/>
          </a:bodyPr>
          <a:lstStyle>
            <a:lvl1pPr marL="431044" indent="-431044" algn="l" defTabSz="1149448" rtl="0" eaLnBrk="1" latinLnBrk="0" hangingPunct="1">
              <a:spcBef>
                <a:spcPct val="20000"/>
              </a:spcBef>
              <a:buFont typeface="Arial" pitchFamily="34" charset="0"/>
              <a:buChar char="•"/>
              <a:defRPr sz="3900" kern="1200">
                <a:solidFill>
                  <a:schemeClr val="tx1"/>
                </a:solidFill>
                <a:latin typeface="+mn-lt"/>
                <a:ea typeface="+mn-ea"/>
                <a:cs typeface="+mn-cs"/>
              </a:defRPr>
            </a:lvl1pPr>
            <a:lvl2pPr marL="933926" indent="-359202" algn="l" defTabSz="1149448"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36810" indent="-287362" algn="l" defTabSz="1149448"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2011534"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86258"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60983"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35707"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310430"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85155"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9pPr>
          </a:lstStyle>
          <a:p>
            <a:pPr fontAlgn="ct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ABSTRACT</a:t>
            </a:r>
          </a:p>
          <a:p>
            <a:pPr fontAlgn="ct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INTRODUCTION</a:t>
            </a:r>
          </a:p>
          <a:p>
            <a:pPr fontAlgn="ct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LITERATURE SURVEY</a:t>
            </a:r>
          </a:p>
          <a:p>
            <a:pPr fontAlgn="ct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RESEARCH GAPS </a:t>
            </a:r>
          </a:p>
          <a:p>
            <a:pPr fontAlgn="ct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OBJECTIVES</a:t>
            </a:r>
          </a:p>
          <a:p>
            <a:pPr fontAlgn="ct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MODULE IDENTIFICATION</a:t>
            </a:r>
          </a:p>
          <a:p>
            <a:pPr fontAlgn="ct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SYSTEM ARCHITECTURE</a:t>
            </a:r>
          </a:p>
          <a:p>
            <a:pPr fontAlgn="ct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DEVELOPMENT &amp; INTEGRATION</a:t>
            </a:r>
          </a:p>
          <a:p>
            <a:pPr fontAlgn="ct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PROTOTYPE / RESEARCH FRAMEWORK</a:t>
            </a:r>
          </a:p>
        </p:txBody>
      </p:sp>
    </p:spTree>
    <p:extLst>
      <p:ext uri="{BB962C8B-B14F-4D97-AF65-F5344CB8AC3E}">
        <p14:creationId xmlns:p14="http://schemas.microsoft.com/office/powerpoint/2010/main" val="2490154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1.ABSTRACT</a:t>
            </a:r>
          </a:p>
        </p:txBody>
      </p:sp>
      <p:sp>
        <p:nvSpPr>
          <p:cNvPr id="3" name="Content Placeholder 2"/>
          <p:cNvSpPr>
            <a:spLocks noGrp="1"/>
          </p:cNvSpPr>
          <p:nvPr>
            <p:ph idx="1"/>
          </p:nvPr>
        </p:nvSpPr>
        <p:spPr>
          <a:xfrm>
            <a:off x="457200" y="1706880"/>
            <a:ext cx="11704320" cy="4827694"/>
          </a:xfrm>
        </p:spPr>
        <p:txBody>
          <a:bodyPr>
            <a:noAutofit/>
          </a:bodyPr>
          <a:lstStyle/>
          <a:p>
            <a:pPr marL="0" indent="0">
              <a:buNone/>
            </a:pPr>
            <a:r>
              <a:rPr lang="en-IN" sz="2200" dirty="0">
                <a:latin typeface="Times New Roman" panose="02020603050405020304" pitchFamily="18" charset="0"/>
                <a:cs typeface="Times New Roman" panose="02020603050405020304" pitchFamily="18" charset="0"/>
              </a:rPr>
              <a:t>Retrieval-Augmented Generation (RAG) systems can still produce hallucinated or unsupported information despite using retrieved documents, limiting their reliability in domain-specific applications.</a:t>
            </a:r>
          </a:p>
          <a:p>
            <a:pPr marL="0" indent="0">
              <a:buNone/>
            </a:pPr>
            <a:r>
              <a:rPr lang="en-IN" sz="2200" dirty="0">
                <a:latin typeface="Times New Roman" panose="02020603050405020304" pitchFamily="18" charset="0"/>
                <a:cs typeface="Times New Roman" panose="02020603050405020304" pitchFamily="18" charset="0"/>
              </a:rPr>
              <a:t>This project proposes a </a:t>
            </a:r>
            <a:r>
              <a:rPr lang="en-IN" sz="2200" b="1" dirty="0">
                <a:latin typeface="Times New Roman" panose="02020603050405020304" pitchFamily="18" charset="0"/>
                <a:cs typeface="Times New Roman" panose="02020603050405020304" pitchFamily="18" charset="0"/>
              </a:rPr>
              <a:t>sentence-level hallucination detection and tiered abstention framework</a:t>
            </a:r>
            <a:r>
              <a:rPr lang="en-IN" sz="2200" dirty="0">
                <a:latin typeface="Times New Roman" panose="02020603050405020304" pitchFamily="18" charset="0"/>
                <a:cs typeface="Times New Roman" panose="02020603050405020304" pitchFamily="18" charset="0"/>
              </a:rPr>
              <a:t> that verifies each generated sentence using a Natural Language Inference (NLI) model. Based on the verification result, the system either displays, suppresses, re-retrieves supporting evidence, or flags unverified content.</a:t>
            </a:r>
          </a:p>
          <a:p>
            <a:pPr marL="0" indent="0">
              <a:buNone/>
            </a:pPr>
            <a:r>
              <a:rPr lang="en-IN" sz="2200" dirty="0">
                <a:latin typeface="Times New Roman" panose="02020603050405020304" pitchFamily="18" charset="0"/>
                <a:cs typeface="Times New Roman" panose="02020603050405020304" pitchFamily="18" charset="0"/>
              </a:rPr>
              <a:t>The framework aims to improve the trustworthiness and reliability of domain-specific RAG systems by reducing hallucinations while maintaining answer quality.</a:t>
            </a:r>
          </a:p>
          <a:p>
            <a:pPr marL="0" indent="0">
              <a:buNone/>
            </a:pPr>
            <a:endParaRPr lang="en-IN" sz="2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02A2637-A5A3-49FA-B214-6E67543099EF}" type="slidenum">
              <a:rPr lang="en-US" smtClean="0"/>
              <a:t>3</a:t>
            </a:fld>
            <a:endParaRPr lang="en-US"/>
          </a:p>
        </p:txBody>
      </p:sp>
    </p:spTree>
    <p:extLst>
      <p:ext uri="{BB962C8B-B14F-4D97-AF65-F5344CB8AC3E}">
        <p14:creationId xmlns:p14="http://schemas.microsoft.com/office/powerpoint/2010/main" val="735943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lang="en-US" sz="3900" b="1" dirty="0">
                <a:solidFill>
                  <a:schemeClr val="bg1"/>
                </a:solidFill>
                <a:latin typeface="Times New Roman" pitchFamily="18" charset="0"/>
                <a:cs typeface="Times New Roman" pitchFamily="18" charset="0"/>
              </a:rPr>
              <a:t>2. INTRODUCTION</a:t>
            </a:r>
          </a:p>
        </p:txBody>
      </p:sp>
      <p:sp>
        <p:nvSpPr>
          <p:cNvPr id="3" name="Content Placeholder 2"/>
          <p:cNvSpPr>
            <a:spLocks noGrp="1"/>
          </p:cNvSpPr>
          <p:nvPr>
            <p:ph idx="1"/>
          </p:nvPr>
        </p:nvSpPr>
        <p:spPr/>
        <p:txBody>
          <a:bodyPr>
            <a:normAutofit/>
          </a:bodyPr>
          <a:lstStyle/>
          <a:p>
            <a:pPr marL="0" indent="0">
              <a:buNone/>
            </a:pPr>
            <a:r>
              <a:rPr lang="en-IN" sz="2200" dirty="0">
                <a:latin typeface="Times New Roman" panose="02020603050405020304" pitchFamily="18" charset="0"/>
                <a:cs typeface="Times New Roman" panose="02020603050405020304" pitchFamily="18" charset="0"/>
              </a:rPr>
              <a:t>RAG enhances LLMs by generating responses using retrieved documents, improving factual accuracy over standalone LLMs. However, RAG systems can still produce hallucinated, unsupported, or contradictory information despite retrieving relevant evidence. This limits their reliability in critical domains such as healthcare, law, and finance.</a:t>
            </a:r>
          </a:p>
          <a:p>
            <a:pPr marL="0" indent="0">
              <a:buNone/>
            </a:pPr>
            <a:r>
              <a:rPr lang="en-IN" sz="2200" dirty="0">
                <a:latin typeface="Times New Roman" panose="02020603050405020304" pitchFamily="18" charset="0"/>
                <a:cs typeface="Times New Roman" panose="02020603050405020304" pitchFamily="18" charset="0"/>
              </a:rPr>
              <a:t>This project proposes a </a:t>
            </a:r>
            <a:r>
              <a:rPr lang="en-IN" sz="2200" b="1" dirty="0">
                <a:latin typeface="Times New Roman" panose="02020603050405020304" pitchFamily="18" charset="0"/>
                <a:cs typeface="Times New Roman" panose="02020603050405020304" pitchFamily="18" charset="0"/>
              </a:rPr>
              <a:t>Sentence-Level Hallucination Detection and Tiered Abstention Framework</a:t>
            </a:r>
            <a:r>
              <a:rPr lang="en-IN" sz="2200" dirty="0">
                <a:latin typeface="Times New Roman" panose="02020603050405020304" pitchFamily="18" charset="0"/>
                <a:cs typeface="Times New Roman" panose="02020603050405020304" pitchFamily="18" charset="0"/>
              </a:rPr>
              <a:t> that verifies each generated sentence using a NLI model. Based on the verification result, the system either displays the sentence, suppresses unsupported content, performs re-retrieval, or flags uncertain information.</a:t>
            </a:r>
          </a:p>
          <a:p>
            <a:pPr marL="0" indent="0">
              <a:buNone/>
            </a:pPr>
            <a:r>
              <a:rPr lang="en-IN" sz="2200" dirty="0">
                <a:latin typeface="Times New Roman" panose="02020603050405020304" pitchFamily="18" charset="0"/>
                <a:cs typeface="Times New Roman" panose="02020603050405020304" pitchFamily="18" charset="0"/>
              </a:rPr>
              <a:t>The objective is to improve the trustworthiness, transparency, and reliability of domain-specific RAG systems while minimizing hallucinations and maintaining answer quality.</a:t>
            </a:r>
          </a:p>
          <a:p>
            <a:pPr marL="0" indent="0">
              <a:buNone/>
            </a:pPr>
            <a:endParaRPr lang="en-US" sz="2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02A2637-A5A3-49FA-B214-6E67543099EF}" type="slidenum">
              <a:rPr lang="en-US" smtClean="0"/>
              <a:t>4</a:t>
            </a:fld>
            <a:endParaRPr lang="en-US"/>
          </a:p>
        </p:txBody>
      </p:sp>
    </p:spTree>
    <p:extLst>
      <p:ext uri="{BB962C8B-B14F-4D97-AF65-F5344CB8AC3E}">
        <p14:creationId xmlns:p14="http://schemas.microsoft.com/office/powerpoint/2010/main" val="2973974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pPr algn="ctr"/>
            <a:r>
              <a:rPr sz="3600" b="1" dirty="0">
                <a:solidFill>
                  <a:schemeClr val="bg1"/>
                </a:solidFill>
                <a:latin typeface="Times New Roman"/>
              </a:rPr>
              <a:t>3.LITERATURE SURVEY</a:t>
            </a:r>
          </a:p>
        </p:txBody>
      </p:sp>
      <p:graphicFrame>
        <p:nvGraphicFramePr>
          <p:cNvPr id="5" name="Content Placeholder 5"/>
          <p:cNvGraphicFramePr>
            <a:graphicFrameLocks/>
          </p:cNvGraphicFramePr>
          <p:nvPr>
            <p:extLst>
              <p:ext uri="{D42A27DB-BD31-4B8C-83A1-F6EECF244321}">
                <p14:modId xmlns:p14="http://schemas.microsoft.com/office/powerpoint/2010/main" val="2827091185"/>
              </p:ext>
            </p:extLst>
          </p:nvPr>
        </p:nvGraphicFramePr>
        <p:xfrm>
          <a:off x="685799" y="1669892"/>
          <a:ext cx="11475720" cy="5225447"/>
        </p:xfrm>
        <a:graphic>
          <a:graphicData uri="http://schemas.openxmlformats.org/drawingml/2006/table">
            <a:tbl>
              <a:tblPr firstRow="1" firstCol="1" bandRow="1">
                <a:tableStyleId>{BC89EF96-8CEA-46FF-86C4-4CE0E7609802}</a:tableStyleId>
              </a:tblPr>
              <a:tblGrid>
                <a:gridCol w="702131">
                  <a:extLst>
                    <a:ext uri="{9D8B030D-6E8A-4147-A177-3AD203B41FA5}">
                      <a16:colId xmlns:a16="http://schemas.microsoft.com/office/drawing/2014/main" val="20000"/>
                    </a:ext>
                  </a:extLst>
                </a:gridCol>
                <a:gridCol w="2543764">
                  <a:extLst>
                    <a:ext uri="{9D8B030D-6E8A-4147-A177-3AD203B41FA5}">
                      <a16:colId xmlns:a16="http://schemas.microsoft.com/office/drawing/2014/main" val="20001"/>
                    </a:ext>
                  </a:extLst>
                </a:gridCol>
                <a:gridCol w="2917847">
                  <a:extLst>
                    <a:ext uri="{9D8B030D-6E8A-4147-A177-3AD203B41FA5}">
                      <a16:colId xmlns:a16="http://schemas.microsoft.com/office/drawing/2014/main" val="20002"/>
                    </a:ext>
                  </a:extLst>
                </a:gridCol>
                <a:gridCol w="2843030">
                  <a:extLst>
                    <a:ext uri="{9D8B030D-6E8A-4147-A177-3AD203B41FA5}">
                      <a16:colId xmlns:a16="http://schemas.microsoft.com/office/drawing/2014/main" val="1023101934"/>
                    </a:ext>
                  </a:extLst>
                </a:gridCol>
                <a:gridCol w="2468948">
                  <a:extLst>
                    <a:ext uri="{9D8B030D-6E8A-4147-A177-3AD203B41FA5}">
                      <a16:colId xmlns:a16="http://schemas.microsoft.com/office/drawing/2014/main" val="548304626"/>
                    </a:ext>
                  </a:extLst>
                </a:gridCol>
              </a:tblGrid>
              <a:tr h="396651">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Article  Title </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Techniques Used</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Key Findings</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Limitations</a:t>
                      </a:r>
                    </a:p>
                  </a:txBody>
                  <a:tcPr marL="67838" marR="67838" marT="0" marB="0"/>
                </a:tc>
                <a:extLst>
                  <a:ext uri="{0D108BD9-81ED-4DB2-BD59-A6C34878D82A}">
                    <a16:rowId xmlns:a16="http://schemas.microsoft.com/office/drawing/2014/main" val="10000"/>
                  </a:ext>
                </a:extLst>
              </a:tr>
              <a:tr h="1121664">
                <a:tc>
                  <a:txBody>
                    <a:bodyPr/>
                    <a:lstStyle/>
                    <a:p>
                      <a:pPr marL="0" marR="0" algn="ctr">
                        <a:lnSpc>
                          <a:spcPct val="115000"/>
                        </a:lnSpc>
                        <a:spcBef>
                          <a:spcPts val="0"/>
                        </a:spcBef>
                        <a:spcAft>
                          <a:spcPts val="0"/>
                        </a:spcAft>
                      </a:pPr>
                      <a:r>
                        <a:rPr sz="1400">
                          <a:latin typeface="Times New Roman"/>
                        </a:rPr>
                        <a:t>1</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a:rPr>
                        <a:t>RAGTruth: A Hallucination Corpus for Developing Trustworthy Retrieval-Augmented Language Models (2024)</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a:rPr>
                        <a:t>Human-annotated RAG hallucination corpus with case- and word-level labels.</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lang="en-IN" sz="1400" dirty="0">
                          <a:latin typeface="Times New Roman" panose="02020603050405020304" pitchFamily="18" charset="0"/>
                          <a:cs typeface="Times New Roman" panose="02020603050405020304" pitchFamily="18" charset="0"/>
                        </a:rPr>
                        <a:t>Dataset: </a:t>
                      </a:r>
                      <a:r>
                        <a:rPr lang="en-IN" sz="1400" dirty="0" err="1">
                          <a:latin typeface="Times New Roman" panose="02020603050405020304" pitchFamily="18" charset="0"/>
                          <a:cs typeface="Times New Roman" panose="02020603050405020304" pitchFamily="18" charset="0"/>
                        </a:rPr>
                        <a:t>RAGTruth</a:t>
                      </a:r>
                      <a:r>
                        <a:rPr lang="en-IN" sz="1400" dirty="0">
                          <a:latin typeface="Times New Roman" panose="02020603050405020304" pitchFamily="18" charset="0"/>
                          <a:cs typeface="Times New Roman" panose="02020603050405020304" pitchFamily="18" charset="0"/>
                        </a:rPr>
                        <a:t> (~18K responses) Metrics: Precision, Recall, F1 Finding: Enables fine-grained hallucination detection using human claim-level annotations. </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a:rPr>
                        <a:t>Mainly supports detection/evaluation; it is not a medical or user-facing abstention system.</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extLst>
                  <a:ext uri="{0D108BD9-81ED-4DB2-BD59-A6C34878D82A}">
                    <a16:rowId xmlns:a16="http://schemas.microsoft.com/office/drawing/2014/main" val="10001"/>
                  </a:ext>
                </a:extLst>
              </a:tr>
              <a:tr h="841249">
                <a:tc>
                  <a:txBody>
                    <a:bodyPr/>
                    <a:lstStyle/>
                    <a:p>
                      <a:pPr marL="0" marR="0" algn="ctr">
                        <a:lnSpc>
                          <a:spcPct val="115000"/>
                        </a:lnSpc>
                        <a:spcBef>
                          <a:spcPts val="0"/>
                        </a:spcBef>
                        <a:spcAft>
                          <a:spcPts val="0"/>
                        </a:spcAft>
                      </a:pPr>
                      <a:r>
                        <a:rPr sz="1400">
                          <a:latin typeface="Times New Roman"/>
                        </a:rPr>
                        <a:t>2</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a:latin typeface="Times New Roman"/>
                        </a:rPr>
                        <a:t>Reducing Hallucinations of Large Language Models via Hierarchical Semantic Piece (2025)</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a:latin typeface="Times New Roman"/>
                        </a:rPr>
                        <a:t>Sentence/entity decomposition, embedding matching and LLM-based fact verification.</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lang="en-IN" sz="1400" dirty="0">
                          <a:latin typeface="Times New Roman" panose="02020603050405020304" pitchFamily="18" charset="0"/>
                          <a:cs typeface="Times New Roman" panose="02020603050405020304" pitchFamily="18" charset="0"/>
                        </a:rPr>
                        <a:t>Dataset: Hallucination-detection benchmarks Metrics: Precision, Recall, F1 Finding: Hierarchical semantic verification improves hallucination detection. </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a:latin typeface="Times New Roman"/>
                        </a:rPr>
                        <a:t>General-domain framework; it does not specifically address medical RAG or tiered abstention.</a:t>
                      </a:r>
                      <a:endParaRPr lang="en-US" sz="1600" dirty="0">
                        <a:effectLst/>
                        <a:latin typeface="Times New Roman" pitchFamily="18" charset="0"/>
                        <a:ea typeface="Calibri"/>
                        <a:cs typeface="Times New Roman" pitchFamily="18" charset="0"/>
                      </a:endParaRPr>
                    </a:p>
                  </a:txBody>
                  <a:tcPr marL="67838" marR="67838" marT="0" marB="0" anchor="ctr"/>
                </a:tc>
                <a:extLst>
                  <a:ext uri="{0D108BD9-81ED-4DB2-BD59-A6C34878D82A}">
                    <a16:rowId xmlns:a16="http://schemas.microsoft.com/office/drawing/2014/main" val="10002"/>
                  </a:ext>
                </a:extLst>
              </a:tr>
              <a:tr h="841249">
                <a:tc>
                  <a:txBody>
                    <a:bodyPr/>
                    <a:lstStyle/>
                    <a:p>
                      <a:pPr marL="0" marR="0" algn="ctr">
                        <a:lnSpc>
                          <a:spcPct val="115000"/>
                        </a:lnSpc>
                        <a:spcBef>
                          <a:spcPts val="0"/>
                        </a:spcBef>
                        <a:spcAft>
                          <a:spcPts val="0"/>
                        </a:spcAft>
                      </a:pPr>
                      <a:r>
                        <a:rPr sz="1400">
                          <a:latin typeface="Times New Roman"/>
                        </a:rPr>
                        <a:t>3</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sz="1400" dirty="0">
                          <a:latin typeface="Times New Roman"/>
                        </a:rPr>
                        <a:t>Reducing Hallucinations in RAG through Multi-Signal Relevance Scoring (2026)</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a:rPr>
                        <a:t>Hybrid DPR + BM25 + NLI reranking with controlled ablation experiments.</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lang="en-IN" sz="1400" dirty="0">
                          <a:latin typeface="Times New Roman" panose="02020603050405020304" pitchFamily="18" charset="0"/>
                          <a:cs typeface="Times New Roman" panose="02020603050405020304" pitchFamily="18" charset="0"/>
                        </a:rPr>
                        <a:t>Dataset: RAG QA benchmarks Metrics: Retrieval relevance + answer quality Finding: Combining lexical, semantic and NLI signals improves RAG retrieval.</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a:rPr>
                        <a:t>Improves retrieval relevance but does not verify each generated claim or decide how to abstain.</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extLst>
                  <a:ext uri="{0D108BD9-81ED-4DB2-BD59-A6C34878D82A}">
                    <a16:rowId xmlns:a16="http://schemas.microsoft.com/office/drawing/2014/main" val="10003"/>
                  </a:ext>
                </a:extLst>
              </a:tr>
              <a:tr h="1121664">
                <a:tc>
                  <a:txBody>
                    <a:bodyPr/>
                    <a:lstStyle/>
                    <a:p>
                      <a:pPr marL="0" marR="0" algn="ctr">
                        <a:lnSpc>
                          <a:spcPct val="115000"/>
                        </a:lnSpc>
                        <a:spcBef>
                          <a:spcPts val="0"/>
                        </a:spcBef>
                        <a:spcAft>
                          <a:spcPts val="0"/>
                        </a:spcAft>
                      </a:pPr>
                      <a:r>
                        <a:rPr sz="1400">
                          <a:latin typeface="Times New Roman"/>
                        </a:rPr>
                        <a:t>4</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sz="1400">
                          <a:latin typeface="Times New Roman"/>
                        </a:rPr>
                        <a:t>SelfCheckGPT: Zero-Resource Black-Box Hallucination Detection for Generative LLMs (2023)</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a:latin typeface="Times New Roman"/>
                        </a:rPr>
                        <a:t>Multiple-sample generation with consistency-based sentence-level checking.</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lang="en-IN" sz="1400" dirty="0">
                          <a:latin typeface="Times New Roman" panose="02020603050405020304" pitchFamily="18" charset="0"/>
                          <a:cs typeface="Times New Roman" panose="02020603050405020304" pitchFamily="18" charset="0"/>
                        </a:rPr>
                        <a:t>Dataset: </a:t>
                      </a:r>
                      <a:r>
                        <a:rPr lang="en-IN" sz="1400" dirty="0" err="1">
                          <a:latin typeface="Times New Roman" panose="02020603050405020304" pitchFamily="18" charset="0"/>
                          <a:cs typeface="Times New Roman" panose="02020603050405020304" pitchFamily="18" charset="0"/>
                        </a:rPr>
                        <a:t>WikiBio</a:t>
                      </a:r>
                      <a:r>
                        <a:rPr lang="en-IN" sz="1400" dirty="0">
                          <a:latin typeface="Times New Roman" panose="02020603050405020304" pitchFamily="18" charset="0"/>
                          <a:cs typeface="Times New Roman" panose="02020603050405020304" pitchFamily="18" charset="0"/>
                        </a:rPr>
                        <a:t>/factual generation data Metrics: AUROC, AUC-PR Finding: Detects hallucinations through consistency across multiple generations.</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dirty="0">
                          <a:latin typeface="Times New Roman"/>
                        </a:rPr>
                        <a:t>Consistency does not guarantee correctness and it is not designed for retrieved medical evidence.</a:t>
                      </a:r>
                      <a:endParaRPr lang="en-US" sz="1600" dirty="0">
                        <a:effectLst/>
                        <a:latin typeface="Times New Roman" pitchFamily="18" charset="0"/>
                        <a:ea typeface="Calibri"/>
                        <a:cs typeface="Times New Roman" pitchFamily="18" charset="0"/>
                      </a:endParaRPr>
                    </a:p>
                  </a:txBody>
                  <a:tcPr marL="67838" marR="67838" marT="0" marB="0" anchor="ct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pPr algn="r"/>
            <a:r>
              <a:rPr sz="1200">
                <a:latin typeface="Times New Roman"/>
              </a:rPr>
              <a:t>5</a:t>
            </a:r>
            <a:endParaRPr lang="en-US"/>
          </a:p>
        </p:txBody>
      </p:sp>
    </p:spTree>
    <p:extLst>
      <p:ext uri="{BB962C8B-B14F-4D97-AF65-F5344CB8AC3E}">
        <p14:creationId xmlns:p14="http://schemas.microsoft.com/office/powerpoint/2010/main" val="1132717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pPr algn="ctr"/>
            <a:r>
              <a:rPr sz="3600" b="1" dirty="0">
                <a:solidFill>
                  <a:schemeClr val="bg1"/>
                </a:solidFill>
                <a:latin typeface="Times New Roman"/>
              </a:rPr>
              <a:t>LITERATURE SURVEY (CONTD..,)</a:t>
            </a:r>
          </a:p>
        </p:txBody>
      </p:sp>
      <p:graphicFrame>
        <p:nvGraphicFramePr>
          <p:cNvPr id="5" name="Content Placeholder 5"/>
          <p:cNvGraphicFramePr>
            <a:graphicFrameLocks/>
          </p:cNvGraphicFramePr>
          <p:nvPr>
            <p:extLst>
              <p:ext uri="{D42A27DB-BD31-4B8C-83A1-F6EECF244321}">
                <p14:modId xmlns:p14="http://schemas.microsoft.com/office/powerpoint/2010/main" val="3924503898"/>
              </p:ext>
            </p:extLst>
          </p:nvPr>
        </p:nvGraphicFramePr>
        <p:xfrm>
          <a:off x="685799" y="1669892"/>
          <a:ext cx="11475720" cy="4734719"/>
        </p:xfrm>
        <a:graphic>
          <a:graphicData uri="http://schemas.openxmlformats.org/drawingml/2006/table">
            <a:tbl>
              <a:tblPr firstRow="1" firstCol="1" bandRow="1">
                <a:tableStyleId>{BC89EF96-8CEA-46FF-86C4-4CE0E7609802}</a:tableStyleId>
              </a:tblPr>
              <a:tblGrid>
                <a:gridCol w="702131">
                  <a:extLst>
                    <a:ext uri="{9D8B030D-6E8A-4147-A177-3AD203B41FA5}">
                      <a16:colId xmlns:a16="http://schemas.microsoft.com/office/drawing/2014/main" val="20000"/>
                    </a:ext>
                  </a:extLst>
                </a:gridCol>
                <a:gridCol w="2543764">
                  <a:extLst>
                    <a:ext uri="{9D8B030D-6E8A-4147-A177-3AD203B41FA5}">
                      <a16:colId xmlns:a16="http://schemas.microsoft.com/office/drawing/2014/main" val="20001"/>
                    </a:ext>
                  </a:extLst>
                </a:gridCol>
                <a:gridCol w="2917847">
                  <a:extLst>
                    <a:ext uri="{9D8B030D-6E8A-4147-A177-3AD203B41FA5}">
                      <a16:colId xmlns:a16="http://schemas.microsoft.com/office/drawing/2014/main" val="20002"/>
                    </a:ext>
                  </a:extLst>
                </a:gridCol>
                <a:gridCol w="2843030">
                  <a:extLst>
                    <a:ext uri="{9D8B030D-6E8A-4147-A177-3AD203B41FA5}">
                      <a16:colId xmlns:a16="http://schemas.microsoft.com/office/drawing/2014/main" val="1023101934"/>
                    </a:ext>
                  </a:extLst>
                </a:gridCol>
                <a:gridCol w="2468948">
                  <a:extLst>
                    <a:ext uri="{9D8B030D-6E8A-4147-A177-3AD203B41FA5}">
                      <a16:colId xmlns:a16="http://schemas.microsoft.com/office/drawing/2014/main" val="548304626"/>
                    </a:ext>
                  </a:extLst>
                </a:gridCol>
              </a:tblGrid>
              <a:tr h="396651">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Article  Title </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Techniques Used</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Key Findings</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Limitations</a:t>
                      </a:r>
                    </a:p>
                  </a:txBody>
                  <a:tcPr marL="67838" marR="67838" marT="0" marB="0"/>
                </a:tc>
                <a:extLst>
                  <a:ext uri="{0D108BD9-81ED-4DB2-BD59-A6C34878D82A}">
                    <a16:rowId xmlns:a16="http://schemas.microsoft.com/office/drawing/2014/main" val="10000"/>
                  </a:ext>
                </a:extLst>
              </a:tr>
              <a:tr h="1121664">
                <a:tc>
                  <a:txBody>
                    <a:bodyPr/>
                    <a:lstStyle/>
                    <a:p>
                      <a:pPr marL="0" marR="0" algn="ctr">
                        <a:lnSpc>
                          <a:spcPct val="115000"/>
                        </a:lnSpc>
                        <a:spcBef>
                          <a:spcPts val="0"/>
                        </a:spcBef>
                        <a:spcAft>
                          <a:spcPts val="0"/>
                        </a:spcAft>
                      </a:pPr>
                      <a:r>
                        <a:rPr sz="1400">
                          <a:latin typeface="Times New Roman"/>
                        </a:rPr>
                        <a:t>5</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a:rPr>
                        <a:t>FActScore: Fine-Grained Atomic Evaluation of Factual Precision in Long-Form Text Generation (2023)</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a:rPr>
                        <a:t>Atomic-fact decomposition followed by evidence-based factual verification.</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lang="en-IN" sz="1400" dirty="0">
                          <a:latin typeface="Times New Roman" panose="02020603050405020304" pitchFamily="18" charset="0"/>
                          <a:cs typeface="Times New Roman" panose="02020603050405020304" pitchFamily="18" charset="0"/>
                        </a:rPr>
                        <a:t>Dataset: Long-form biography generation Metric: </a:t>
                      </a:r>
                      <a:r>
                        <a:rPr lang="en-IN" sz="1400" dirty="0" err="1">
                          <a:latin typeface="Times New Roman" panose="02020603050405020304" pitchFamily="18" charset="0"/>
                          <a:cs typeface="Times New Roman" panose="02020603050405020304" pitchFamily="18" charset="0"/>
                        </a:rPr>
                        <a:t>FActScore</a:t>
                      </a:r>
                      <a:r>
                        <a:rPr lang="en-IN" sz="1400" dirty="0">
                          <a:latin typeface="Times New Roman" panose="02020603050405020304" pitchFamily="18" charset="0"/>
                          <a:cs typeface="Times New Roman" panose="02020603050405020304" pitchFamily="18" charset="0"/>
                        </a:rPr>
                        <a:t> Finding: Atomic-fact evaluation provides fine-grained factuality measurement.</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a:rPr>
                        <a:t>Designed mainly as an evaluation metric rather than a real-time mitigation layer.</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extLst>
                  <a:ext uri="{0D108BD9-81ED-4DB2-BD59-A6C34878D82A}">
                    <a16:rowId xmlns:a16="http://schemas.microsoft.com/office/drawing/2014/main" val="10001"/>
                  </a:ext>
                </a:extLst>
              </a:tr>
              <a:tr h="841249">
                <a:tc>
                  <a:txBody>
                    <a:bodyPr/>
                    <a:lstStyle/>
                    <a:p>
                      <a:pPr marL="0" marR="0" algn="ctr">
                        <a:lnSpc>
                          <a:spcPct val="115000"/>
                        </a:lnSpc>
                        <a:spcBef>
                          <a:spcPts val="0"/>
                        </a:spcBef>
                        <a:spcAft>
                          <a:spcPts val="0"/>
                        </a:spcAft>
                      </a:pPr>
                      <a:r>
                        <a:rPr sz="1400">
                          <a:latin typeface="Times New Roman"/>
                        </a:rPr>
                        <a:t>6</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a:latin typeface="Times New Roman"/>
                        </a:rPr>
                        <a:t>Faithful to the Original: Fact-Aware Neural Abstractive Summarization (2018)</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a:latin typeface="Times New Roman"/>
                        </a:rPr>
                        <a:t>Fact extraction, dependency parsing and fact-aware dual-attention summarization.</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lang="en-IN" sz="1400" dirty="0">
                          <a:latin typeface="Times New Roman" panose="02020603050405020304" pitchFamily="18" charset="0"/>
                          <a:cs typeface="Times New Roman" panose="02020603050405020304" pitchFamily="18" charset="0"/>
                        </a:rPr>
                        <a:t>Dataset: CNN/Daily Mail Metrics: ROUGE + factuality analysis Finding: Fact-aware generation reduces unsupported information.</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a:latin typeface="Times New Roman"/>
                        </a:rPr>
                        <a:t>Developed for summarization rather than RAG and does not provide medical claim abstention.</a:t>
                      </a:r>
                      <a:endParaRPr lang="en-US" sz="1600" dirty="0">
                        <a:effectLst/>
                        <a:latin typeface="Times New Roman" pitchFamily="18" charset="0"/>
                        <a:ea typeface="Calibri"/>
                        <a:cs typeface="Times New Roman" pitchFamily="18" charset="0"/>
                      </a:endParaRPr>
                    </a:p>
                  </a:txBody>
                  <a:tcPr marL="67838" marR="67838" marT="0" marB="0" anchor="ctr"/>
                </a:tc>
                <a:extLst>
                  <a:ext uri="{0D108BD9-81ED-4DB2-BD59-A6C34878D82A}">
                    <a16:rowId xmlns:a16="http://schemas.microsoft.com/office/drawing/2014/main" val="10002"/>
                  </a:ext>
                </a:extLst>
              </a:tr>
              <a:tr h="841249">
                <a:tc>
                  <a:txBody>
                    <a:bodyPr/>
                    <a:lstStyle/>
                    <a:p>
                      <a:pPr marL="0" marR="0" algn="ctr">
                        <a:lnSpc>
                          <a:spcPct val="115000"/>
                        </a:lnSpc>
                        <a:spcBef>
                          <a:spcPts val="0"/>
                        </a:spcBef>
                        <a:spcAft>
                          <a:spcPts val="0"/>
                        </a:spcAft>
                      </a:pPr>
                      <a:r>
                        <a:rPr sz="1400">
                          <a:latin typeface="Times New Roman"/>
                        </a:rPr>
                        <a:t>7</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sz="1400">
                          <a:latin typeface="Times New Roman"/>
                        </a:rPr>
                        <a:t>RARR: Researching and Revising What Language Models Say Using Language Models (2023)</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a:rPr>
                        <a:t>Retrieval-based evidence search, claim verification and automatic response revision.</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lang="en-IN" sz="1400" dirty="0">
                          <a:latin typeface="Times New Roman" panose="02020603050405020304" pitchFamily="18" charset="0"/>
                          <a:cs typeface="Times New Roman" panose="02020603050405020304" pitchFamily="18" charset="0"/>
                        </a:rPr>
                        <a:t>Dataset: Long-form factual generation Metrics: Attribution + factuality/quality Finding: Retrieval and revision improve factual support.</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a:rPr>
                        <a:t>Revision adds inference cost and does not provide a tiered display/suppress/retrieve/flag policy.</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extLst>
                  <a:ext uri="{0D108BD9-81ED-4DB2-BD59-A6C34878D82A}">
                    <a16:rowId xmlns:a16="http://schemas.microsoft.com/office/drawing/2014/main" val="10003"/>
                  </a:ext>
                </a:extLst>
              </a:tr>
              <a:tr h="1121664">
                <a:tc>
                  <a:txBody>
                    <a:bodyPr/>
                    <a:lstStyle/>
                    <a:p>
                      <a:pPr marL="0" marR="0" algn="ctr">
                        <a:lnSpc>
                          <a:spcPct val="115000"/>
                        </a:lnSpc>
                        <a:spcBef>
                          <a:spcPts val="0"/>
                        </a:spcBef>
                        <a:spcAft>
                          <a:spcPts val="0"/>
                        </a:spcAft>
                      </a:pPr>
                      <a:r>
                        <a:rPr sz="1400">
                          <a:latin typeface="Times New Roman"/>
                        </a:rPr>
                        <a:t>8</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sz="1400">
                          <a:latin typeface="Times New Roman"/>
                        </a:rPr>
                        <a:t>Almanac — Retrieval-Augmented Language Models for Clinical Medicine (2024)</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a:latin typeface="Times New Roman"/>
                        </a:rPr>
                        <a:t>RAG over curated clinical guidelines and treatment resources with clinician evaluation.</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lang="en-IN" sz="1400" dirty="0">
                          <a:latin typeface="Times New Roman" panose="02020603050405020304" pitchFamily="18" charset="0"/>
                          <a:cs typeface="Times New Roman" panose="02020603050405020304" pitchFamily="18" charset="0"/>
                        </a:rPr>
                        <a:t>Dataset: Clinical medical questions Metrics: Factuality, completeness, citation quality Finding: Clinical RAG improves evidence-grounded responses. </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dirty="0">
                          <a:latin typeface="Times New Roman"/>
                        </a:rPr>
                        <a:t>Clinician evaluation is limited in scale and there is no sentence-level verifier or automated abstention.</a:t>
                      </a:r>
                      <a:endParaRPr lang="en-US" sz="1600" dirty="0">
                        <a:effectLst/>
                        <a:latin typeface="Times New Roman" pitchFamily="18" charset="0"/>
                        <a:ea typeface="Calibri"/>
                        <a:cs typeface="Times New Roman" pitchFamily="18" charset="0"/>
                      </a:endParaRPr>
                    </a:p>
                  </a:txBody>
                  <a:tcPr marL="67838" marR="67838" marT="0" marB="0" anchor="ct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pPr algn="r"/>
            <a:r>
              <a:rPr sz="1200">
                <a:latin typeface="Times New Roman"/>
              </a:rPr>
              <a:t>6</a:t>
            </a:r>
            <a:endParaRPr lang="en-US"/>
          </a:p>
        </p:txBody>
      </p:sp>
    </p:spTree>
    <p:extLst>
      <p:ext uri="{BB962C8B-B14F-4D97-AF65-F5344CB8AC3E}">
        <p14:creationId xmlns:p14="http://schemas.microsoft.com/office/powerpoint/2010/main" val="2380593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pPr algn="ctr"/>
            <a:r>
              <a:rPr sz="3600" b="1" dirty="0">
                <a:solidFill>
                  <a:schemeClr val="bg1"/>
                </a:solidFill>
                <a:latin typeface="Times New Roman"/>
              </a:rPr>
              <a:t>LITERATURE SURVEY (CONTD..,)</a:t>
            </a:r>
          </a:p>
        </p:txBody>
      </p:sp>
      <p:graphicFrame>
        <p:nvGraphicFramePr>
          <p:cNvPr id="5" name="Content Placeholder 5"/>
          <p:cNvGraphicFramePr>
            <a:graphicFrameLocks/>
          </p:cNvGraphicFramePr>
          <p:nvPr>
            <p:extLst>
              <p:ext uri="{D42A27DB-BD31-4B8C-83A1-F6EECF244321}">
                <p14:modId xmlns:p14="http://schemas.microsoft.com/office/powerpoint/2010/main" val="613629478"/>
              </p:ext>
            </p:extLst>
          </p:nvPr>
        </p:nvGraphicFramePr>
        <p:xfrm>
          <a:off x="685799" y="1669892"/>
          <a:ext cx="11475720" cy="4653248"/>
        </p:xfrm>
        <a:graphic>
          <a:graphicData uri="http://schemas.openxmlformats.org/drawingml/2006/table">
            <a:tbl>
              <a:tblPr firstRow="1" firstCol="1" bandRow="1">
                <a:tableStyleId>{BC89EF96-8CEA-46FF-86C4-4CE0E7609802}</a:tableStyleId>
              </a:tblPr>
              <a:tblGrid>
                <a:gridCol w="702131">
                  <a:extLst>
                    <a:ext uri="{9D8B030D-6E8A-4147-A177-3AD203B41FA5}">
                      <a16:colId xmlns:a16="http://schemas.microsoft.com/office/drawing/2014/main" val="20000"/>
                    </a:ext>
                  </a:extLst>
                </a:gridCol>
                <a:gridCol w="2543764">
                  <a:extLst>
                    <a:ext uri="{9D8B030D-6E8A-4147-A177-3AD203B41FA5}">
                      <a16:colId xmlns:a16="http://schemas.microsoft.com/office/drawing/2014/main" val="20001"/>
                    </a:ext>
                  </a:extLst>
                </a:gridCol>
                <a:gridCol w="2917847">
                  <a:extLst>
                    <a:ext uri="{9D8B030D-6E8A-4147-A177-3AD203B41FA5}">
                      <a16:colId xmlns:a16="http://schemas.microsoft.com/office/drawing/2014/main" val="20002"/>
                    </a:ext>
                  </a:extLst>
                </a:gridCol>
                <a:gridCol w="2843030">
                  <a:extLst>
                    <a:ext uri="{9D8B030D-6E8A-4147-A177-3AD203B41FA5}">
                      <a16:colId xmlns:a16="http://schemas.microsoft.com/office/drawing/2014/main" val="1023101934"/>
                    </a:ext>
                  </a:extLst>
                </a:gridCol>
                <a:gridCol w="2468948">
                  <a:extLst>
                    <a:ext uri="{9D8B030D-6E8A-4147-A177-3AD203B41FA5}">
                      <a16:colId xmlns:a16="http://schemas.microsoft.com/office/drawing/2014/main" val="548304626"/>
                    </a:ext>
                  </a:extLst>
                </a:gridCol>
              </a:tblGrid>
              <a:tr h="396651">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Article  Title </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Techniques Used</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Key Findings</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Limitations</a:t>
                      </a:r>
                    </a:p>
                  </a:txBody>
                  <a:tcPr marL="67838" marR="67838" marT="0" marB="0"/>
                </a:tc>
                <a:extLst>
                  <a:ext uri="{0D108BD9-81ED-4DB2-BD59-A6C34878D82A}">
                    <a16:rowId xmlns:a16="http://schemas.microsoft.com/office/drawing/2014/main" val="10000"/>
                  </a:ext>
                </a:extLst>
              </a:tr>
              <a:tr h="1121664">
                <a:tc>
                  <a:txBody>
                    <a:bodyPr/>
                    <a:lstStyle/>
                    <a:p>
                      <a:pPr marL="0" marR="0" algn="ctr">
                        <a:lnSpc>
                          <a:spcPct val="115000"/>
                        </a:lnSpc>
                        <a:spcBef>
                          <a:spcPts val="0"/>
                        </a:spcBef>
                        <a:spcAft>
                          <a:spcPts val="0"/>
                        </a:spcAft>
                      </a:pPr>
                      <a:r>
                        <a:rPr sz="1400">
                          <a:latin typeface="Times New Roman"/>
                        </a:rPr>
                        <a:t>9</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a:rPr>
                        <a:t>Benchmarking Retrieval-Augmented Generation for Medicine (MIRAGE) (2024)</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a:rPr>
                        <a:t>MedRAG toolkit combining medical corpora, retrievers and LLMs across 7,663 QA questions.</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lang="en-IN" sz="1400" dirty="0">
                          <a:latin typeface="Times New Roman" panose="02020603050405020304" pitchFamily="18" charset="0"/>
                          <a:cs typeface="Times New Roman" panose="02020603050405020304" pitchFamily="18" charset="0"/>
                        </a:rPr>
                        <a:t>Dataset: 7,663 medical QA questions Metrics: QA accuracy Finding: Retriever and corpus choice strongly affect medical RAG performance.</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a:rPr>
                        <a:t>Primarily benchmarks QA accuracy; it does not implement claim-level hallucination mitigation.</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extLst>
                  <a:ext uri="{0D108BD9-81ED-4DB2-BD59-A6C34878D82A}">
                    <a16:rowId xmlns:a16="http://schemas.microsoft.com/office/drawing/2014/main" val="10001"/>
                  </a:ext>
                </a:extLst>
              </a:tr>
              <a:tr h="841249">
                <a:tc>
                  <a:txBody>
                    <a:bodyPr/>
                    <a:lstStyle/>
                    <a:p>
                      <a:pPr marL="0" marR="0" algn="ctr">
                        <a:lnSpc>
                          <a:spcPct val="115000"/>
                        </a:lnSpc>
                        <a:spcBef>
                          <a:spcPts val="0"/>
                        </a:spcBef>
                        <a:spcAft>
                          <a:spcPts val="0"/>
                        </a:spcAft>
                      </a:pPr>
                      <a:r>
                        <a:rPr sz="1400">
                          <a:latin typeface="Times New Roman"/>
                        </a:rPr>
                        <a:t>10</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dirty="0">
                          <a:latin typeface="Times New Roman"/>
                        </a:rPr>
                        <a:t>Rationale-Guided Retrieval Augmented Generation for Medical Question Answering (2025)</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a:latin typeface="Times New Roman"/>
                        </a:rPr>
                        <a:t>LLM-generated rationales, perplexity-based filtering and balanced multi-corpus retrieval.</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lang="en-IN" sz="1400" dirty="0">
                          <a:latin typeface="Times New Roman" panose="02020603050405020304" pitchFamily="18" charset="0"/>
                          <a:cs typeface="Times New Roman" panose="02020603050405020304" pitchFamily="18" charset="0"/>
                        </a:rPr>
                        <a:t>Dataset: Biomedical/medical QA Metrics: Exact Match, F1 Finding: Rationale-guided retrieval improves medical QA.</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a:latin typeface="Times New Roman"/>
                        </a:rPr>
                        <a:t>Improves retrieval and QA accuracy but lacks sentence-level post-generation abstention.</a:t>
                      </a:r>
                      <a:endParaRPr lang="en-US" sz="1600" dirty="0">
                        <a:effectLst/>
                        <a:latin typeface="Times New Roman" pitchFamily="18" charset="0"/>
                        <a:ea typeface="Calibri"/>
                        <a:cs typeface="Times New Roman" pitchFamily="18" charset="0"/>
                      </a:endParaRPr>
                    </a:p>
                  </a:txBody>
                  <a:tcPr marL="67838" marR="67838" marT="0" marB="0" anchor="ctr"/>
                </a:tc>
                <a:extLst>
                  <a:ext uri="{0D108BD9-81ED-4DB2-BD59-A6C34878D82A}">
                    <a16:rowId xmlns:a16="http://schemas.microsoft.com/office/drawing/2014/main" val="10002"/>
                  </a:ext>
                </a:extLst>
              </a:tr>
              <a:tr h="841249">
                <a:tc>
                  <a:txBody>
                    <a:bodyPr/>
                    <a:lstStyle/>
                    <a:p>
                      <a:pPr marL="0" marR="0" algn="ctr">
                        <a:lnSpc>
                          <a:spcPct val="115000"/>
                        </a:lnSpc>
                        <a:spcBef>
                          <a:spcPts val="0"/>
                        </a:spcBef>
                        <a:spcAft>
                          <a:spcPts val="0"/>
                        </a:spcAft>
                      </a:pPr>
                      <a:r>
                        <a:rPr sz="1400">
                          <a:latin typeface="Times New Roman"/>
                        </a:rPr>
                        <a:t>11</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sz="1400">
                          <a:latin typeface="Times New Roman"/>
                        </a:rPr>
                        <a:t>Evaluation of a Context-Aware Chatbot Using RAG for Medication-Related Osteonecrosis of the Jaw (2025)</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a:rPr>
                        <a:t>GPT-4 RAG chatbot grounded in a 449-publication clinical knowledge base.</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lang="en-IN" sz="1400" dirty="0">
                          <a:latin typeface="Times New Roman" panose="02020603050405020304" pitchFamily="18" charset="0"/>
                          <a:cs typeface="Times New Roman" panose="02020603050405020304" pitchFamily="18" charset="0"/>
                        </a:rPr>
                        <a:t>Dataset: 449 clinical publications Metrics: Expert/factuality evaluation Finding: Domain-specific RAG improves clinical response quality.</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a:rPr>
                        <a:t>Narrow clinical topic and small evaluation set; no automated claim verifier or abstention layer.</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extLst>
                  <a:ext uri="{0D108BD9-81ED-4DB2-BD59-A6C34878D82A}">
                    <a16:rowId xmlns:a16="http://schemas.microsoft.com/office/drawing/2014/main" val="10003"/>
                  </a:ext>
                </a:extLst>
              </a:tr>
              <a:tr h="1121664">
                <a:tc>
                  <a:txBody>
                    <a:bodyPr/>
                    <a:lstStyle/>
                    <a:p>
                      <a:pPr marL="0" marR="0" algn="ctr">
                        <a:lnSpc>
                          <a:spcPct val="115000"/>
                        </a:lnSpc>
                        <a:spcBef>
                          <a:spcPts val="0"/>
                        </a:spcBef>
                        <a:spcAft>
                          <a:spcPts val="0"/>
                        </a:spcAft>
                      </a:pPr>
                      <a:r>
                        <a:rPr sz="1400">
                          <a:latin typeface="Times New Roman"/>
                        </a:rPr>
                        <a:t>12</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sz="1400">
                          <a:latin typeface="Times New Roman"/>
                        </a:rPr>
                        <a:t>Retrieval-Augmented Generation Improves Precision and Trust of GPT-4 for Emergency Radiology Diagnosis and Classification (2025)</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a:latin typeface="Times New Roman"/>
                        </a:rPr>
                        <a:t>RAG-enhanced GPT-4 evaluated for emergency radiology diagnosis and classification.</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lang="en-IN" sz="1400" dirty="0"/>
                        <a:t>Dataset: Emergency radiology cases Metrics: Diagnostic accuracy/precision Finding: RAG improves radiology diagnostic performance and trust.</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dirty="0">
                          <a:latin typeface="Times New Roman"/>
                        </a:rPr>
                        <a:t>Proof-of-concept evaluation; it does not test sentence-level hallucination detection or adaptive abstention.</a:t>
                      </a:r>
                      <a:endParaRPr lang="en-US" sz="1600" dirty="0">
                        <a:effectLst/>
                        <a:latin typeface="Times New Roman" pitchFamily="18" charset="0"/>
                        <a:ea typeface="Calibri"/>
                        <a:cs typeface="Times New Roman" pitchFamily="18" charset="0"/>
                      </a:endParaRPr>
                    </a:p>
                  </a:txBody>
                  <a:tcPr marL="67838" marR="67838" marT="0" marB="0" anchor="ct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pPr algn="r"/>
            <a:r>
              <a:rPr sz="1200">
                <a:latin typeface="Times New Roman"/>
              </a:rPr>
              <a:t>7</a:t>
            </a:r>
            <a:endParaRPr lang="en-US"/>
          </a:p>
        </p:txBody>
      </p:sp>
    </p:spTree>
    <p:extLst>
      <p:ext uri="{BB962C8B-B14F-4D97-AF65-F5344CB8AC3E}">
        <p14:creationId xmlns:p14="http://schemas.microsoft.com/office/powerpoint/2010/main" val="1338834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pPr algn="ctr"/>
            <a:r>
              <a:rPr sz="3600" b="1" dirty="0">
                <a:solidFill>
                  <a:schemeClr val="bg1"/>
                </a:solidFill>
                <a:latin typeface="Times New Roman"/>
              </a:rPr>
              <a:t>LITERATURE SURVEY (CONTD..,)</a:t>
            </a:r>
          </a:p>
        </p:txBody>
      </p:sp>
      <p:graphicFrame>
        <p:nvGraphicFramePr>
          <p:cNvPr id="5" name="Content Placeholder 5"/>
          <p:cNvGraphicFramePr>
            <a:graphicFrameLocks/>
          </p:cNvGraphicFramePr>
          <p:nvPr>
            <p:extLst>
              <p:ext uri="{D42A27DB-BD31-4B8C-83A1-F6EECF244321}">
                <p14:modId xmlns:p14="http://schemas.microsoft.com/office/powerpoint/2010/main" val="1922414954"/>
              </p:ext>
            </p:extLst>
          </p:nvPr>
        </p:nvGraphicFramePr>
        <p:xfrm>
          <a:off x="685799" y="1669892"/>
          <a:ext cx="11475720" cy="4999513"/>
        </p:xfrm>
        <a:graphic>
          <a:graphicData uri="http://schemas.openxmlformats.org/drawingml/2006/table">
            <a:tbl>
              <a:tblPr firstRow="1" firstCol="1" bandRow="1">
                <a:tableStyleId>{BC89EF96-8CEA-46FF-86C4-4CE0E7609802}</a:tableStyleId>
              </a:tblPr>
              <a:tblGrid>
                <a:gridCol w="702131">
                  <a:extLst>
                    <a:ext uri="{9D8B030D-6E8A-4147-A177-3AD203B41FA5}">
                      <a16:colId xmlns:a16="http://schemas.microsoft.com/office/drawing/2014/main" val="20000"/>
                    </a:ext>
                  </a:extLst>
                </a:gridCol>
                <a:gridCol w="2543764">
                  <a:extLst>
                    <a:ext uri="{9D8B030D-6E8A-4147-A177-3AD203B41FA5}">
                      <a16:colId xmlns:a16="http://schemas.microsoft.com/office/drawing/2014/main" val="20001"/>
                    </a:ext>
                  </a:extLst>
                </a:gridCol>
                <a:gridCol w="2917847">
                  <a:extLst>
                    <a:ext uri="{9D8B030D-6E8A-4147-A177-3AD203B41FA5}">
                      <a16:colId xmlns:a16="http://schemas.microsoft.com/office/drawing/2014/main" val="20002"/>
                    </a:ext>
                  </a:extLst>
                </a:gridCol>
                <a:gridCol w="2843030">
                  <a:extLst>
                    <a:ext uri="{9D8B030D-6E8A-4147-A177-3AD203B41FA5}">
                      <a16:colId xmlns:a16="http://schemas.microsoft.com/office/drawing/2014/main" val="1023101934"/>
                    </a:ext>
                  </a:extLst>
                </a:gridCol>
                <a:gridCol w="2468948">
                  <a:extLst>
                    <a:ext uri="{9D8B030D-6E8A-4147-A177-3AD203B41FA5}">
                      <a16:colId xmlns:a16="http://schemas.microsoft.com/office/drawing/2014/main" val="548304626"/>
                    </a:ext>
                  </a:extLst>
                </a:gridCol>
              </a:tblGrid>
              <a:tr h="396651">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Article  Title </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Techniques Used</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Key Findings</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Limitations</a:t>
                      </a:r>
                    </a:p>
                  </a:txBody>
                  <a:tcPr marL="67838" marR="67838" marT="0" marB="0"/>
                </a:tc>
                <a:extLst>
                  <a:ext uri="{0D108BD9-81ED-4DB2-BD59-A6C34878D82A}">
                    <a16:rowId xmlns:a16="http://schemas.microsoft.com/office/drawing/2014/main" val="10000"/>
                  </a:ext>
                </a:extLst>
              </a:tr>
              <a:tr h="1121664">
                <a:tc>
                  <a:txBody>
                    <a:bodyPr/>
                    <a:lstStyle/>
                    <a:p>
                      <a:pPr marL="0" marR="0" algn="ctr">
                        <a:lnSpc>
                          <a:spcPct val="115000"/>
                        </a:lnSpc>
                        <a:spcBef>
                          <a:spcPts val="0"/>
                        </a:spcBef>
                        <a:spcAft>
                          <a:spcPts val="0"/>
                        </a:spcAft>
                      </a:pPr>
                      <a:r>
                        <a:rPr sz="1400">
                          <a:latin typeface="Times New Roman" panose="02020603050405020304" pitchFamily="18" charset="0"/>
                          <a:cs typeface="Times New Roman" panose="02020603050405020304" pitchFamily="18" charset="0"/>
                        </a:rPr>
                        <a:t>13</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panose="02020603050405020304" pitchFamily="18" charset="0"/>
                          <a:cs typeface="Times New Roman" panose="02020603050405020304" pitchFamily="18" charset="0"/>
                        </a:rPr>
                        <a:t>Evaluation of a Retrieval-Augmented Generation System Using a Japanese Institutional Nuclear Medicine Manual (2025)</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panose="02020603050405020304" pitchFamily="18" charset="0"/>
                          <a:cs typeface="Times New Roman" panose="02020603050405020304" pitchFamily="18" charset="0"/>
                        </a:rPr>
                        <a:t>Hybrid dense + BM25 retrieval over 40 hospital-specific nuclear medicine manuals.</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lang="en-IN" sz="1400" dirty="0">
                          <a:latin typeface="Times New Roman" panose="02020603050405020304" pitchFamily="18" charset="0"/>
                          <a:cs typeface="Times New Roman" panose="02020603050405020304" pitchFamily="18" charset="0"/>
                        </a:rPr>
                        <a:t>Dataset: 40 institutional manuals Metrics: Answer accuracy + RAG evaluation Finding: Institutional documents improve domain-specific grounding.</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panose="02020603050405020304" pitchFamily="18" charset="0"/>
                          <a:cs typeface="Times New Roman" panose="02020603050405020304" pitchFamily="18" charset="0"/>
                        </a:rPr>
                        <a:t>Single-institution knowledge base and domain-specific setting limit generalization.</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extLst>
                  <a:ext uri="{0D108BD9-81ED-4DB2-BD59-A6C34878D82A}">
                    <a16:rowId xmlns:a16="http://schemas.microsoft.com/office/drawing/2014/main" val="10001"/>
                  </a:ext>
                </a:extLst>
              </a:tr>
              <a:tr h="841249">
                <a:tc>
                  <a:txBody>
                    <a:bodyPr/>
                    <a:lstStyle/>
                    <a:p>
                      <a:pPr marL="0" marR="0" algn="ctr">
                        <a:lnSpc>
                          <a:spcPct val="115000"/>
                        </a:lnSpc>
                        <a:spcBef>
                          <a:spcPts val="0"/>
                        </a:spcBef>
                        <a:spcAft>
                          <a:spcPts val="0"/>
                        </a:spcAft>
                      </a:pPr>
                      <a:r>
                        <a:rPr sz="1400">
                          <a:latin typeface="Times New Roman" panose="02020603050405020304" pitchFamily="18" charset="0"/>
                          <a:cs typeface="Times New Roman" panose="02020603050405020304" pitchFamily="18" charset="0"/>
                        </a:rPr>
                        <a:t>14</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a:latin typeface="Times New Roman" panose="02020603050405020304" pitchFamily="18" charset="0"/>
                          <a:cs typeface="Times New Roman" panose="02020603050405020304" pitchFamily="18" charset="0"/>
                        </a:rPr>
                        <a:t>RAGCare-QA: A Benchmark Dataset for Evaluating Retrieval-Augmented Generation Pipelines in Theoretical Medical Knowledge (2025)</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a:latin typeface="Times New Roman" panose="02020603050405020304" pitchFamily="18" charset="0"/>
                          <a:cs typeface="Times New Roman" panose="02020603050405020304" pitchFamily="18" charset="0"/>
                        </a:rPr>
                        <a:t>420 medical questions across six specialties with basic, multi-vector and graph-enhanced RAG settings.</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lang="en-IN" sz="1400" dirty="0">
                          <a:latin typeface="Times New Roman" panose="02020603050405020304" pitchFamily="18" charset="0"/>
                          <a:cs typeface="Times New Roman" panose="02020603050405020304" pitchFamily="18" charset="0"/>
                        </a:rPr>
                        <a:t>Dataset: 420 questions, 6 specialties Metrics: Accuracy + retrieval/RAG performance Finding: Supports specialty-wise evaluation of medical RAG.</a:t>
                      </a:r>
                      <a:endParaRPr lang="en-US" sz="14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dirty="0">
                          <a:latin typeface="Times New Roman" panose="02020603050405020304" pitchFamily="18" charset="0"/>
                          <a:cs typeface="Times New Roman" panose="02020603050405020304" pitchFamily="18" charset="0"/>
                        </a:rPr>
                        <a:t>Primarily an evaluation dataset; it does not itself provide claim verification or mitigation.</a:t>
                      </a:r>
                      <a:endParaRPr lang="en-US" sz="1600" dirty="0">
                        <a:effectLst/>
                        <a:latin typeface="Times New Roman" pitchFamily="18" charset="0"/>
                        <a:ea typeface="Calibri"/>
                        <a:cs typeface="Times New Roman" pitchFamily="18" charset="0"/>
                      </a:endParaRPr>
                    </a:p>
                  </a:txBody>
                  <a:tcPr marL="67838" marR="67838" marT="0" marB="0" anchor="ctr"/>
                </a:tc>
                <a:extLst>
                  <a:ext uri="{0D108BD9-81ED-4DB2-BD59-A6C34878D82A}">
                    <a16:rowId xmlns:a16="http://schemas.microsoft.com/office/drawing/2014/main" val="10002"/>
                  </a:ext>
                </a:extLst>
              </a:tr>
              <a:tr h="841249">
                <a:tc>
                  <a:txBody>
                    <a:bodyPr/>
                    <a:lstStyle/>
                    <a:p>
                      <a:pPr marL="0" marR="0" algn="ctr">
                        <a:lnSpc>
                          <a:spcPct val="115000"/>
                        </a:lnSpc>
                        <a:spcBef>
                          <a:spcPts val="0"/>
                        </a:spcBef>
                        <a:spcAft>
                          <a:spcPts val="0"/>
                        </a:spcAft>
                      </a:pPr>
                      <a:r>
                        <a:rPr sz="1400">
                          <a:latin typeface="Times New Roman" panose="02020603050405020304" pitchFamily="18" charset="0"/>
                          <a:cs typeface="Times New Roman" panose="02020603050405020304" pitchFamily="18" charset="0"/>
                        </a:rPr>
                        <a:t>15</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sz="1400" dirty="0" err="1">
                          <a:latin typeface="Times New Roman" panose="02020603050405020304" pitchFamily="18" charset="0"/>
                          <a:cs typeface="Times New Roman" panose="02020603050405020304" pitchFamily="18" charset="0"/>
                        </a:rPr>
                        <a:t>MedCoT</a:t>
                      </a:r>
                      <a:r>
                        <a:rPr sz="1400" dirty="0">
                          <a:latin typeface="Times New Roman" panose="02020603050405020304" pitchFamily="18" charset="0"/>
                          <a:cs typeface="Times New Roman" panose="02020603050405020304" pitchFamily="18" charset="0"/>
                        </a:rPr>
                        <a:t>-RAG: Causal Chain-of-Thought RAG for Medical Question Answering (2025)</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panose="02020603050405020304" pitchFamily="18" charset="0"/>
                          <a:cs typeface="Times New Roman" panose="02020603050405020304" pitchFamily="18" charset="0"/>
                        </a:rPr>
                        <a:t>Causal-aware retrieval with structured reasoning for medical workflows.</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tc>
                  <a:txBody>
                    <a:bodyPr/>
                    <a:lstStyle/>
                    <a:p>
                      <a:r>
                        <a:rPr lang="en-IN" sz="1400" b="0" dirty="0">
                          <a:latin typeface="Times New Roman" panose="02020603050405020304" pitchFamily="18" charset="0"/>
                          <a:cs typeface="Times New Roman" panose="02020603050405020304" pitchFamily="18" charset="0"/>
                        </a:rPr>
                        <a:t>Dataset</a:t>
                      </a:r>
                      <a:r>
                        <a:rPr lang="en-IN" sz="1400" b="1" dirty="0">
                          <a:latin typeface="Times New Roman" panose="02020603050405020304" pitchFamily="18" charset="0"/>
                          <a:cs typeface="Times New Roman" panose="02020603050405020304" pitchFamily="18" charset="0"/>
                        </a:rPr>
                        <a:t>:</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MedQA</a:t>
                      </a:r>
                      <a:r>
                        <a:rPr lang="en-IN" sz="1400" dirty="0">
                          <a:latin typeface="Times New Roman" panose="02020603050405020304" pitchFamily="18" charset="0"/>
                          <a:cs typeface="Times New Roman" panose="02020603050405020304" pitchFamily="18" charset="0"/>
                        </a:rPr>
                        <a:t>-US, MMLU-Med, </a:t>
                      </a:r>
                      <a:r>
                        <a:rPr lang="en-IN" sz="1400" dirty="0" err="1">
                          <a:latin typeface="Times New Roman" panose="02020603050405020304" pitchFamily="18" charset="0"/>
                          <a:cs typeface="Times New Roman" panose="02020603050405020304" pitchFamily="18" charset="0"/>
                        </a:rPr>
                        <a:t>BioASQ</a:t>
                      </a:r>
                      <a:r>
                        <a:rPr lang="en-IN" sz="1400" dirty="0">
                          <a:latin typeface="Times New Roman" panose="02020603050405020304" pitchFamily="18" charset="0"/>
                          <a:cs typeface="Times New Roman" panose="02020603050405020304" pitchFamily="18" charset="0"/>
                        </a:rPr>
                        <a:t>-Y/N   </a:t>
                      </a:r>
                      <a:r>
                        <a:rPr lang="en-IN" sz="1400" b="0" dirty="0">
                          <a:latin typeface="Times New Roman" panose="02020603050405020304" pitchFamily="18" charset="0"/>
                          <a:cs typeface="Times New Roman" panose="02020603050405020304" pitchFamily="18" charset="0"/>
                        </a:rPr>
                        <a:t>Metric</a:t>
                      </a:r>
                      <a:r>
                        <a:rPr lang="en-IN" sz="1400" b="1" dirty="0">
                          <a:latin typeface="Times New Roman" panose="02020603050405020304" pitchFamily="18" charset="0"/>
                          <a:cs typeface="Times New Roman" panose="02020603050405020304" pitchFamily="18" charset="0"/>
                        </a:rPr>
                        <a:t>:</a:t>
                      </a:r>
                      <a:r>
                        <a:rPr lang="en-IN" sz="1400" dirty="0">
                          <a:latin typeface="Times New Roman" panose="02020603050405020304" pitchFamily="18" charset="0"/>
                          <a:cs typeface="Times New Roman" panose="02020603050405020304" pitchFamily="18" charset="0"/>
                        </a:rPr>
                        <a:t> Accuracy   </a:t>
                      </a:r>
                      <a:r>
                        <a:rPr lang="en-IN" sz="1400" b="0" dirty="0">
                          <a:latin typeface="Times New Roman" panose="02020603050405020304" pitchFamily="18" charset="0"/>
                          <a:cs typeface="Times New Roman" panose="02020603050405020304" pitchFamily="18" charset="0"/>
                        </a:rPr>
                        <a:t>Finding</a:t>
                      </a:r>
                      <a:r>
                        <a:rPr lang="en-IN" sz="1400" b="1" dirty="0">
                          <a:latin typeface="Times New Roman" panose="02020603050405020304" pitchFamily="18" charset="0"/>
                          <a:cs typeface="Times New Roman" panose="02020603050405020304" pitchFamily="18" charset="0"/>
                        </a:rPr>
                        <a:t>:</a:t>
                      </a:r>
                      <a:r>
                        <a:rPr lang="en-IN" sz="1400" dirty="0">
                          <a:latin typeface="Times New Roman" panose="02020603050405020304" pitchFamily="18" charset="0"/>
                          <a:cs typeface="Times New Roman" panose="02020603050405020304" pitchFamily="18" charset="0"/>
                        </a:rPr>
                        <a:t> Causal retrieval with structured clinical reasoning improves medical QA performance.</a:t>
                      </a:r>
                    </a:p>
                  </a:txBody>
                  <a:tcPr marL="67838" marR="67838" marT="0" marB="0" anchor="ctr">
                    <a:solidFill>
                      <a:srgbClr val="C4E1F2"/>
                    </a:solidFill>
                  </a:tcPr>
                </a:tc>
                <a:tc>
                  <a:txBody>
                    <a:bodyPr/>
                    <a:lstStyle/>
                    <a:p>
                      <a:pPr marL="0" marR="0" algn="just">
                        <a:lnSpc>
                          <a:spcPct val="115000"/>
                        </a:lnSpc>
                        <a:spcBef>
                          <a:spcPts val="0"/>
                        </a:spcBef>
                        <a:spcAft>
                          <a:spcPts val="0"/>
                        </a:spcAft>
                      </a:pPr>
                      <a:r>
                        <a:rPr sz="1400">
                          <a:latin typeface="Times New Roman" panose="02020603050405020304" pitchFamily="18" charset="0"/>
                          <a:cs typeface="Times New Roman" panose="02020603050405020304" pitchFamily="18" charset="0"/>
                        </a:rPr>
                        <a:t>Preprint-level evidence and focuses on reasoning/QA rather than sentence-level abstention.</a:t>
                      </a:r>
                      <a:endParaRPr lang="en-US" sz="1600" dirty="0">
                        <a:effectLst/>
                        <a:latin typeface="Times New Roman" pitchFamily="18" charset="0"/>
                        <a:ea typeface="Calibri"/>
                        <a:cs typeface="Times New Roman" pitchFamily="18" charset="0"/>
                      </a:endParaRPr>
                    </a:p>
                  </a:txBody>
                  <a:tcPr marL="67838" marR="67838" marT="0" marB="0" anchor="ctr">
                    <a:solidFill>
                      <a:srgbClr val="C4E1F2"/>
                    </a:solidFill>
                  </a:tcPr>
                </a:tc>
                <a:extLst>
                  <a:ext uri="{0D108BD9-81ED-4DB2-BD59-A6C34878D82A}">
                    <a16:rowId xmlns:a16="http://schemas.microsoft.com/office/drawing/2014/main" val="10003"/>
                  </a:ext>
                </a:extLst>
              </a:tr>
              <a:tr h="1121664">
                <a:tc>
                  <a:txBody>
                    <a:bodyPr/>
                    <a:lstStyle/>
                    <a:p>
                      <a:pPr marL="0" marR="0" algn="ctr">
                        <a:lnSpc>
                          <a:spcPct val="115000"/>
                        </a:lnSpc>
                        <a:spcBef>
                          <a:spcPts val="0"/>
                        </a:spcBef>
                        <a:spcAft>
                          <a:spcPts val="0"/>
                        </a:spcAft>
                      </a:pPr>
                      <a:r>
                        <a:rPr sz="1400">
                          <a:latin typeface="Times New Roman" panose="02020603050405020304" pitchFamily="18" charset="0"/>
                          <a:cs typeface="Times New Roman" panose="02020603050405020304" pitchFamily="18" charset="0"/>
                        </a:rPr>
                        <a:t>16</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sz="1400">
                          <a:latin typeface="Times New Roman" panose="02020603050405020304" pitchFamily="18" charset="0"/>
                          <a:cs typeface="Times New Roman" panose="02020603050405020304" pitchFamily="18" charset="0"/>
                        </a:rPr>
                        <a:t>RAG in Clinical Practice: A Cautionary Tale of AI 'Truthfulness' (2026)</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a:latin typeface="Times New Roman" panose="02020603050405020304" pitchFamily="18" charset="0"/>
                          <a:cs typeface="Times New Roman" panose="02020603050405020304" pitchFamily="18" charset="0"/>
                        </a:rPr>
                        <a:t>Repeated-query testing of a clinical RAG system under increasing dialogue history.</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lang="en-IN" sz="1400" dirty="0">
                          <a:latin typeface="Times New Roman" panose="02020603050405020304" pitchFamily="18" charset="0"/>
                          <a:cs typeface="Times New Roman" panose="02020603050405020304" pitchFamily="18" charset="0"/>
                        </a:rPr>
                        <a:t>Dataset: Clinical RAG conversations Metrics: Hallucination/error rate Finding: Hallucinations increase with conversation history.</a:t>
                      </a:r>
                      <a:endParaRPr lang="en-US" sz="1600" dirty="0">
                        <a:effectLst/>
                        <a:latin typeface="Times New Roman" pitchFamily="18" charset="0"/>
                        <a:ea typeface="Calibri"/>
                        <a:cs typeface="Times New Roman" pitchFamily="18" charset="0"/>
                      </a:endParaRPr>
                    </a:p>
                  </a:txBody>
                  <a:tcPr marL="67838" marR="67838" marT="0" marB="0" anchor="ctr"/>
                </a:tc>
                <a:tc>
                  <a:txBody>
                    <a:bodyPr/>
                    <a:lstStyle/>
                    <a:p>
                      <a:pPr marL="0" marR="0" algn="just">
                        <a:lnSpc>
                          <a:spcPct val="115000"/>
                        </a:lnSpc>
                        <a:spcBef>
                          <a:spcPts val="0"/>
                        </a:spcBef>
                        <a:spcAft>
                          <a:spcPts val="0"/>
                        </a:spcAft>
                      </a:pPr>
                      <a:r>
                        <a:rPr sz="1400" dirty="0">
                          <a:latin typeface="Times New Roman" panose="02020603050405020304" pitchFamily="18" charset="0"/>
                          <a:cs typeface="Times New Roman" panose="02020603050405020304" pitchFamily="18" charset="0"/>
                        </a:rPr>
                        <a:t>Demonstrates the safety problem but does not provide a claim-level mitigation or tiered abstention framework.</a:t>
                      </a:r>
                      <a:endParaRPr lang="en-US" sz="1600" dirty="0">
                        <a:effectLst/>
                        <a:latin typeface="Times New Roman" pitchFamily="18" charset="0"/>
                        <a:ea typeface="Calibri"/>
                        <a:cs typeface="Times New Roman" pitchFamily="18" charset="0"/>
                      </a:endParaRPr>
                    </a:p>
                  </a:txBody>
                  <a:tcPr marL="67838" marR="67838" marT="0" marB="0" anchor="ct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pPr algn="r"/>
            <a:r>
              <a:rPr sz="1200">
                <a:latin typeface="Times New Roman"/>
              </a:rPr>
              <a:t>8</a:t>
            </a:r>
            <a:endParaRPr lang="en-US"/>
          </a:p>
        </p:txBody>
      </p:sp>
    </p:spTree>
    <p:extLst>
      <p:ext uri="{BB962C8B-B14F-4D97-AF65-F5344CB8AC3E}">
        <p14:creationId xmlns:p14="http://schemas.microsoft.com/office/powerpoint/2010/main" val="1335850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57150"/>
            <a:ext cx="12801599" cy="1104138"/>
          </a:xfrm>
          <a:prstGeom prst="rect">
            <a:avLst/>
          </a:prstGeom>
          <a:solidFill>
            <a:srgbClr val="538B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15"/>
          </a:p>
        </p:txBody>
      </p:sp>
      <p:sp>
        <p:nvSpPr>
          <p:cNvPr id="3" name="TextBox 2"/>
          <p:cNvSpPr txBox="1"/>
          <p:nvPr/>
        </p:nvSpPr>
        <p:spPr>
          <a:xfrm>
            <a:off x="2817060" y="229972"/>
            <a:ext cx="7135480" cy="646331"/>
          </a:xfrm>
          <a:prstGeom prst="rect">
            <a:avLst/>
          </a:prstGeom>
          <a:noFill/>
        </p:spPr>
        <p:txBody>
          <a:bodyPr wrap="none">
            <a:spAutoFit/>
          </a:bodyPr>
          <a:lstStyle/>
          <a:p>
            <a:pPr algn="ctr"/>
            <a:r>
              <a:rPr lang="en-IN" sz="3600" b="1" dirty="0">
                <a:solidFill>
                  <a:srgbClr val="FFFFFF"/>
                </a:solidFill>
                <a:latin typeface="Times New Roman"/>
              </a:rPr>
              <a:t>4. </a:t>
            </a:r>
            <a:r>
              <a:rPr sz="3600" b="1" dirty="0">
                <a:solidFill>
                  <a:srgbClr val="FFFFFF"/>
                </a:solidFill>
                <a:latin typeface="Times New Roman"/>
              </a:rPr>
              <a:t>RESEARCH GAP IDENTIFIED</a:t>
            </a:r>
          </a:p>
        </p:txBody>
      </p:sp>
      <p:sp>
        <p:nvSpPr>
          <p:cNvPr id="4" name="Rounded Rectangle 3"/>
          <p:cNvSpPr/>
          <p:nvPr/>
        </p:nvSpPr>
        <p:spPr>
          <a:xfrm>
            <a:off x="720090" y="1449324"/>
            <a:ext cx="11377422" cy="787298"/>
          </a:xfrm>
          <a:prstGeom prst="roundRect">
            <a:avLst/>
          </a:prstGeom>
          <a:solidFill>
            <a:srgbClr val="CFE5F2"/>
          </a:solidFill>
          <a:ln>
            <a:solidFill>
              <a:srgbClr val="4B7EB7"/>
            </a:solidFill>
          </a:ln>
        </p:spPr>
        <p:style>
          <a:lnRef idx="1">
            <a:schemeClr val="accent1"/>
          </a:lnRef>
          <a:fillRef idx="3">
            <a:schemeClr val="accent1"/>
          </a:fillRef>
          <a:effectRef idx="2">
            <a:schemeClr val="accent1"/>
          </a:effectRef>
          <a:fontRef idx="minor">
            <a:schemeClr val="lt1"/>
          </a:fontRef>
        </p:style>
        <p:txBody>
          <a:bodyPr wrap="square" lIns="144018" rIns="144018" rtlCol="0" anchor="ctr"/>
          <a:lstStyle/>
          <a:p>
            <a:pPr algn="ctr"/>
            <a:r>
              <a:rPr sz="1785" b="1">
                <a:solidFill>
                  <a:srgbClr val="1E1E1E"/>
                </a:solidFill>
                <a:latin typeface="Times New Roman"/>
              </a:rPr>
              <a:t>Retrieval-focused methods: </a:t>
            </a:r>
            <a:r>
              <a:rPr sz="1785">
                <a:solidFill>
                  <a:srgbClr val="1E1E1E"/>
                </a:solidFill>
                <a:latin typeface="Times New Roman"/>
              </a:rPr>
              <a:t>Improve evidence quality and coverage, but retrieved evidence can still be ignored or misused by the generator.</a:t>
            </a:r>
          </a:p>
        </p:txBody>
      </p:sp>
      <p:sp>
        <p:nvSpPr>
          <p:cNvPr id="5" name="Rounded Rectangle 4"/>
          <p:cNvSpPr/>
          <p:nvPr/>
        </p:nvSpPr>
        <p:spPr>
          <a:xfrm>
            <a:off x="720090" y="2390241"/>
            <a:ext cx="11377422" cy="787298"/>
          </a:xfrm>
          <a:prstGeom prst="roundRect">
            <a:avLst/>
          </a:prstGeom>
          <a:solidFill>
            <a:srgbClr val="FFFFFF"/>
          </a:solidFill>
          <a:ln>
            <a:solidFill>
              <a:srgbClr val="4B7EB7"/>
            </a:solidFill>
          </a:ln>
        </p:spPr>
        <p:style>
          <a:lnRef idx="1">
            <a:schemeClr val="accent1"/>
          </a:lnRef>
          <a:fillRef idx="3">
            <a:schemeClr val="accent1"/>
          </a:fillRef>
          <a:effectRef idx="2">
            <a:schemeClr val="accent1"/>
          </a:effectRef>
          <a:fontRef idx="minor">
            <a:schemeClr val="lt1"/>
          </a:fontRef>
        </p:style>
        <p:txBody>
          <a:bodyPr wrap="square" lIns="144018" rIns="144018" rtlCol="0" anchor="ctr"/>
          <a:lstStyle/>
          <a:p>
            <a:pPr algn="ctr"/>
            <a:r>
              <a:rPr sz="1785" b="1">
                <a:solidFill>
                  <a:srgbClr val="1E1E1E"/>
                </a:solidFill>
                <a:latin typeface="Times New Roman"/>
              </a:rPr>
              <a:t>Iterative / reflective RAG: </a:t>
            </a:r>
            <a:r>
              <a:rPr sz="1785">
                <a:solidFill>
                  <a:srgbClr val="1E1E1E"/>
                </a:solidFill>
                <a:latin typeface="Times New Roman"/>
              </a:rPr>
              <a:t>Can re-query or refine answers, but often depends on model self-judgment and increases inference cost.</a:t>
            </a:r>
          </a:p>
        </p:txBody>
      </p:sp>
      <p:sp>
        <p:nvSpPr>
          <p:cNvPr id="6" name="Rounded Rectangle 5"/>
          <p:cNvSpPr/>
          <p:nvPr/>
        </p:nvSpPr>
        <p:spPr>
          <a:xfrm>
            <a:off x="720090" y="3331158"/>
            <a:ext cx="11377422" cy="787298"/>
          </a:xfrm>
          <a:prstGeom prst="roundRect">
            <a:avLst/>
          </a:prstGeom>
          <a:solidFill>
            <a:srgbClr val="CFE5F2"/>
          </a:solidFill>
          <a:ln>
            <a:solidFill>
              <a:srgbClr val="4B7EB7"/>
            </a:solidFill>
          </a:ln>
        </p:spPr>
        <p:style>
          <a:lnRef idx="1">
            <a:schemeClr val="accent1"/>
          </a:lnRef>
          <a:fillRef idx="3">
            <a:schemeClr val="accent1"/>
          </a:fillRef>
          <a:effectRef idx="2">
            <a:schemeClr val="accent1"/>
          </a:effectRef>
          <a:fontRef idx="minor">
            <a:schemeClr val="lt1"/>
          </a:fontRef>
        </p:style>
        <p:txBody>
          <a:bodyPr wrap="square" lIns="144018" rIns="144018" rtlCol="0" anchor="ctr"/>
          <a:lstStyle/>
          <a:p>
            <a:pPr algn="ctr"/>
            <a:r>
              <a:rPr sz="1785" b="1">
                <a:solidFill>
                  <a:srgbClr val="1E1E1E"/>
                </a:solidFill>
                <a:latin typeface="Times New Roman"/>
              </a:rPr>
              <a:t>Verification methods: </a:t>
            </a:r>
            <a:r>
              <a:rPr sz="1785">
                <a:solidFill>
                  <a:srgbClr val="1E1E1E"/>
                </a:solidFill>
                <a:latin typeface="Times New Roman"/>
              </a:rPr>
              <a:t>Recent work such as CRITIC-RAG and MedRAGChecker verifies evidence or claims, but mainly focuses on diagnostics/groundedness rather than user-facing action.</a:t>
            </a:r>
          </a:p>
        </p:txBody>
      </p:sp>
      <p:sp>
        <p:nvSpPr>
          <p:cNvPr id="7" name="Rounded Rectangle 6"/>
          <p:cNvSpPr/>
          <p:nvPr/>
        </p:nvSpPr>
        <p:spPr>
          <a:xfrm>
            <a:off x="720090" y="4272076"/>
            <a:ext cx="11377422" cy="787298"/>
          </a:xfrm>
          <a:prstGeom prst="roundRect">
            <a:avLst/>
          </a:prstGeom>
          <a:solidFill>
            <a:srgbClr val="FFFFFF"/>
          </a:solidFill>
          <a:ln>
            <a:solidFill>
              <a:srgbClr val="4B7EB7"/>
            </a:solidFill>
          </a:ln>
        </p:spPr>
        <p:style>
          <a:lnRef idx="1">
            <a:schemeClr val="accent1"/>
          </a:lnRef>
          <a:fillRef idx="3">
            <a:schemeClr val="accent1"/>
          </a:fillRef>
          <a:effectRef idx="2">
            <a:schemeClr val="accent1"/>
          </a:effectRef>
          <a:fontRef idx="minor">
            <a:schemeClr val="lt1"/>
          </a:fontRef>
        </p:style>
        <p:txBody>
          <a:bodyPr wrap="square" lIns="144018" rIns="144018" rtlCol="0" anchor="ctr"/>
          <a:lstStyle/>
          <a:p>
            <a:pPr algn="ctr"/>
            <a:r>
              <a:rPr sz="1785" b="1">
                <a:solidFill>
                  <a:srgbClr val="1E1E1E"/>
                </a:solidFill>
                <a:latin typeface="Times New Roman"/>
              </a:rPr>
              <a:t>Medical evaluation: </a:t>
            </a:r>
            <a:r>
              <a:rPr sz="1785">
                <a:solidFill>
                  <a:srgbClr val="1E1E1E"/>
                </a:solidFill>
                <a:latin typeface="Times New Roman"/>
              </a:rPr>
              <a:t>Many studies measure QA accuracy, relevance or expert ratings rather than sentence-level hallucination precision, recall and false-abstention behaviour.</a:t>
            </a:r>
          </a:p>
        </p:txBody>
      </p:sp>
      <p:sp>
        <p:nvSpPr>
          <p:cNvPr id="8" name="Rounded Rectangle 7"/>
          <p:cNvSpPr/>
          <p:nvPr/>
        </p:nvSpPr>
        <p:spPr>
          <a:xfrm>
            <a:off x="720090" y="5212994"/>
            <a:ext cx="11377422" cy="787298"/>
          </a:xfrm>
          <a:prstGeom prst="roundRect">
            <a:avLst/>
          </a:prstGeom>
          <a:solidFill>
            <a:srgbClr val="CFE5F2"/>
          </a:solidFill>
          <a:ln>
            <a:solidFill>
              <a:srgbClr val="4B7EB7"/>
            </a:solidFill>
          </a:ln>
        </p:spPr>
        <p:style>
          <a:lnRef idx="1">
            <a:schemeClr val="accent1"/>
          </a:lnRef>
          <a:fillRef idx="3">
            <a:schemeClr val="accent1"/>
          </a:fillRef>
          <a:effectRef idx="2">
            <a:schemeClr val="accent1"/>
          </a:effectRef>
          <a:fontRef idx="minor">
            <a:schemeClr val="lt1"/>
          </a:fontRef>
        </p:style>
        <p:txBody>
          <a:bodyPr wrap="square" lIns="144018" rIns="144018" rtlCol="0" anchor="ctr"/>
          <a:lstStyle/>
          <a:p>
            <a:pPr algn="ctr"/>
            <a:r>
              <a:rPr sz="1785" b="1">
                <a:solidFill>
                  <a:srgbClr val="1E1E1E"/>
                </a:solidFill>
                <a:latin typeface="Times New Roman"/>
              </a:rPr>
              <a:t>Proposed gap: </a:t>
            </a:r>
            <a:r>
              <a:rPr sz="1785">
                <a:solidFill>
                  <a:srgbClr val="1E1E1E"/>
                </a:solidFill>
                <a:latin typeface="Times New Roman"/>
              </a:rPr>
              <a:t>A unified medical RAG layer that verifies each claim and then adaptively DISPLAYs, SUPPRESSes, RE-RETRIEVEs or FLAGs unsupported content.</a:t>
            </a:r>
          </a:p>
        </p:txBody>
      </p:sp>
      <p:sp>
        <p:nvSpPr>
          <p:cNvPr id="9" name="TextBox 8"/>
          <p:cNvSpPr txBox="1"/>
          <p:nvPr/>
        </p:nvSpPr>
        <p:spPr>
          <a:xfrm>
            <a:off x="12133556" y="6825996"/>
            <a:ext cx="251992" cy="253916"/>
          </a:xfrm>
          <a:prstGeom prst="rect">
            <a:avLst/>
          </a:prstGeom>
          <a:noFill/>
        </p:spPr>
        <p:txBody>
          <a:bodyPr wrap="none">
            <a:spAutoFit/>
          </a:bodyPr>
          <a:lstStyle/>
          <a:p>
            <a:pPr algn="r"/>
            <a:r>
              <a:rPr sz="1050">
                <a:solidFill>
                  <a:srgbClr val="5F5F5F"/>
                </a:solidFill>
                <a:latin typeface="Times New Roman"/>
              </a:rPr>
              <a:t>6</a:t>
            </a:r>
          </a:p>
        </p:txBody>
      </p:sp>
    </p:spTree>
    <p:extLst>
      <p:ext uri="{BB962C8B-B14F-4D97-AF65-F5344CB8AC3E}">
        <p14:creationId xmlns:p14="http://schemas.microsoft.com/office/powerpoint/2010/main" val="1334975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266A5-DEC6-423E-4642-6DAA46905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C9D02-AB68-99CB-182A-0A2671D6BD83}"/>
              </a:ext>
            </a:extLst>
          </p:cNvPr>
          <p:cNvSpPr>
            <a:spLocks noGrp="1"/>
          </p:cNvSpPr>
          <p:nvPr>
            <p:ph type="title"/>
          </p:nvPr>
        </p:nvSpPr>
        <p:spPr>
          <a:solidFill>
            <a:schemeClr val="tx2">
              <a:lumMod val="60000"/>
              <a:lumOff val="40000"/>
            </a:schemeClr>
          </a:solidFill>
        </p:spPr>
        <p:txBody>
          <a:bodyPr vert="horz" lIns="114945" tIns="57473" rIns="114945" bIns="57473" rtlCol="0" anchor="ctr">
            <a:normAutofit/>
          </a:bodyPr>
          <a:lstStyle/>
          <a:p>
            <a:r>
              <a:rPr lang="en-GB" sz="3700" b="1" dirty="0">
                <a:solidFill>
                  <a:schemeClr val="bg1"/>
                </a:solidFill>
                <a:latin typeface="Times New Roman" pitchFamily="18" charset="0"/>
                <a:cs typeface="Times New Roman" pitchFamily="18" charset="0"/>
              </a:rPr>
              <a:t>5. OBJECTIVES</a:t>
            </a:r>
          </a:p>
        </p:txBody>
      </p:sp>
      <p:sp>
        <p:nvSpPr>
          <p:cNvPr id="3" name="Content Placeholder 2">
            <a:extLst>
              <a:ext uri="{FF2B5EF4-FFF2-40B4-BE49-F238E27FC236}">
                <a16:creationId xmlns:a16="http://schemas.microsoft.com/office/drawing/2014/main" id="{38721EDC-E52C-4E9A-7723-F6054D9C4194}"/>
              </a:ext>
            </a:extLst>
          </p:cNvPr>
          <p:cNvSpPr>
            <a:spLocks noGrp="1"/>
          </p:cNvSpPr>
          <p:nvPr>
            <p:ph idx="1"/>
          </p:nvPr>
        </p:nvSpPr>
        <p:spPr/>
        <p:txBody>
          <a:bodyPr>
            <a:normAutofit/>
          </a:bodyPr>
          <a:lstStyle/>
          <a:p>
            <a:r>
              <a:rPr lang="en-IN" sz="2200" dirty="0">
                <a:latin typeface="Times New Roman" panose="02020603050405020304" pitchFamily="18" charset="0"/>
                <a:cs typeface="Times New Roman" panose="02020603050405020304" pitchFamily="18" charset="0"/>
              </a:rPr>
              <a:t>Develop a domain-specific RAG system.</a:t>
            </a:r>
          </a:p>
          <a:p>
            <a:pPr lvl="0"/>
            <a:r>
              <a:rPr lang="en-IN" sz="2200" dirty="0">
                <a:latin typeface="Times New Roman" panose="02020603050405020304" pitchFamily="18" charset="0"/>
                <a:cs typeface="Times New Roman" panose="02020603050405020304" pitchFamily="18" charset="0"/>
              </a:rPr>
              <a:t>Detect hallucinations at the </a:t>
            </a:r>
            <a:r>
              <a:rPr lang="en-IN" sz="2200" b="1" dirty="0">
                <a:latin typeface="Times New Roman" panose="02020603050405020304" pitchFamily="18" charset="0"/>
                <a:cs typeface="Times New Roman" panose="02020603050405020304" pitchFamily="18" charset="0"/>
              </a:rPr>
              <a:t>sentence level</a:t>
            </a:r>
            <a:r>
              <a:rPr lang="en-IN" sz="2200" dirty="0">
                <a:latin typeface="Times New Roman" panose="02020603050405020304" pitchFamily="18" charset="0"/>
                <a:cs typeface="Times New Roman" panose="02020603050405020304" pitchFamily="18" charset="0"/>
              </a:rPr>
              <a:t> using a NLI model.</a:t>
            </a:r>
          </a:p>
          <a:p>
            <a:pPr lvl="0"/>
            <a:r>
              <a:rPr lang="en-IN" sz="2200" dirty="0">
                <a:latin typeface="Times New Roman" panose="02020603050405020304" pitchFamily="18" charset="0"/>
                <a:cs typeface="Times New Roman" panose="02020603050405020304" pitchFamily="18" charset="0"/>
              </a:rPr>
              <a:t>Verify generated responses against retrieved source documents.</a:t>
            </a:r>
          </a:p>
          <a:p>
            <a:pPr lvl="0"/>
            <a:r>
              <a:rPr lang="en-IN" sz="2200" dirty="0">
                <a:latin typeface="Times New Roman" panose="02020603050405020304" pitchFamily="18" charset="0"/>
                <a:cs typeface="Times New Roman" panose="02020603050405020304" pitchFamily="18" charset="0"/>
              </a:rPr>
              <a:t>Implement a </a:t>
            </a:r>
            <a:r>
              <a:rPr lang="en-IN" sz="2200" b="1" dirty="0">
                <a:latin typeface="Times New Roman" panose="02020603050405020304" pitchFamily="18" charset="0"/>
                <a:cs typeface="Times New Roman" panose="02020603050405020304" pitchFamily="18" charset="0"/>
              </a:rPr>
              <a:t>tiered abstention framework</a:t>
            </a:r>
            <a:r>
              <a:rPr lang="en-IN" sz="2200" dirty="0">
                <a:latin typeface="Times New Roman" panose="02020603050405020304" pitchFamily="18" charset="0"/>
                <a:cs typeface="Times New Roman" panose="02020603050405020304" pitchFamily="18" charset="0"/>
              </a:rPr>
              <a:t> to suppress, re-retrieve, or flag unsupported claims.</a:t>
            </a:r>
          </a:p>
          <a:p>
            <a:pPr lvl="0"/>
            <a:r>
              <a:rPr lang="en-IN" sz="2200" dirty="0">
                <a:latin typeface="Times New Roman" panose="02020603050405020304" pitchFamily="18" charset="0"/>
                <a:cs typeface="Times New Roman" panose="02020603050405020304" pitchFamily="18" charset="0"/>
              </a:rPr>
              <a:t>Reduce hallucinations while maintaining answer quality and coverage.</a:t>
            </a:r>
          </a:p>
          <a:p>
            <a:pPr lvl="0"/>
            <a:r>
              <a:rPr lang="en-IN" sz="2200" dirty="0">
                <a:latin typeface="Times New Roman" panose="02020603050405020304" pitchFamily="18" charset="0"/>
                <a:cs typeface="Times New Roman" panose="02020603050405020304" pitchFamily="18" charset="0"/>
              </a:rPr>
              <a:t>Evaluate the framework using </a:t>
            </a:r>
            <a:r>
              <a:rPr lang="en-US" sz="2200" b="1" dirty="0">
                <a:latin typeface="Times New Roman" panose="02020603050405020304" pitchFamily="18" charset="0"/>
                <a:cs typeface="Times New Roman" panose="02020603050405020304" pitchFamily="18" charset="0"/>
              </a:rPr>
              <a:t>MIRAGE, </a:t>
            </a:r>
            <a:r>
              <a:rPr lang="en-US" sz="2200" b="1" dirty="0" err="1">
                <a:latin typeface="Times New Roman" panose="02020603050405020304" pitchFamily="18" charset="0"/>
                <a:cs typeface="Times New Roman" panose="02020603050405020304" pitchFamily="18" charset="0"/>
              </a:rPr>
              <a:t>RAGCare</a:t>
            </a:r>
            <a:r>
              <a:rPr lang="en-US" sz="2200" b="1" dirty="0">
                <a:latin typeface="Times New Roman" panose="02020603050405020304" pitchFamily="18" charset="0"/>
                <a:cs typeface="Times New Roman" panose="02020603050405020304" pitchFamily="18" charset="0"/>
              </a:rPr>
              <a:t>-QA</a:t>
            </a:r>
            <a:r>
              <a:rPr lang="en-US" sz="2200" dirty="0">
                <a:latin typeface="Times New Roman" panose="02020603050405020304" pitchFamily="18" charset="0"/>
                <a:cs typeface="Times New Roman" panose="02020603050405020304" pitchFamily="18" charset="0"/>
              </a:rPr>
              <a:t>, and </a:t>
            </a:r>
            <a:r>
              <a:rPr lang="en-US" sz="2200" b="1" dirty="0" err="1">
                <a:latin typeface="Times New Roman" panose="02020603050405020304" pitchFamily="18" charset="0"/>
                <a:cs typeface="Times New Roman" panose="02020603050405020304" pitchFamily="18" charset="0"/>
              </a:rPr>
              <a:t>RAGTruth</a:t>
            </a:r>
            <a:r>
              <a:rPr lang="en-US" sz="2200"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with metrics such as hallucination rate, precision, recall, and false abstention rate.</a:t>
            </a:r>
          </a:p>
          <a:p>
            <a:endParaRPr lang="en-IN" sz="2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EDA4E0E-51B9-057E-EB16-03F0967919ED}"/>
              </a:ext>
            </a:extLst>
          </p:cNvPr>
          <p:cNvSpPr>
            <a:spLocks noGrp="1"/>
          </p:cNvSpPr>
          <p:nvPr>
            <p:ph type="sldNum" sz="quarter" idx="12"/>
          </p:nvPr>
        </p:nvSpPr>
        <p:spPr/>
        <p:txBody>
          <a:bodyPr/>
          <a:lstStyle/>
          <a:p>
            <a:fld id="{C02A2637-A5A3-49FA-B214-6E67543099EF}" type="slidenum">
              <a:rPr lang="en-US" smtClean="0"/>
              <a:t>10</a:t>
            </a:fld>
            <a:endParaRPr lang="en-US"/>
          </a:p>
        </p:txBody>
      </p:sp>
    </p:spTree>
    <p:extLst>
      <p:ext uri="{BB962C8B-B14F-4D97-AF65-F5344CB8AC3E}">
        <p14:creationId xmlns:p14="http://schemas.microsoft.com/office/powerpoint/2010/main" val="786986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6. MODULE IDENTIFICATION</a:t>
            </a:r>
          </a:p>
        </p:txBody>
      </p:sp>
      <p:sp>
        <p:nvSpPr>
          <p:cNvPr id="3" name="Content Placeholder 2"/>
          <p:cNvSpPr>
            <a:spLocks noGrp="1"/>
          </p:cNvSpPr>
          <p:nvPr>
            <p:ph idx="1"/>
          </p:nvPr>
        </p:nvSpPr>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MODULE IDENTIFICATION</a:t>
            </a:r>
            <a:endParaRPr lang="en-US" sz="2000" b="1"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 Medical Document Retrieval Module</a:t>
            </a:r>
          </a:p>
          <a:p>
            <a:pPr marL="0" indent="0">
              <a:buNone/>
            </a:pPr>
            <a:r>
              <a:rPr lang="en-US" sz="2200" dirty="0">
                <a:latin typeface="Times New Roman" panose="02020603050405020304" pitchFamily="18" charset="0"/>
                <a:cs typeface="Times New Roman" panose="02020603050405020304" pitchFamily="18" charset="0"/>
              </a:rPr>
              <a:t>  Retrieves relevant clinical documents from trusted medical sources.</a:t>
            </a:r>
          </a:p>
          <a:p>
            <a:pPr marL="0" indent="0">
              <a:buNone/>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Response Generation Module</a:t>
            </a:r>
          </a:p>
          <a:p>
            <a:pPr marL="0" indent="0">
              <a:buNone/>
            </a:pPr>
            <a:r>
              <a:rPr lang="en-US" sz="2200" dirty="0">
                <a:latin typeface="Times New Roman" panose="02020603050405020304" pitchFamily="18" charset="0"/>
                <a:cs typeface="Times New Roman" panose="02020603050405020304" pitchFamily="18" charset="0"/>
              </a:rPr>
              <a:t>  Generates evidence-grounded responses using the retrieved medical context.</a:t>
            </a:r>
          </a:p>
          <a:p>
            <a:pPr marL="0" indent="0">
              <a:buNone/>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Sentence-Level Verification Module</a:t>
            </a:r>
          </a:p>
          <a:p>
            <a:pPr marL="0" indent="0">
              <a:buNone/>
            </a:pPr>
            <a:r>
              <a:rPr lang="en-US" sz="2200" dirty="0">
                <a:latin typeface="Times New Roman" panose="02020603050405020304" pitchFamily="18" charset="0"/>
                <a:cs typeface="Times New Roman" panose="02020603050405020304" pitchFamily="18" charset="0"/>
              </a:rPr>
              <a:t>  Splits the generated response into individual claims and verifies them using an NLI model.</a:t>
            </a:r>
          </a:p>
          <a:p>
            <a:pPr marL="0" indent="0">
              <a:buNone/>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Tiered Abstention Module</a:t>
            </a:r>
          </a:p>
          <a:p>
            <a:pPr marL="0" indent="0">
              <a:buNone/>
            </a:pPr>
            <a:r>
              <a:rPr lang="en-US" sz="2200" dirty="0">
                <a:latin typeface="Times New Roman" panose="02020603050405020304" pitchFamily="18" charset="0"/>
                <a:cs typeface="Times New Roman" panose="02020603050405020304" pitchFamily="18" charset="0"/>
              </a:rPr>
              <a:t>  Decides whether each claim should be Displayed, Suppressed, Re-retrieved, or Flagged.</a:t>
            </a:r>
          </a:p>
          <a:p>
            <a:pPr marL="0" indent="0">
              <a:buNone/>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Evaluation Module</a:t>
            </a:r>
          </a:p>
          <a:p>
            <a:pPr marL="0" indent="0">
              <a:buNone/>
            </a:pPr>
            <a:r>
              <a:rPr lang="en-US" sz="2200" dirty="0">
                <a:latin typeface="Times New Roman" panose="02020603050405020304" pitchFamily="18" charset="0"/>
                <a:cs typeface="Times New Roman" panose="02020603050405020304" pitchFamily="18" charset="0"/>
              </a:rPr>
              <a:t>  Measures hallucination reduction, verification performance, false abstention, and answer coverage using medical RAG benchmarks</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02A2637-A5A3-49FA-B214-6E67543099EF}" type="slidenum">
              <a:rPr lang="en-US" smtClean="0"/>
              <a:t>11</a:t>
            </a:fld>
            <a:endParaRPr lang="en-US"/>
          </a:p>
        </p:txBody>
      </p:sp>
    </p:spTree>
    <p:extLst>
      <p:ext uri="{BB962C8B-B14F-4D97-AF65-F5344CB8AC3E}">
        <p14:creationId xmlns:p14="http://schemas.microsoft.com/office/powerpoint/2010/main" val="1944416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3604" y="33146"/>
            <a:ext cx="12798400" cy="1670609"/>
          </a:xfrm>
          <a:prstGeom prst="rect">
            <a:avLst/>
          </a:prstGeom>
          <a:solidFill>
            <a:schemeClr val="tx2">
              <a:lumMod val="60000"/>
              <a:lumOff val="40000"/>
            </a:schemeClr>
          </a:solidFill>
          <a:ln/>
        </p:spPr>
      </p:sp>
      <p:sp>
        <p:nvSpPr>
          <p:cNvPr id="3" name="Text 1"/>
          <p:cNvSpPr/>
          <p:nvPr/>
        </p:nvSpPr>
        <p:spPr>
          <a:xfrm>
            <a:off x="0" y="-134874"/>
            <a:ext cx="12798400" cy="1670609"/>
          </a:xfrm>
          <a:prstGeom prst="rect">
            <a:avLst/>
          </a:prstGeom>
          <a:noFill/>
          <a:ln/>
        </p:spPr>
        <p:txBody>
          <a:bodyPr wrap="square" rtlCol="0" anchor="ctr"/>
          <a:lstStyle/>
          <a:p>
            <a:pPr algn="ctr"/>
            <a:r>
              <a:rPr lang="en-US" sz="3700" b="1" dirty="0">
                <a:solidFill>
                  <a:srgbClr val="FFFFFF"/>
                </a:solidFill>
                <a:latin typeface="Times New Roman" pitchFamily="34" charset="0"/>
                <a:ea typeface="Times New Roman" pitchFamily="34" charset="-122"/>
                <a:cs typeface="Times New Roman" pitchFamily="34" charset="-120"/>
              </a:rPr>
              <a:t>7. SYSTEM ARCHITECTURE</a:t>
            </a:r>
            <a:endParaRPr lang="en-US" sz="3700" dirty="0"/>
          </a:p>
        </p:txBody>
      </p:sp>
      <p:sp>
        <p:nvSpPr>
          <p:cNvPr id="4" name="Shape 2"/>
          <p:cNvSpPr/>
          <p:nvPr/>
        </p:nvSpPr>
        <p:spPr>
          <a:xfrm>
            <a:off x="288036" y="4113657"/>
            <a:ext cx="1104138" cy="528066"/>
          </a:xfrm>
          <a:prstGeom prst="roundRect">
            <a:avLst>
              <a:gd name="adj" fmla="val 14545"/>
            </a:avLst>
          </a:prstGeom>
          <a:solidFill>
            <a:srgbClr val="F1EFE8"/>
          </a:solidFill>
          <a:ln w="12700">
            <a:solidFill>
              <a:srgbClr val="888780"/>
            </a:solidFill>
            <a:prstDash val="solid"/>
          </a:ln>
        </p:spPr>
      </p:sp>
      <p:sp>
        <p:nvSpPr>
          <p:cNvPr id="5" name="Text 3"/>
          <p:cNvSpPr/>
          <p:nvPr/>
        </p:nvSpPr>
        <p:spPr>
          <a:xfrm>
            <a:off x="288036" y="4113657"/>
            <a:ext cx="1104138" cy="528066"/>
          </a:xfrm>
          <a:prstGeom prst="rect">
            <a:avLst/>
          </a:prstGeom>
          <a:noFill/>
          <a:ln/>
        </p:spPr>
        <p:txBody>
          <a:bodyPr wrap="square" lIns="26670" tIns="26670" rIns="26670" bIns="26670" rtlCol="0" anchor="ctr"/>
          <a:lstStyle/>
          <a:p>
            <a:pPr algn="ctr"/>
            <a:r>
              <a:rPr lang="en-US" sz="1313" b="1" dirty="0">
                <a:solidFill>
                  <a:srgbClr val="444441"/>
                </a:solidFill>
                <a:latin typeface="Arial" pitchFamily="34" charset="0"/>
                <a:ea typeface="Arial" pitchFamily="34" charset="-122"/>
                <a:cs typeface="Arial" pitchFamily="34" charset="-120"/>
              </a:rPr>
              <a:t>User query</a:t>
            </a:r>
            <a:endParaRPr lang="en-US" sz="1313" dirty="0"/>
          </a:p>
        </p:txBody>
      </p:sp>
      <p:sp>
        <p:nvSpPr>
          <p:cNvPr id="6" name="Shape 4"/>
          <p:cNvSpPr/>
          <p:nvPr/>
        </p:nvSpPr>
        <p:spPr>
          <a:xfrm>
            <a:off x="1536192" y="3969639"/>
            <a:ext cx="1392174" cy="816102"/>
          </a:xfrm>
          <a:prstGeom prst="roundRect">
            <a:avLst>
              <a:gd name="adj" fmla="val 9412"/>
            </a:avLst>
          </a:prstGeom>
          <a:solidFill>
            <a:srgbClr val="E1F5EE"/>
          </a:solidFill>
          <a:ln w="12700">
            <a:solidFill>
              <a:srgbClr val="1D9E75"/>
            </a:solidFill>
            <a:prstDash val="solid"/>
          </a:ln>
        </p:spPr>
      </p:sp>
      <p:sp>
        <p:nvSpPr>
          <p:cNvPr id="7" name="Text 5"/>
          <p:cNvSpPr/>
          <p:nvPr/>
        </p:nvSpPr>
        <p:spPr>
          <a:xfrm>
            <a:off x="1536192" y="3969639"/>
            <a:ext cx="1392174" cy="816102"/>
          </a:xfrm>
          <a:prstGeom prst="rect">
            <a:avLst/>
          </a:prstGeom>
          <a:noFill/>
          <a:ln/>
        </p:spPr>
        <p:txBody>
          <a:bodyPr wrap="square" lIns="26670" tIns="26670" rIns="26670" bIns="26670" rtlCol="0" anchor="ctr"/>
          <a:lstStyle/>
          <a:p>
            <a:pPr algn="ctr">
              <a:lnSpc>
                <a:spcPct val="105000"/>
              </a:lnSpc>
            </a:pPr>
            <a:r>
              <a:rPr lang="en-US" sz="1365" b="1" dirty="0">
                <a:solidFill>
                  <a:srgbClr val="085041"/>
                </a:solidFill>
                <a:latin typeface="Arial" pitchFamily="34" charset="0"/>
                <a:ea typeface="Arial" pitchFamily="34" charset="-122"/>
                <a:cs typeface="Arial" pitchFamily="34" charset="-120"/>
              </a:rPr>
              <a:t>Retriever</a:t>
            </a:r>
            <a:endParaRPr lang="en-US" sz="1365" dirty="0"/>
          </a:p>
          <a:p>
            <a:pPr algn="ctr">
              <a:lnSpc>
                <a:spcPct val="105000"/>
              </a:lnSpc>
            </a:pPr>
            <a:r>
              <a:rPr lang="en-US" sz="1103" dirty="0">
                <a:solidFill>
                  <a:srgbClr val="0F6E56"/>
                </a:solidFill>
                <a:latin typeface="Arial" pitchFamily="34" charset="0"/>
                <a:ea typeface="Arial" pitchFamily="34" charset="-122"/>
                <a:cs typeface="Arial" pitchFamily="34" charset="-120"/>
              </a:rPr>
              <a:t>Fetches relevant chunks</a:t>
            </a:r>
            <a:endParaRPr lang="en-US" sz="1365" dirty="0"/>
          </a:p>
        </p:txBody>
      </p:sp>
      <p:sp>
        <p:nvSpPr>
          <p:cNvPr id="8" name="Shape 6"/>
          <p:cNvSpPr/>
          <p:nvPr/>
        </p:nvSpPr>
        <p:spPr>
          <a:xfrm>
            <a:off x="3072384" y="3969639"/>
            <a:ext cx="1584198" cy="816102"/>
          </a:xfrm>
          <a:prstGeom prst="roundRect">
            <a:avLst>
              <a:gd name="adj" fmla="val 9412"/>
            </a:avLst>
          </a:prstGeom>
          <a:solidFill>
            <a:srgbClr val="E1F5EE"/>
          </a:solidFill>
          <a:ln w="12700">
            <a:solidFill>
              <a:srgbClr val="1D9E75"/>
            </a:solidFill>
            <a:prstDash val="solid"/>
          </a:ln>
        </p:spPr>
      </p:sp>
      <p:sp>
        <p:nvSpPr>
          <p:cNvPr id="9" name="Text 7"/>
          <p:cNvSpPr/>
          <p:nvPr/>
        </p:nvSpPr>
        <p:spPr>
          <a:xfrm>
            <a:off x="3072384" y="3969639"/>
            <a:ext cx="1584198" cy="816102"/>
          </a:xfrm>
          <a:prstGeom prst="rect">
            <a:avLst/>
          </a:prstGeom>
          <a:noFill/>
          <a:ln/>
        </p:spPr>
        <p:txBody>
          <a:bodyPr wrap="square" lIns="26670" tIns="26670" rIns="26670" bIns="26670" rtlCol="0" anchor="ctr"/>
          <a:lstStyle/>
          <a:p>
            <a:pPr algn="ctr">
              <a:lnSpc>
                <a:spcPct val="105000"/>
              </a:lnSpc>
            </a:pPr>
            <a:r>
              <a:rPr lang="en-US" sz="1260" b="1" dirty="0">
                <a:solidFill>
                  <a:srgbClr val="085041"/>
                </a:solidFill>
                <a:latin typeface="Arial" pitchFamily="34" charset="0"/>
                <a:ea typeface="Arial" pitchFamily="34" charset="-122"/>
                <a:cs typeface="Arial" pitchFamily="34" charset="-120"/>
              </a:rPr>
              <a:t>Answer generator (LLM)</a:t>
            </a:r>
            <a:endParaRPr lang="en-US" sz="1260" dirty="0"/>
          </a:p>
          <a:p>
            <a:pPr algn="ctr">
              <a:lnSpc>
                <a:spcPct val="105000"/>
              </a:lnSpc>
            </a:pPr>
            <a:r>
              <a:rPr lang="en-US" sz="1103" dirty="0">
                <a:solidFill>
                  <a:srgbClr val="0F6E56"/>
                </a:solidFill>
                <a:latin typeface="Arial" pitchFamily="34" charset="0"/>
                <a:ea typeface="Arial" pitchFamily="34" charset="-122"/>
                <a:cs typeface="Arial" pitchFamily="34" charset="-120"/>
              </a:rPr>
              <a:t>Drafts answer using context</a:t>
            </a:r>
            <a:endParaRPr lang="en-US" sz="1260" dirty="0"/>
          </a:p>
        </p:txBody>
      </p:sp>
      <p:sp>
        <p:nvSpPr>
          <p:cNvPr id="10" name="Shape 8"/>
          <p:cNvSpPr/>
          <p:nvPr/>
        </p:nvSpPr>
        <p:spPr>
          <a:xfrm>
            <a:off x="4800600" y="3969639"/>
            <a:ext cx="1488186" cy="816102"/>
          </a:xfrm>
          <a:prstGeom prst="roundRect">
            <a:avLst>
              <a:gd name="adj" fmla="val 9412"/>
            </a:avLst>
          </a:prstGeom>
          <a:solidFill>
            <a:srgbClr val="EEEDFE"/>
          </a:solidFill>
          <a:ln w="12700">
            <a:solidFill>
              <a:srgbClr val="7F77DD"/>
            </a:solidFill>
            <a:prstDash val="solid"/>
          </a:ln>
        </p:spPr>
      </p:sp>
      <p:sp>
        <p:nvSpPr>
          <p:cNvPr id="11" name="Text 9"/>
          <p:cNvSpPr/>
          <p:nvPr/>
        </p:nvSpPr>
        <p:spPr>
          <a:xfrm>
            <a:off x="4800600" y="3969639"/>
            <a:ext cx="1488186" cy="816102"/>
          </a:xfrm>
          <a:prstGeom prst="rect">
            <a:avLst/>
          </a:prstGeom>
          <a:noFill/>
          <a:ln/>
        </p:spPr>
        <p:txBody>
          <a:bodyPr wrap="square" lIns="26670" tIns="26670" rIns="26670" bIns="26670" rtlCol="0" anchor="ctr"/>
          <a:lstStyle/>
          <a:p>
            <a:pPr algn="ctr">
              <a:lnSpc>
                <a:spcPct val="105000"/>
              </a:lnSpc>
            </a:pPr>
            <a:r>
              <a:rPr lang="en-US" sz="1260" b="1" dirty="0">
                <a:solidFill>
                  <a:srgbClr val="3C3489"/>
                </a:solidFill>
                <a:latin typeface="Arial" pitchFamily="34" charset="0"/>
                <a:ea typeface="Arial" pitchFamily="34" charset="-122"/>
                <a:cs typeface="Arial" pitchFamily="34" charset="-120"/>
              </a:rPr>
              <a:t>Sentence splitter</a:t>
            </a:r>
            <a:endParaRPr lang="en-US" sz="1260" dirty="0"/>
          </a:p>
          <a:p>
            <a:pPr algn="ctr">
              <a:lnSpc>
                <a:spcPct val="105000"/>
              </a:lnSpc>
            </a:pPr>
            <a:r>
              <a:rPr lang="en-US" sz="1103" dirty="0">
                <a:solidFill>
                  <a:srgbClr val="534AB7"/>
                </a:solidFill>
                <a:latin typeface="Arial" pitchFamily="34" charset="0"/>
                <a:ea typeface="Arial" pitchFamily="34" charset="-122"/>
                <a:cs typeface="Arial" pitchFamily="34" charset="-120"/>
              </a:rPr>
              <a:t>Decomposes answer into claims</a:t>
            </a:r>
            <a:endParaRPr lang="en-US" sz="1260" dirty="0"/>
          </a:p>
        </p:txBody>
      </p:sp>
      <p:sp>
        <p:nvSpPr>
          <p:cNvPr id="12" name="Shape 10"/>
          <p:cNvSpPr/>
          <p:nvPr/>
        </p:nvSpPr>
        <p:spPr>
          <a:xfrm>
            <a:off x="6432804" y="3969639"/>
            <a:ext cx="1584198" cy="816102"/>
          </a:xfrm>
          <a:prstGeom prst="roundRect">
            <a:avLst>
              <a:gd name="adj" fmla="val 9412"/>
            </a:avLst>
          </a:prstGeom>
          <a:solidFill>
            <a:srgbClr val="EEEDFE"/>
          </a:solidFill>
          <a:ln w="12700">
            <a:solidFill>
              <a:srgbClr val="7F77DD"/>
            </a:solidFill>
            <a:prstDash val="solid"/>
          </a:ln>
        </p:spPr>
      </p:sp>
      <p:sp>
        <p:nvSpPr>
          <p:cNvPr id="13" name="Text 11"/>
          <p:cNvSpPr/>
          <p:nvPr/>
        </p:nvSpPr>
        <p:spPr>
          <a:xfrm>
            <a:off x="6432804" y="3969639"/>
            <a:ext cx="1584198" cy="816102"/>
          </a:xfrm>
          <a:prstGeom prst="rect">
            <a:avLst/>
          </a:prstGeom>
          <a:noFill/>
          <a:ln/>
        </p:spPr>
        <p:txBody>
          <a:bodyPr wrap="square" lIns="26670" tIns="26670" rIns="26670" bIns="26670" rtlCol="0" anchor="ctr"/>
          <a:lstStyle/>
          <a:p>
            <a:pPr algn="ctr">
              <a:lnSpc>
                <a:spcPct val="105000"/>
              </a:lnSpc>
            </a:pPr>
            <a:r>
              <a:rPr lang="en-US" sz="1260" b="1" dirty="0">
                <a:solidFill>
                  <a:srgbClr val="3C3489"/>
                </a:solidFill>
                <a:latin typeface="Arial" pitchFamily="34" charset="0"/>
                <a:ea typeface="Arial" pitchFamily="34" charset="-122"/>
                <a:cs typeface="Arial" pitchFamily="34" charset="-120"/>
              </a:rPr>
              <a:t>NLI verifier</a:t>
            </a:r>
            <a:endParaRPr lang="en-US" sz="1260" dirty="0"/>
          </a:p>
          <a:p>
            <a:pPr algn="ctr">
              <a:lnSpc>
                <a:spcPct val="105000"/>
              </a:lnSpc>
            </a:pPr>
            <a:r>
              <a:rPr lang="en-US" sz="1103" dirty="0">
                <a:solidFill>
                  <a:srgbClr val="534AB7"/>
                </a:solidFill>
                <a:latin typeface="Arial" pitchFamily="34" charset="0"/>
                <a:ea typeface="Arial" pitchFamily="34" charset="-122"/>
                <a:cs typeface="Arial" pitchFamily="34" charset="-120"/>
              </a:rPr>
              <a:t>Checks each claim against source</a:t>
            </a:r>
            <a:endParaRPr lang="en-US" sz="1260" dirty="0"/>
          </a:p>
        </p:txBody>
      </p:sp>
      <p:sp>
        <p:nvSpPr>
          <p:cNvPr id="14" name="Shape 12"/>
          <p:cNvSpPr/>
          <p:nvPr/>
        </p:nvSpPr>
        <p:spPr>
          <a:xfrm>
            <a:off x="8161020" y="4041648"/>
            <a:ext cx="1296162" cy="672084"/>
          </a:xfrm>
          <a:prstGeom prst="roundRect">
            <a:avLst>
              <a:gd name="adj" fmla="val 11429"/>
            </a:avLst>
          </a:prstGeom>
          <a:solidFill>
            <a:srgbClr val="F1EFE8"/>
          </a:solidFill>
          <a:ln w="12700">
            <a:solidFill>
              <a:srgbClr val="888780"/>
            </a:solidFill>
            <a:prstDash val="solid"/>
          </a:ln>
        </p:spPr>
      </p:sp>
      <p:sp>
        <p:nvSpPr>
          <p:cNvPr id="15" name="Text 13"/>
          <p:cNvSpPr/>
          <p:nvPr/>
        </p:nvSpPr>
        <p:spPr>
          <a:xfrm>
            <a:off x="8161020" y="4041648"/>
            <a:ext cx="1296162" cy="672084"/>
          </a:xfrm>
          <a:prstGeom prst="rect">
            <a:avLst/>
          </a:prstGeom>
          <a:noFill/>
          <a:ln/>
        </p:spPr>
        <p:txBody>
          <a:bodyPr wrap="square" lIns="26670" tIns="26670" rIns="26670" bIns="26670" rtlCol="0" anchor="ctr"/>
          <a:lstStyle/>
          <a:p>
            <a:pPr algn="ctr">
              <a:lnSpc>
                <a:spcPct val="105000"/>
              </a:lnSpc>
            </a:pPr>
            <a:r>
              <a:rPr lang="en-US" sz="1208" b="1" dirty="0">
                <a:solidFill>
                  <a:srgbClr val="444441"/>
                </a:solidFill>
                <a:latin typeface="Arial" pitchFamily="34" charset="0"/>
                <a:ea typeface="Arial" pitchFamily="34" charset="-122"/>
                <a:cs typeface="Arial" pitchFamily="34" charset="-120"/>
              </a:rPr>
              <a:t>Confidence check</a:t>
            </a:r>
            <a:endParaRPr lang="en-US" sz="1208" dirty="0"/>
          </a:p>
          <a:p>
            <a:pPr algn="ctr">
              <a:lnSpc>
                <a:spcPct val="105000"/>
              </a:lnSpc>
            </a:pPr>
            <a:r>
              <a:rPr lang="en-US" sz="1050" dirty="0">
                <a:solidFill>
                  <a:srgbClr val="5F5E5A"/>
                </a:solidFill>
                <a:latin typeface="Arial" pitchFamily="34" charset="0"/>
                <a:ea typeface="Arial" pitchFamily="34" charset="-122"/>
                <a:cs typeface="Arial" pitchFamily="34" charset="-120"/>
              </a:rPr>
              <a:t>Entailed or not</a:t>
            </a:r>
            <a:endParaRPr lang="en-US" sz="1208" dirty="0"/>
          </a:p>
        </p:txBody>
      </p:sp>
      <p:sp>
        <p:nvSpPr>
          <p:cNvPr id="16" name="Shape 14"/>
          <p:cNvSpPr/>
          <p:nvPr/>
        </p:nvSpPr>
        <p:spPr>
          <a:xfrm>
            <a:off x="9649206" y="1881378"/>
            <a:ext cx="1488186" cy="768096"/>
          </a:xfrm>
          <a:prstGeom prst="roundRect">
            <a:avLst>
              <a:gd name="adj" fmla="val 10000"/>
            </a:avLst>
          </a:prstGeom>
          <a:solidFill>
            <a:srgbClr val="E1F5EE"/>
          </a:solidFill>
          <a:ln w="12700">
            <a:solidFill>
              <a:srgbClr val="1D9E75"/>
            </a:solidFill>
            <a:prstDash val="solid"/>
          </a:ln>
        </p:spPr>
      </p:sp>
      <p:sp>
        <p:nvSpPr>
          <p:cNvPr id="17" name="Text 15"/>
          <p:cNvSpPr/>
          <p:nvPr/>
        </p:nvSpPr>
        <p:spPr>
          <a:xfrm>
            <a:off x="9649206" y="1881378"/>
            <a:ext cx="1488186" cy="768096"/>
          </a:xfrm>
          <a:prstGeom prst="rect">
            <a:avLst/>
          </a:prstGeom>
          <a:noFill/>
          <a:ln/>
        </p:spPr>
        <p:txBody>
          <a:bodyPr wrap="square" lIns="26670" tIns="26670" rIns="26670" bIns="26670" rtlCol="0" anchor="ctr"/>
          <a:lstStyle/>
          <a:p>
            <a:pPr algn="ctr">
              <a:lnSpc>
                <a:spcPct val="105000"/>
              </a:lnSpc>
            </a:pPr>
            <a:r>
              <a:rPr lang="en-US" sz="1260" b="1" dirty="0">
                <a:solidFill>
                  <a:srgbClr val="085041"/>
                </a:solidFill>
                <a:latin typeface="Arial" pitchFamily="34" charset="0"/>
                <a:ea typeface="Arial" pitchFamily="34" charset="-122"/>
                <a:cs typeface="Arial" pitchFamily="34" charset="-120"/>
              </a:rPr>
              <a:t>Accept sentence</a:t>
            </a:r>
            <a:endParaRPr lang="en-US" sz="1260" dirty="0"/>
          </a:p>
          <a:p>
            <a:pPr algn="ctr">
              <a:lnSpc>
                <a:spcPct val="105000"/>
              </a:lnSpc>
            </a:pPr>
            <a:r>
              <a:rPr lang="en-US" sz="1103" dirty="0">
                <a:solidFill>
                  <a:srgbClr val="0F6E56"/>
                </a:solidFill>
                <a:latin typeface="Arial" pitchFamily="34" charset="0"/>
                <a:ea typeface="Arial" pitchFamily="34" charset="-122"/>
                <a:cs typeface="Arial" pitchFamily="34" charset="-120"/>
              </a:rPr>
              <a:t>Shown as-is to user</a:t>
            </a:r>
            <a:endParaRPr lang="en-US" sz="1260" dirty="0"/>
          </a:p>
        </p:txBody>
      </p:sp>
      <p:sp>
        <p:nvSpPr>
          <p:cNvPr id="18" name="Shape 16"/>
          <p:cNvSpPr/>
          <p:nvPr/>
        </p:nvSpPr>
        <p:spPr>
          <a:xfrm>
            <a:off x="9649206" y="5913882"/>
            <a:ext cx="1488186" cy="768096"/>
          </a:xfrm>
          <a:prstGeom prst="roundRect">
            <a:avLst>
              <a:gd name="adj" fmla="val 10000"/>
            </a:avLst>
          </a:prstGeom>
          <a:solidFill>
            <a:srgbClr val="FAECE7"/>
          </a:solidFill>
          <a:ln w="12700">
            <a:solidFill>
              <a:srgbClr val="D85A30"/>
            </a:solidFill>
            <a:prstDash val="solid"/>
          </a:ln>
        </p:spPr>
      </p:sp>
      <p:sp>
        <p:nvSpPr>
          <p:cNvPr id="19" name="Text 17"/>
          <p:cNvSpPr/>
          <p:nvPr/>
        </p:nvSpPr>
        <p:spPr>
          <a:xfrm>
            <a:off x="9649206" y="5913882"/>
            <a:ext cx="1488186" cy="768096"/>
          </a:xfrm>
          <a:prstGeom prst="rect">
            <a:avLst/>
          </a:prstGeom>
          <a:noFill/>
          <a:ln/>
        </p:spPr>
        <p:txBody>
          <a:bodyPr wrap="square" lIns="26670" tIns="26670" rIns="26670" bIns="26670" rtlCol="0" anchor="ctr"/>
          <a:lstStyle/>
          <a:p>
            <a:pPr algn="ctr">
              <a:lnSpc>
                <a:spcPct val="105000"/>
              </a:lnSpc>
            </a:pPr>
            <a:r>
              <a:rPr lang="en-US" sz="1260" b="1" dirty="0">
                <a:solidFill>
                  <a:srgbClr val="712B13"/>
                </a:solidFill>
                <a:latin typeface="Arial" pitchFamily="34" charset="0"/>
                <a:ea typeface="Arial" pitchFamily="34" charset="-122"/>
                <a:cs typeface="Arial" pitchFamily="34" charset="-120"/>
              </a:rPr>
              <a:t>Abstention action</a:t>
            </a:r>
            <a:endParaRPr lang="en-US" sz="1260" dirty="0"/>
          </a:p>
          <a:p>
            <a:pPr algn="ctr">
              <a:lnSpc>
                <a:spcPct val="105000"/>
              </a:lnSpc>
            </a:pPr>
            <a:r>
              <a:rPr lang="en-US" sz="1103" dirty="0">
                <a:solidFill>
                  <a:srgbClr val="993C1D"/>
                </a:solidFill>
                <a:latin typeface="Arial" pitchFamily="34" charset="0"/>
                <a:ea typeface="Arial" pitchFamily="34" charset="-122"/>
                <a:cs typeface="Arial" pitchFamily="34" charset="-120"/>
              </a:rPr>
              <a:t>Hedge, re-retrieve, or flag</a:t>
            </a:r>
            <a:endParaRPr lang="en-US" sz="1260" dirty="0"/>
          </a:p>
        </p:txBody>
      </p:sp>
      <p:sp>
        <p:nvSpPr>
          <p:cNvPr id="20" name="Shape 18"/>
          <p:cNvSpPr/>
          <p:nvPr/>
        </p:nvSpPr>
        <p:spPr>
          <a:xfrm>
            <a:off x="11281410" y="3945636"/>
            <a:ext cx="1440180" cy="864108"/>
          </a:xfrm>
          <a:prstGeom prst="roundRect">
            <a:avLst>
              <a:gd name="adj" fmla="val 8889"/>
            </a:avLst>
          </a:prstGeom>
          <a:solidFill>
            <a:srgbClr val="F1EFE8"/>
          </a:solidFill>
          <a:ln w="12700">
            <a:solidFill>
              <a:srgbClr val="888780"/>
            </a:solidFill>
            <a:prstDash val="solid"/>
          </a:ln>
        </p:spPr>
      </p:sp>
      <p:sp>
        <p:nvSpPr>
          <p:cNvPr id="21" name="Text 19"/>
          <p:cNvSpPr/>
          <p:nvPr/>
        </p:nvSpPr>
        <p:spPr>
          <a:xfrm>
            <a:off x="11281410" y="3945636"/>
            <a:ext cx="1440180" cy="864108"/>
          </a:xfrm>
          <a:prstGeom prst="rect">
            <a:avLst/>
          </a:prstGeom>
          <a:noFill/>
          <a:ln/>
        </p:spPr>
        <p:txBody>
          <a:bodyPr wrap="square" lIns="26670" tIns="26670" rIns="26670" bIns="26670" rtlCol="0" anchor="ctr"/>
          <a:lstStyle/>
          <a:p>
            <a:pPr algn="ctr">
              <a:lnSpc>
                <a:spcPct val="105000"/>
              </a:lnSpc>
            </a:pPr>
            <a:r>
              <a:rPr lang="en-US" sz="1313" b="1" dirty="0">
                <a:solidFill>
                  <a:srgbClr val="444441"/>
                </a:solidFill>
                <a:latin typeface="Arial" pitchFamily="34" charset="0"/>
                <a:ea typeface="Arial" pitchFamily="34" charset="-122"/>
                <a:cs typeface="Arial" pitchFamily="34" charset="-120"/>
              </a:rPr>
              <a:t>Assembled response</a:t>
            </a:r>
            <a:endParaRPr lang="en-US" sz="1313" dirty="0"/>
          </a:p>
          <a:p>
            <a:pPr algn="ctr">
              <a:lnSpc>
                <a:spcPct val="105000"/>
              </a:lnSpc>
            </a:pPr>
            <a:r>
              <a:rPr lang="en-US" sz="1103" dirty="0">
                <a:solidFill>
                  <a:srgbClr val="5F5E5A"/>
                </a:solidFill>
                <a:latin typeface="Arial" pitchFamily="34" charset="0"/>
                <a:ea typeface="Arial" pitchFamily="34" charset="-122"/>
                <a:cs typeface="Arial" pitchFamily="34" charset="-120"/>
              </a:rPr>
              <a:t>Delivered to user interface</a:t>
            </a:r>
            <a:endParaRPr lang="en-US" sz="1313" dirty="0"/>
          </a:p>
        </p:txBody>
      </p:sp>
      <p:sp>
        <p:nvSpPr>
          <p:cNvPr id="22" name="Shape 20"/>
          <p:cNvSpPr/>
          <p:nvPr/>
        </p:nvSpPr>
        <p:spPr>
          <a:xfrm>
            <a:off x="1392174" y="4377690"/>
            <a:ext cx="144018" cy="0"/>
          </a:xfrm>
          <a:prstGeom prst="line">
            <a:avLst/>
          </a:prstGeom>
          <a:noFill/>
          <a:ln w="15875">
            <a:solidFill>
              <a:srgbClr val="6B6B6B"/>
            </a:solidFill>
            <a:prstDash val="solid"/>
            <a:tailEnd type="triangle"/>
          </a:ln>
        </p:spPr>
      </p:sp>
      <p:sp>
        <p:nvSpPr>
          <p:cNvPr id="23" name="Shape 21"/>
          <p:cNvSpPr/>
          <p:nvPr/>
        </p:nvSpPr>
        <p:spPr>
          <a:xfrm>
            <a:off x="2928366" y="4377690"/>
            <a:ext cx="144018" cy="0"/>
          </a:xfrm>
          <a:prstGeom prst="line">
            <a:avLst/>
          </a:prstGeom>
          <a:noFill/>
          <a:ln w="15875">
            <a:solidFill>
              <a:srgbClr val="6B6B6B"/>
            </a:solidFill>
            <a:prstDash val="solid"/>
            <a:tailEnd type="triangle"/>
          </a:ln>
        </p:spPr>
      </p:sp>
      <p:sp>
        <p:nvSpPr>
          <p:cNvPr id="24" name="Shape 22"/>
          <p:cNvSpPr/>
          <p:nvPr/>
        </p:nvSpPr>
        <p:spPr>
          <a:xfrm>
            <a:off x="4656582" y="4377690"/>
            <a:ext cx="144018" cy="0"/>
          </a:xfrm>
          <a:prstGeom prst="line">
            <a:avLst/>
          </a:prstGeom>
          <a:noFill/>
          <a:ln w="15875">
            <a:solidFill>
              <a:srgbClr val="6B6B6B"/>
            </a:solidFill>
            <a:prstDash val="solid"/>
            <a:tailEnd type="triangle"/>
          </a:ln>
        </p:spPr>
      </p:sp>
      <p:sp>
        <p:nvSpPr>
          <p:cNvPr id="25" name="Shape 23"/>
          <p:cNvSpPr/>
          <p:nvPr/>
        </p:nvSpPr>
        <p:spPr>
          <a:xfrm>
            <a:off x="6288786" y="4377690"/>
            <a:ext cx="144018" cy="0"/>
          </a:xfrm>
          <a:prstGeom prst="line">
            <a:avLst/>
          </a:prstGeom>
          <a:noFill/>
          <a:ln w="15875">
            <a:solidFill>
              <a:srgbClr val="6B6B6B"/>
            </a:solidFill>
            <a:prstDash val="solid"/>
            <a:tailEnd type="triangle"/>
          </a:ln>
        </p:spPr>
      </p:sp>
      <p:sp>
        <p:nvSpPr>
          <p:cNvPr id="26" name="Shape 24"/>
          <p:cNvSpPr/>
          <p:nvPr/>
        </p:nvSpPr>
        <p:spPr>
          <a:xfrm>
            <a:off x="8017002" y="4377690"/>
            <a:ext cx="144018" cy="0"/>
          </a:xfrm>
          <a:prstGeom prst="line">
            <a:avLst/>
          </a:prstGeom>
          <a:noFill/>
          <a:ln w="15875">
            <a:solidFill>
              <a:srgbClr val="6B6B6B"/>
            </a:solidFill>
            <a:prstDash val="solid"/>
            <a:tailEnd type="triangle"/>
          </a:ln>
        </p:spPr>
      </p:sp>
      <p:sp>
        <p:nvSpPr>
          <p:cNvPr id="27" name="Shape 25"/>
          <p:cNvSpPr/>
          <p:nvPr/>
        </p:nvSpPr>
        <p:spPr>
          <a:xfrm>
            <a:off x="9457182" y="4377690"/>
            <a:ext cx="96012" cy="0"/>
          </a:xfrm>
          <a:prstGeom prst="line">
            <a:avLst/>
          </a:prstGeom>
          <a:noFill/>
          <a:ln w="15875">
            <a:solidFill>
              <a:srgbClr val="6B6B6B"/>
            </a:solidFill>
            <a:prstDash val="solid"/>
          </a:ln>
        </p:spPr>
      </p:sp>
      <p:sp>
        <p:nvSpPr>
          <p:cNvPr id="28" name="Shape 26"/>
          <p:cNvSpPr/>
          <p:nvPr/>
        </p:nvSpPr>
        <p:spPr>
          <a:xfrm>
            <a:off x="9553194" y="2265426"/>
            <a:ext cx="0" cy="2112264"/>
          </a:xfrm>
          <a:prstGeom prst="line">
            <a:avLst/>
          </a:prstGeom>
          <a:noFill/>
          <a:ln w="15875">
            <a:solidFill>
              <a:srgbClr val="6B6B6B"/>
            </a:solidFill>
            <a:prstDash val="solid"/>
          </a:ln>
        </p:spPr>
      </p:sp>
      <p:sp>
        <p:nvSpPr>
          <p:cNvPr id="29" name="Shape 27"/>
          <p:cNvSpPr/>
          <p:nvPr/>
        </p:nvSpPr>
        <p:spPr>
          <a:xfrm>
            <a:off x="9553194" y="2265426"/>
            <a:ext cx="96012" cy="0"/>
          </a:xfrm>
          <a:prstGeom prst="line">
            <a:avLst/>
          </a:prstGeom>
          <a:noFill/>
          <a:ln w="15875">
            <a:solidFill>
              <a:srgbClr val="6B6B6B"/>
            </a:solidFill>
            <a:prstDash val="solid"/>
            <a:tailEnd type="triangle"/>
          </a:ln>
        </p:spPr>
      </p:sp>
      <p:sp>
        <p:nvSpPr>
          <p:cNvPr id="30" name="Shape 28"/>
          <p:cNvSpPr/>
          <p:nvPr/>
        </p:nvSpPr>
        <p:spPr>
          <a:xfrm>
            <a:off x="9553194" y="4377690"/>
            <a:ext cx="0" cy="1920240"/>
          </a:xfrm>
          <a:prstGeom prst="line">
            <a:avLst/>
          </a:prstGeom>
          <a:noFill/>
          <a:ln w="15875">
            <a:solidFill>
              <a:srgbClr val="6B6B6B"/>
            </a:solidFill>
            <a:prstDash val="solid"/>
          </a:ln>
        </p:spPr>
      </p:sp>
      <p:sp>
        <p:nvSpPr>
          <p:cNvPr id="31" name="Shape 29"/>
          <p:cNvSpPr/>
          <p:nvPr/>
        </p:nvSpPr>
        <p:spPr>
          <a:xfrm>
            <a:off x="9553194" y="6297930"/>
            <a:ext cx="96012" cy="0"/>
          </a:xfrm>
          <a:prstGeom prst="line">
            <a:avLst/>
          </a:prstGeom>
          <a:noFill/>
          <a:ln w="15875">
            <a:solidFill>
              <a:srgbClr val="6B6B6B"/>
            </a:solidFill>
            <a:prstDash val="solid"/>
            <a:tailEnd type="triangle"/>
          </a:ln>
        </p:spPr>
      </p:sp>
      <p:sp>
        <p:nvSpPr>
          <p:cNvPr id="32" name="Text 30"/>
          <p:cNvSpPr/>
          <p:nvPr/>
        </p:nvSpPr>
        <p:spPr>
          <a:xfrm>
            <a:off x="8977122" y="3081528"/>
            <a:ext cx="1152144" cy="288036"/>
          </a:xfrm>
          <a:prstGeom prst="rect">
            <a:avLst/>
          </a:prstGeom>
          <a:noFill/>
          <a:ln/>
        </p:spPr>
        <p:txBody>
          <a:bodyPr wrap="square" rtlCol="0" anchor="ctr"/>
          <a:lstStyle/>
          <a:p>
            <a:pPr algn="ctr"/>
            <a:r>
              <a:rPr lang="en-US" sz="1103" dirty="0">
                <a:solidFill>
                  <a:srgbClr val="5F5E5A"/>
                </a:solidFill>
                <a:latin typeface="Arial" pitchFamily="34" charset="0"/>
                <a:ea typeface="Arial" pitchFamily="34" charset="-122"/>
                <a:cs typeface="Arial" pitchFamily="34" charset="-120"/>
              </a:rPr>
              <a:t>Entailed</a:t>
            </a:r>
            <a:endParaRPr lang="en-US" sz="1103" dirty="0"/>
          </a:p>
        </p:txBody>
      </p:sp>
      <p:sp>
        <p:nvSpPr>
          <p:cNvPr id="33" name="Text 31"/>
          <p:cNvSpPr/>
          <p:nvPr/>
        </p:nvSpPr>
        <p:spPr>
          <a:xfrm>
            <a:off x="8977122" y="5385816"/>
            <a:ext cx="1152144" cy="288036"/>
          </a:xfrm>
          <a:prstGeom prst="rect">
            <a:avLst/>
          </a:prstGeom>
          <a:noFill/>
          <a:ln/>
        </p:spPr>
        <p:txBody>
          <a:bodyPr wrap="square" rtlCol="0" anchor="ctr"/>
          <a:lstStyle/>
          <a:p>
            <a:pPr algn="ctr"/>
            <a:r>
              <a:rPr lang="en-US" sz="1103" dirty="0">
                <a:solidFill>
                  <a:srgbClr val="5F5E5A"/>
                </a:solidFill>
                <a:latin typeface="Arial" pitchFamily="34" charset="0"/>
                <a:ea typeface="Arial" pitchFamily="34" charset="-122"/>
                <a:cs typeface="Arial" pitchFamily="34" charset="-120"/>
              </a:rPr>
              <a:t>Unsupported</a:t>
            </a:r>
            <a:endParaRPr lang="en-US" sz="1103" dirty="0"/>
          </a:p>
        </p:txBody>
      </p:sp>
      <p:sp>
        <p:nvSpPr>
          <p:cNvPr id="34" name="Shape 32"/>
          <p:cNvSpPr/>
          <p:nvPr/>
        </p:nvSpPr>
        <p:spPr>
          <a:xfrm>
            <a:off x="11137392" y="2265426"/>
            <a:ext cx="96012" cy="0"/>
          </a:xfrm>
          <a:prstGeom prst="line">
            <a:avLst/>
          </a:prstGeom>
          <a:noFill/>
          <a:ln w="15875">
            <a:solidFill>
              <a:srgbClr val="6B6B6B"/>
            </a:solidFill>
            <a:prstDash val="solid"/>
          </a:ln>
        </p:spPr>
      </p:sp>
      <p:sp>
        <p:nvSpPr>
          <p:cNvPr id="35" name="Shape 33"/>
          <p:cNvSpPr/>
          <p:nvPr/>
        </p:nvSpPr>
        <p:spPr>
          <a:xfrm>
            <a:off x="11233404" y="2265426"/>
            <a:ext cx="0" cy="1939442"/>
          </a:xfrm>
          <a:prstGeom prst="line">
            <a:avLst/>
          </a:prstGeom>
          <a:noFill/>
          <a:ln w="15875">
            <a:solidFill>
              <a:srgbClr val="6B6B6B"/>
            </a:solidFill>
            <a:prstDash val="solid"/>
          </a:ln>
        </p:spPr>
      </p:sp>
      <p:sp>
        <p:nvSpPr>
          <p:cNvPr id="36" name="Shape 34"/>
          <p:cNvSpPr/>
          <p:nvPr/>
        </p:nvSpPr>
        <p:spPr>
          <a:xfrm>
            <a:off x="11233404" y="4204868"/>
            <a:ext cx="48006" cy="0"/>
          </a:xfrm>
          <a:prstGeom prst="line">
            <a:avLst/>
          </a:prstGeom>
          <a:noFill/>
          <a:ln w="15875">
            <a:solidFill>
              <a:srgbClr val="6B6B6B"/>
            </a:solidFill>
            <a:prstDash val="solid"/>
            <a:tailEnd type="triangle"/>
          </a:ln>
        </p:spPr>
      </p:sp>
      <p:sp>
        <p:nvSpPr>
          <p:cNvPr id="37" name="Shape 35"/>
          <p:cNvSpPr/>
          <p:nvPr/>
        </p:nvSpPr>
        <p:spPr>
          <a:xfrm>
            <a:off x="11137392" y="6297930"/>
            <a:ext cx="172822" cy="0"/>
          </a:xfrm>
          <a:prstGeom prst="line">
            <a:avLst/>
          </a:prstGeom>
          <a:noFill/>
          <a:ln w="15875">
            <a:solidFill>
              <a:srgbClr val="6B6B6B"/>
            </a:solidFill>
            <a:prstDash val="solid"/>
          </a:ln>
        </p:spPr>
      </p:sp>
      <p:sp>
        <p:nvSpPr>
          <p:cNvPr id="38" name="Shape 36"/>
          <p:cNvSpPr/>
          <p:nvPr/>
        </p:nvSpPr>
        <p:spPr>
          <a:xfrm>
            <a:off x="11310214" y="4550512"/>
            <a:ext cx="0" cy="1747418"/>
          </a:xfrm>
          <a:prstGeom prst="line">
            <a:avLst/>
          </a:prstGeom>
          <a:noFill/>
          <a:ln w="15875">
            <a:solidFill>
              <a:srgbClr val="6B6B6B"/>
            </a:solidFill>
            <a:prstDash val="solid"/>
          </a:ln>
        </p:spPr>
      </p:sp>
      <p:sp>
        <p:nvSpPr>
          <p:cNvPr id="39" name="Shape 37"/>
          <p:cNvSpPr/>
          <p:nvPr/>
        </p:nvSpPr>
        <p:spPr>
          <a:xfrm>
            <a:off x="11281410" y="4550512"/>
            <a:ext cx="28804" cy="0"/>
          </a:xfrm>
          <a:prstGeom prst="line">
            <a:avLst/>
          </a:prstGeom>
          <a:noFill/>
          <a:ln w="15875">
            <a:solidFill>
              <a:srgbClr val="6B6B6B"/>
            </a:solidFill>
            <a:prstDash val="solid"/>
            <a:tailEnd type="triangle"/>
          </a:ln>
        </p:spPr>
      </p:sp>
    </p:spTree>
    <p:extLst>
      <p:ext uri="{BB962C8B-B14F-4D97-AF65-F5344CB8AC3E}">
        <p14:creationId xmlns:p14="http://schemas.microsoft.com/office/powerpoint/2010/main" val="362132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14F7B-448F-5933-E4F5-9F6656ACE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B1540-D08A-936D-657B-2CA7AA0EF4A8}"/>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8. DEVELOPMENT &amp; INTEGRATION</a:t>
            </a:r>
          </a:p>
        </p:txBody>
      </p:sp>
      <p:sp>
        <p:nvSpPr>
          <p:cNvPr id="3" name="Content Placeholder 2">
            <a:extLst>
              <a:ext uri="{FF2B5EF4-FFF2-40B4-BE49-F238E27FC236}">
                <a16:creationId xmlns:a16="http://schemas.microsoft.com/office/drawing/2014/main" id="{8FD1C32F-FDCF-2099-8C99-4CD33048817D}"/>
              </a:ext>
            </a:extLst>
          </p:cNvPr>
          <p:cNvSpPr>
            <a:spLocks noGrp="1"/>
          </p:cNvSpPr>
          <p:nvPr>
            <p:ph idx="1"/>
          </p:nvPr>
        </p:nvSpPr>
        <p:spPr/>
        <p:txBody>
          <a:bodyPr>
            <a:noAutofit/>
          </a:bodyPr>
          <a:lstStyle/>
          <a:p>
            <a:pPr marL="0" indent="0">
              <a:buNone/>
            </a:pPr>
            <a:r>
              <a:rPr lang="en-IN" sz="2200" b="1" dirty="0">
                <a:latin typeface="Times New Roman" panose="02020603050405020304" pitchFamily="18" charset="0"/>
                <a:cs typeface="Times New Roman" panose="02020603050405020304" pitchFamily="18" charset="0"/>
              </a:rPr>
              <a:t>IMPLEMENTATION OF MODULES</a:t>
            </a:r>
          </a:p>
          <a:p>
            <a:pPr marL="0" indent="0">
              <a:buNone/>
            </a:pPr>
            <a:r>
              <a:rPr lang="en-IN" sz="2200" dirty="0">
                <a:latin typeface="Times New Roman" panose="02020603050405020304" pitchFamily="18" charset="0"/>
                <a:cs typeface="Times New Roman" panose="02020603050405020304" pitchFamily="18" charset="0"/>
              </a:rPr>
              <a:t>• Develop a medical-domain RAG pipeline using trusted clinical sources.</a:t>
            </a:r>
          </a:p>
          <a:p>
            <a:pPr marL="0" indent="0">
              <a:buNone/>
            </a:pPr>
            <a:r>
              <a:rPr lang="en-IN" sz="2200" dirty="0">
                <a:latin typeface="Times New Roman" panose="02020603050405020304" pitchFamily="18" charset="0"/>
                <a:cs typeface="Times New Roman" panose="02020603050405020304" pitchFamily="18" charset="0"/>
              </a:rPr>
              <a:t>• Retrieve relevant medical documents using vector/hybrid search.</a:t>
            </a:r>
          </a:p>
          <a:p>
            <a:pPr marL="0" indent="0">
              <a:buNone/>
            </a:pPr>
            <a:r>
              <a:rPr lang="en-IN" sz="2200" dirty="0">
                <a:latin typeface="Times New Roman" panose="02020603050405020304" pitchFamily="18" charset="0"/>
                <a:cs typeface="Times New Roman" panose="02020603050405020304" pitchFamily="18" charset="0"/>
              </a:rPr>
              <a:t>• Generate evidence-grounded responses using an LLM.</a:t>
            </a:r>
          </a:p>
          <a:p>
            <a:pPr marL="0" indent="0">
              <a:buNone/>
            </a:pPr>
            <a:r>
              <a:rPr lang="en-IN" sz="2200" dirty="0">
                <a:latin typeface="Times New Roman" panose="02020603050405020304" pitchFamily="18" charset="0"/>
                <a:cs typeface="Times New Roman" panose="02020603050405020304" pitchFamily="18" charset="0"/>
              </a:rPr>
              <a:t>• Split the response into sentences and verify each claim using an NLI model.</a:t>
            </a:r>
          </a:p>
          <a:p>
            <a:pPr marL="0" indent="0">
              <a:buNone/>
            </a:pPr>
            <a:r>
              <a:rPr lang="en-IN" sz="2200" dirty="0">
                <a:latin typeface="Times New Roman" panose="02020603050405020304" pitchFamily="18" charset="0"/>
                <a:cs typeface="Times New Roman" panose="02020603050405020304" pitchFamily="18" charset="0"/>
              </a:rPr>
              <a:t>• Apply tiered abstention: Display, Suppress, Re-retrieve, or Flag.</a:t>
            </a:r>
          </a:p>
          <a:p>
            <a:pPr marL="0" indent="0">
              <a:buNone/>
            </a:pPr>
            <a:r>
              <a:rPr lang="en-IN" sz="2200" dirty="0">
                <a:latin typeface="Times New Roman" panose="02020603050405020304" pitchFamily="18" charset="0"/>
                <a:cs typeface="Times New Roman" panose="02020603050405020304" pitchFamily="18" charset="0"/>
              </a:rPr>
              <a:t>• Evaluate using MIRAGE, </a:t>
            </a:r>
            <a:r>
              <a:rPr lang="en-IN" sz="2200" dirty="0" err="1">
                <a:latin typeface="Times New Roman" panose="02020603050405020304" pitchFamily="18" charset="0"/>
                <a:cs typeface="Times New Roman" panose="02020603050405020304" pitchFamily="18" charset="0"/>
              </a:rPr>
              <a:t>RAGCare</a:t>
            </a:r>
            <a:r>
              <a:rPr lang="en-IN" sz="2200" dirty="0">
                <a:latin typeface="Times New Roman" panose="02020603050405020304" pitchFamily="18" charset="0"/>
                <a:cs typeface="Times New Roman" panose="02020603050405020304" pitchFamily="18" charset="0"/>
              </a:rPr>
              <a:t>-QA, and </a:t>
            </a:r>
            <a:r>
              <a:rPr lang="en-IN" sz="2200" dirty="0" err="1">
                <a:latin typeface="Times New Roman" panose="02020603050405020304" pitchFamily="18" charset="0"/>
                <a:cs typeface="Times New Roman" panose="02020603050405020304" pitchFamily="18" charset="0"/>
              </a:rPr>
              <a:t>RAGTruth</a:t>
            </a:r>
            <a:r>
              <a:rPr lang="en-IN" sz="2200" dirty="0">
                <a:latin typeface="Times New Roman" panose="02020603050405020304" pitchFamily="18" charset="0"/>
                <a:cs typeface="Times New Roman" panose="02020603050405020304" pitchFamily="18" charset="0"/>
              </a:rPr>
              <a:t> benchmarks.</a:t>
            </a:r>
          </a:p>
          <a:p>
            <a:pPr marL="0" indent="0">
              <a:buNone/>
            </a:pPr>
            <a:r>
              <a:rPr lang="en-IN" sz="2200" b="1" dirty="0">
                <a:latin typeface="Times New Roman" panose="02020603050405020304" pitchFamily="18" charset="0"/>
                <a:cs typeface="Times New Roman" panose="02020603050405020304" pitchFamily="18" charset="0"/>
              </a:rPr>
              <a:t>INTEGRATION STRATEGY</a:t>
            </a:r>
          </a:p>
          <a:p>
            <a:pPr marL="0" indent="0">
              <a:buNone/>
            </a:pPr>
            <a:r>
              <a:rPr lang="en-IN" sz="2200" dirty="0">
                <a:latin typeface="Times New Roman" panose="02020603050405020304" pitchFamily="18" charset="0"/>
                <a:cs typeface="Times New Roman" panose="02020603050405020304" pitchFamily="18" charset="0"/>
              </a:rPr>
              <a:t>• Integrate the Retriever, LLM, NLI Verifier, and Abstention Layer into a unified pipeline.</a:t>
            </a:r>
          </a:p>
          <a:p>
            <a:pPr marL="0" indent="0">
              <a:buNone/>
            </a:pPr>
            <a:r>
              <a:rPr lang="en-IN" sz="2200" dirty="0">
                <a:latin typeface="Times New Roman" panose="02020603050405020304" pitchFamily="18" charset="0"/>
                <a:cs typeface="Times New Roman" panose="02020603050405020304" pitchFamily="18" charset="0"/>
              </a:rPr>
              <a:t>• Enable seamless data flow: User Query → Retrieval → Generation → Verification → Decision → Final Response.</a:t>
            </a:r>
          </a:p>
          <a:p>
            <a:pPr marL="0" indent="0">
              <a:buNone/>
            </a:pPr>
            <a:r>
              <a:rPr lang="en-IN" sz="2200" dirty="0">
                <a:latin typeface="Times New Roman" panose="02020603050405020304" pitchFamily="18" charset="0"/>
                <a:cs typeface="Times New Roman" panose="02020603050405020304" pitchFamily="18" charset="0"/>
              </a:rPr>
              <a:t>• Perform real-time sentence-level verification before displaying the final answer.</a:t>
            </a:r>
          </a:p>
          <a:p>
            <a:pPr marL="0" indent="0">
              <a:buNone/>
            </a:pPr>
            <a:r>
              <a:rPr lang="en-IN" sz="2200" dirty="0">
                <a:latin typeface="Times New Roman" panose="02020603050405020304" pitchFamily="18" charset="0"/>
                <a:cs typeface="Times New Roman" panose="02020603050405020304" pitchFamily="18" charset="0"/>
              </a:rPr>
              <a:t>• Compare the proposed framework with standard medical RAG to measure hallucination reduction and false abstention.</a:t>
            </a:r>
            <a:endParaRPr lang="en-US" sz="2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6869C87-894B-EA46-CE5B-2DDA46DB8C2C}"/>
              </a:ext>
            </a:extLst>
          </p:cNvPr>
          <p:cNvSpPr>
            <a:spLocks noGrp="1"/>
          </p:cNvSpPr>
          <p:nvPr>
            <p:ph type="sldNum" sz="quarter" idx="12"/>
          </p:nvPr>
        </p:nvSpPr>
        <p:spPr/>
        <p:txBody>
          <a:bodyPr/>
          <a:lstStyle/>
          <a:p>
            <a:fld id="{C02A2637-A5A3-49FA-B214-6E67543099EF}" type="slidenum">
              <a:rPr lang="en-US" smtClean="0"/>
              <a:t>13</a:t>
            </a:fld>
            <a:endParaRPr lang="en-US"/>
          </a:p>
        </p:txBody>
      </p:sp>
    </p:spTree>
    <p:extLst>
      <p:ext uri="{BB962C8B-B14F-4D97-AF65-F5344CB8AC3E}">
        <p14:creationId xmlns:p14="http://schemas.microsoft.com/office/powerpoint/2010/main" val="3369243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D992B-D0F5-F493-B181-9B3897A3DD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545EF-AA6F-8218-4800-832EAF2D4030}"/>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8. DEVELOPMENT &amp; INTEGRATION</a:t>
            </a:r>
          </a:p>
        </p:txBody>
      </p:sp>
      <p:sp>
        <p:nvSpPr>
          <p:cNvPr id="3" name="Content Placeholder 2">
            <a:extLst>
              <a:ext uri="{FF2B5EF4-FFF2-40B4-BE49-F238E27FC236}">
                <a16:creationId xmlns:a16="http://schemas.microsoft.com/office/drawing/2014/main" id="{3C01F4DF-A6AD-0F6A-BE98-E155FA33E52D}"/>
              </a:ext>
            </a:extLst>
          </p:cNvPr>
          <p:cNvSpPr>
            <a:spLocks noGrp="1"/>
          </p:cNvSpPr>
          <p:nvPr>
            <p:ph idx="1"/>
          </p:nvPr>
        </p:nvSpPr>
        <p:spPr/>
        <p:txBody>
          <a:bodyPr>
            <a:noAutofit/>
          </a:bodyPr>
          <a:lstStyle/>
          <a:p>
            <a:r>
              <a:rPr lang="en-IN" sz="2200" b="1" dirty="0">
                <a:latin typeface="Times New Roman" panose="02020603050405020304" pitchFamily="18" charset="0"/>
                <a:cs typeface="Times New Roman" panose="02020603050405020304" pitchFamily="18" charset="0"/>
              </a:rPr>
              <a:t>config.py</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Central settings file — model names, thresholds, dataset paths.</a:t>
            </a:r>
          </a:p>
          <a:p>
            <a:r>
              <a:rPr lang="en-IN" sz="2200" b="1" dirty="0">
                <a:latin typeface="Times New Roman" panose="02020603050405020304" pitchFamily="18" charset="0"/>
                <a:cs typeface="Times New Roman" panose="02020603050405020304" pitchFamily="18" charset="0"/>
              </a:rPr>
              <a:t>data_loader.py</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Loads corpus and QA data; uses synthetic data until real datasets are added.</a:t>
            </a:r>
          </a:p>
          <a:p>
            <a:r>
              <a:rPr lang="en-IN" sz="2200" b="1" dirty="0">
                <a:latin typeface="Times New Roman" panose="02020603050405020304" pitchFamily="18" charset="0"/>
                <a:cs typeface="Times New Roman" panose="02020603050405020304" pitchFamily="18" charset="0"/>
              </a:rPr>
              <a:t>retriever.py</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Finds relevant evidence documents using embedding similarity search.</a:t>
            </a:r>
          </a:p>
          <a:p>
            <a:r>
              <a:rPr lang="en-IN" sz="2200" b="1" dirty="0">
                <a:latin typeface="Times New Roman" panose="02020603050405020304" pitchFamily="18" charset="0"/>
                <a:cs typeface="Times New Roman" panose="02020603050405020304" pitchFamily="18" charset="0"/>
              </a:rPr>
              <a:t>generator.py</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Drafts an answer from the retrieved evidence.</a:t>
            </a:r>
          </a:p>
          <a:p>
            <a:r>
              <a:rPr lang="en-IN" sz="2200" b="1" dirty="0">
                <a:latin typeface="Times New Roman" panose="02020603050405020304" pitchFamily="18" charset="0"/>
                <a:cs typeface="Times New Roman" panose="02020603050405020304" pitchFamily="18" charset="0"/>
              </a:rPr>
              <a:t>sentence_splitter.py</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Breaks the generated answer into individual sentences.</a:t>
            </a:r>
          </a:p>
          <a:p>
            <a:r>
              <a:rPr lang="en-IN" sz="2200" b="1" dirty="0">
                <a:latin typeface="Times New Roman" panose="02020603050405020304" pitchFamily="18" charset="0"/>
                <a:cs typeface="Times New Roman" panose="02020603050405020304" pitchFamily="18" charset="0"/>
              </a:rPr>
              <a:t>nli_verifier.py</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Checks each sentence against evidence using an NLI model.</a:t>
            </a:r>
          </a:p>
          <a:p>
            <a:endParaRPr lang="en-IN"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543808A-1983-9DB9-EDCF-BE4B8C239B45}"/>
              </a:ext>
            </a:extLst>
          </p:cNvPr>
          <p:cNvSpPr>
            <a:spLocks noGrp="1"/>
          </p:cNvSpPr>
          <p:nvPr>
            <p:ph type="sldNum" sz="quarter" idx="12"/>
          </p:nvPr>
        </p:nvSpPr>
        <p:spPr/>
        <p:txBody>
          <a:bodyPr/>
          <a:lstStyle/>
          <a:p>
            <a:fld id="{C02A2637-A5A3-49FA-B214-6E67543099EF}" type="slidenum">
              <a:rPr lang="en-US" smtClean="0"/>
              <a:t>14</a:t>
            </a:fld>
            <a:endParaRPr lang="en-US"/>
          </a:p>
        </p:txBody>
      </p:sp>
    </p:spTree>
    <p:extLst>
      <p:ext uri="{BB962C8B-B14F-4D97-AF65-F5344CB8AC3E}">
        <p14:creationId xmlns:p14="http://schemas.microsoft.com/office/powerpoint/2010/main" val="4148759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BF5EF-EDDF-D9AC-B72B-041767A07E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8D89E-632D-6DC8-BE1A-EB0BF411DE87}"/>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8. DEVELOPMENT &amp; INTEGRATION</a:t>
            </a:r>
          </a:p>
        </p:txBody>
      </p:sp>
      <p:sp>
        <p:nvSpPr>
          <p:cNvPr id="3" name="Content Placeholder 2">
            <a:extLst>
              <a:ext uri="{FF2B5EF4-FFF2-40B4-BE49-F238E27FC236}">
                <a16:creationId xmlns:a16="http://schemas.microsoft.com/office/drawing/2014/main" id="{E2FA7609-5AA7-91B6-F52B-1E852BD3197A}"/>
              </a:ext>
            </a:extLst>
          </p:cNvPr>
          <p:cNvSpPr>
            <a:spLocks noGrp="1"/>
          </p:cNvSpPr>
          <p:nvPr>
            <p:ph idx="1"/>
          </p:nvPr>
        </p:nvSpPr>
        <p:spPr/>
        <p:txBody>
          <a:bodyPr>
            <a:noAutofit/>
          </a:bodyPr>
          <a:lstStyle/>
          <a:p>
            <a:r>
              <a:rPr lang="en-IN" sz="2200" b="1" dirty="0">
                <a:latin typeface="Times New Roman" panose="02020603050405020304" pitchFamily="18" charset="0"/>
                <a:cs typeface="Times New Roman" panose="02020603050405020304" pitchFamily="18" charset="0"/>
              </a:rPr>
              <a:t>abstention.py</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Decides Display / Suppress / Re-retrieve / Flag for each sentence.</a:t>
            </a:r>
          </a:p>
          <a:p>
            <a:r>
              <a:rPr lang="en-IN" sz="2200" b="1" dirty="0">
                <a:latin typeface="Times New Roman" panose="02020603050405020304" pitchFamily="18" charset="0"/>
                <a:cs typeface="Times New Roman" panose="02020603050405020304" pitchFamily="18" charset="0"/>
              </a:rPr>
              <a:t>pipeline.py</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Runs the full flow end-to-end: retrieve → generate → verify → decide.</a:t>
            </a:r>
          </a:p>
          <a:p>
            <a:r>
              <a:rPr lang="en-IN" sz="2200" b="1" dirty="0">
                <a:latin typeface="Times New Roman" panose="02020603050405020304" pitchFamily="18" charset="0"/>
                <a:cs typeface="Times New Roman" panose="02020603050405020304" pitchFamily="18" charset="0"/>
              </a:rPr>
              <a:t>evaluate.py</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Computes hallucination rate, precision, recall, and false abstention rate.</a:t>
            </a:r>
          </a:p>
          <a:p>
            <a:r>
              <a:rPr lang="en-IN" sz="2200" b="1" dirty="0">
                <a:latin typeface="Times New Roman" panose="02020603050405020304" pitchFamily="18" charset="0"/>
                <a:cs typeface="Times New Roman" panose="02020603050405020304" pitchFamily="18" charset="0"/>
              </a:rPr>
              <a:t>main.py</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Runs the demo from the command line.</a:t>
            </a: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583740B-1D92-B62D-016A-1E64DF63DB4D}"/>
              </a:ext>
            </a:extLst>
          </p:cNvPr>
          <p:cNvSpPr>
            <a:spLocks noGrp="1"/>
          </p:cNvSpPr>
          <p:nvPr>
            <p:ph type="sldNum" sz="quarter" idx="12"/>
          </p:nvPr>
        </p:nvSpPr>
        <p:spPr/>
        <p:txBody>
          <a:bodyPr/>
          <a:lstStyle/>
          <a:p>
            <a:fld id="{C02A2637-A5A3-49FA-B214-6E67543099EF}" type="slidenum">
              <a:rPr lang="en-US" smtClean="0"/>
              <a:t>15</a:t>
            </a:fld>
            <a:endParaRPr lang="en-US"/>
          </a:p>
        </p:txBody>
      </p:sp>
    </p:spTree>
    <p:extLst>
      <p:ext uri="{BB962C8B-B14F-4D97-AF65-F5344CB8AC3E}">
        <p14:creationId xmlns:p14="http://schemas.microsoft.com/office/powerpoint/2010/main" val="2302794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9962A-4883-C325-B3F7-D4B587AB8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D62EDB-BEEB-88ED-C26B-06FB9603A5A6}"/>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8. DEVELOPMENT &amp; INTEGRATION</a:t>
            </a:r>
          </a:p>
        </p:txBody>
      </p:sp>
      <p:graphicFrame>
        <p:nvGraphicFramePr>
          <p:cNvPr id="5" name="Content Placeholder 4">
            <a:extLst>
              <a:ext uri="{FF2B5EF4-FFF2-40B4-BE49-F238E27FC236}">
                <a16:creationId xmlns:a16="http://schemas.microsoft.com/office/drawing/2014/main" id="{76FCF00D-BBB6-5430-60DF-E3319BD76C5F}"/>
              </a:ext>
            </a:extLst>
          </p:cNvPr>
          <p:cNvGraphicFramePr>
            <a:graphicFrameLocks noGrp="1"/>
          </p:cNvGraphicFramePr>
          <p:nvPr>
            <p:ph idx="1"/>
            <p:extLst>
              <p:ext uri="{D42A27DB-BD31-4B8C-83A1-F6EECF244321}">
                <p14:modId xmlns:p14="http://schemas.microsoft.com/office/powerpoint/2010/main" val="1044977302"/>
              </p:ext>
            </p:extLst>
          </p:nvPr>
        </p:nvGraphicFramePr>
        <p:xfrm>
          <a:off x="639763" y="1905000"/>
          <a:ext cx="11522074" cy="4419597"/>
        </p:xfrm>
        <a:graphic>
          <a:graphicData uri="http://schemas.openxmlformats.org/drawingml/2006/table">
            <a:tbl>
              <a:tblPr>
                <a:tableStyleId>{5C22544A-7EE6-4342-B048-85BDC9FD1C3A}</a:tableStyleId>
              </a:tblPr>
              <a:tblGrid>
                <a:gridCol w="3627437">
                  <a:extLst>
                    <a:ext uri="{9D8B030D-6E8A-4147-A177-3AD203B41FA5}">
                      <a16:colId xmlns:a16="http://schemas.microsoft.com/office/drawing/2014/main" val="1677715226"/>
                    </a:ext>
                  </a:extLst>
                </a:gridCol>
                <a:gridCol w="7894637">
                  <a:extLst>
                    <a:ext uri="{9D8B030D-6E8A-4147-A177-3AD203B41FA5}">
                      <a16:colId xmlns:a16="http://schemas.microsoft.com/office/drawing/2014/main" val="3919498096"/>
                    </a:ext>
                  </a:extLst>
                </a:gridCol>
              </a:tblGrid>
              <a:tr h="598917">
                <a:tc>
                  <a:txBody>
                    <a:bodyPr/>
                    <a:lstStyle/>
                    <a:p>
                      <a:pPr>
                        <a:buNone/>
                      </a:pPr>
                      <a:r>
                        <a:rPr lang="en-IN" sz="2300" dirty="0" err="1">
                          <a:latin typeface="Times New Roman" panose="02020603050405020304" pitchFamily="18" charset="0"/>
                          <a:cs typeface="Times New Roman" panose="02020603050405020304" pitchFamily="18" charset="0"/>
                        </a:rPr>
                        <a:t>Metrica</a:t>
                      </a:r>
                      <a:endParaRPr lang="en-IN" sz="2300" dirty="0">
                        <a:latin typeface="Times New Roman" panose="02020603050405020304" pitchFamily="18" charset="0"/>
                        <a:cs typeface="Times New Roman" panose="02020603050405020304" pitchFamily="18" charset="0"/>
                      </a:endParaRPr>
                    </a:p>
                  </a:txBody>
                  <a:tcPr anchor="ctr">
                    <a:solidFill>
                      <a:schemeClr val="tx2">
                        <a:lumMod val="20000"/>
                        <a:lumOff val="80000"/>
                      </a:schemeClr>
                    </a:solidFill>
                  </a:tcPr>
                </a:tc>
                <a:tc>
                  <a:txBody>
                    <a:bodyPr/>
                    <a:lstStyle/>
                    <a:p>
                      <a:pPr>
                        <a:buNone/>
                      </a:pPr>
                      <a:r>
                        <a:rPr lang="en-IN" sz="2300" dirty="0">
                          <a:latin typeface="Times New Roman" panose="02020603050405020304" pitchFamily="18" charset="0"/>
                          <a:cs typeface="Times New Roman" panose="02020603050405020304" pitchFamily="18" charset="0"/>
                        </a:rPr>
                        <a:t>What it Measures</a:t>
                      </a:r>
                    </a:p>
                  </a:txBody>
                  <a:tcPr anchor="ctr">
                    <a:solidFill>
                      <a:schemeClr val="tx2">
                        <a:lumMod val="20000"/>
                        <a:lumOff val="80000"/>
                      </a:schemeClr>
                    </a:solidFill>
                  </a:tcPr>
                </a:tc>
                <a:extLst>
                  <a:ext uri="{0D108BD9-81ED-4DB2-BD59-A6C34878D82A}">
                    <a16:rowId xmlns:a16="http://schemas.microsoft.com/office/drawing/2014/main" val="3608655042"/>
                  </a:ext>
                </a:extLst>
              </a:tr>
              <a:tr h="1073921">
                <a:tc>
                  <a:txBody>
                    <a:bodyPr/>
                    <a:lstStyle/>
                    <a:p>
                      <a:pPr>
                        <a:buNone/>
                      </a:pPr>
                      <a:r>
                        <a:rPr lang="en-IN" sz="2300">
                          <a:latin typeface="Times New Roman" panose="02020603050405020304" pitchFamily="18" charset="0"/>
                          <a:cs typeface="Times New Roman" panose="02020603050405020304" pitchFamily="18" charset="0"/>
                        </a:rPr>
                        <a:t>Hallucination Rate</a:t>
                      </a:r>
                    </a:p>
                  </a:txBody>
                  <a:tcPr anchor="ctr"/>
                </a:tc>
                <a:tc>
                  <a:txBody>
                    <a:bodyPr/>
                    <a:lstStyle/>
                    <a:p>
                      <a:pPr>
                        <a:buNone/>
                      </a:pPr>
                      <a:r>
                        <a:rPr lang="en-IN" sz="2300">
                          <a:latin typeface="Times New Roman" panose="02020603050405020304" pitchFamily="18" charset="0"/>
                          <a:cs typeface="Times New Roman" panose="02020603050405020304" pitchFamily="18" charset="0"/>
                        </a:rPr>
                        <a:t>% of generated sentences that are hallucinated</a:t>
                      </a:r>
                    </a:p>
                  </a:txBody>
                  <a:tcPr anchor="ctr"/>
                </a:tc>
                <a:extLst>
                  <a:ext uri="{0D108BD9-81ED-4DB2-BD59-A6C34878D82A}">
                    <a16:rowId xmlns:a16="http://schemas.microsoft.com/office/drawing/2014/main" val="2216503462"/>
                  </a:ext>
                </a:extLst>
              </a:tr>
              <a:tr h="1073921">
                <a:tc>
                  <a:txBody>
                    <a:bodyPr/>
                    <a:lstStyle/>
                    <a:p>
                      <a:pPr>
                        <a:buNone/>
                      </a:pPr>
                      <a:r>
                        <a:rPr lang="en-IN" sz="2300">
                          <a:latin typeface="Times New Roman" panose="02020603050405020304" pitchFamily="18" charset="0"/>
                          <a:cs typeface="Times New Roman" panose="02020603050405020304" pitchFamily="18" charset="0"/>
                        </a:rPr>
                        <a:t>Precision</a:t>
                      </a:r>
                    </a:p>
                  </a:txBody>
                  <a:tcPr anchor="ctr"/>
                </a:tc>
                <a:tc>
                  <a:txBody>
                    <a:bodyPr/>
                    <a:lstStyle/>
                    <a:p>
                      <a:pPr>
                        <a:buNone/>
                      </a:pPr>
                      <a:r>
                        <a:rPr lang="en-IN" sz="2300">
                          <a:latin typeface="Times New Roman" panose="02020603050405020304" pitchFamily="18" charset="0"/>
                          <a:cs typeface="Times New Roman" panose="02020603050405020304" pitchFamily="18" charset="0"/>
                        </a:rPr>
                        <a:t>% of flagged sentences that were truly hallucinated</a:t>
                      </a:r>
                    </a:p>
                  </a:txBody>
                  <a:tcPr anchor="ctr"/>
                </a:tc>
                <a:extLst>
                  <a:ext uri="{0D108BD9-81ED-4DB2-BD59-A6C34878D82A}">
                    <a16:rowId xmlns:a16="http://schemas.microsoft.com/office/drawing/2014/main" val="4185592921"/>
                  </a:ext>
                </a:extLst>
              </a:tr>
              <a:tr h="598917">
                <a:tc>
                  <a:txBody>
                    <a:bodyPr/>
                    <a:lstStyle/>
                    <a:p>
                      <a:pPr>
                        <a:buNone/>
                      </a:pPr>
                      <a:r>
                        <a:rPr lang="en-IN" sz="2300">
                          <a:latin typeface="Times New Roman" panose="02020603050405020304" pitchFamily="18" charset="0"/>
                          <a:cs typeface="Times New Roman" panose="02020603050405020304" pitchFamily="18" charset="0"/>
                        </a:rPr>
                        <a:t>Recall</a:t>
                      </a:r>
                    </a:p>
                  </a:txBody>
                  <a:tcPr anchor="ctr"/>
                </a:tc>
                <a:tc>
                  <a:txBody>
                    <a:bodyPr/>
                    <a:lstStyle/>
                    <a:p>
                      <a:pPr>
                        <a:buNone/>
                      </a:pPr>
                      <a:r>
                        <a:rPr lang="en-IN" sz="2300">
                          <a:latin typeface="Times New Roman" panose="02020603050405020304" pitchFamily="18" charset="0"/>
                          <a:cs typeface="Times New Roman" panose="02020603050405020304" pitchFamily="18" charset="0"/>
                        </a:rPr>
                        <a:t>% of true hallucinations that were caught</a:t>
                      </a:r>
                    </a:p>
                  </a:txBody>
                  <a:tcPr anchor="ctr"/>
                </a:tc>
                <a:extLst>
                  <a:ext uri="{0D108BD9-81ED-4DB2-BD59-A6C34878D82A}">
                    <a16:rowId xmlns:a16="http://schemas.microsoft.com/office/drawing/2014/main" val="174723944"/>
                  </a:ext>
                </a:extLst>
              </a:tr>
              <a:tr h="1073921">
                <a:tc>
                  <a:txBody>
                    <a:bodyPr/>
                    <a:lstStyle/>
                    <a:p>
                      <a:pPr>
                        <a:buNone/>
                      </a:pPr>
                      <a:r>
                        <a:rPr lang="en-IN" sz="2300" dirty="0">
                          <a:latin typeface="Times New Roman" panose="02020603050405020304" pitchFamily="18" charset="0"/>
                          <a:cs typeface="Times New Roman" panose="02020603050405020304" pitchFamily="18" charset="0"/>
                        </a:rPr>
                        <a:t>False Abstention Rate</a:t>
                      </a:r>
                    </a:p>
                  </a:txBody>
                  <a:tcPr anchor="ctr"/>
                </a:tc>
                <a:tc>
                  <a:txBody>
                    <a:bodyPr/>
                    <a:lstStyle/>
                    <a:p>
                      <a:pPr>
                        <a:buNone/>
                      </a:pPr>
                      <a:r>
                        <a:rPr lang="en-IN" sz="2300" dirty="0">
                          <a:latin typeface="Times New Roman" panose="02020603050405020304" pitchFamily="18" charset="0"/>
                          <a:cs typeface="Times New Roman" panose="02020603050405020304" pitchFamily="18" charset="0"/>
                        </a:rPr>
                        <a:t>% of correct sentences wrongly flagged/suppressed</a:t>
                      </a:r>
                    </a:p>
                  </a:txBody>
                  <a:tcPr anchor="ctr"/>
                </a:tc>
                <a:extLst>
                  <a:ext uri="{0D108BD9-81ED-4DB2-BD59-A6C34878D82A}">
                    <a16:rowId xmlns:a16="http://schemas.microsoft.com/office/drawing/2014/main" val="3198255990"/>
                  </a:ext>
                </a:extLst>
              </a:tr>
            </a:tbl>
          </a:graphicData>
        </a:graphic>
      </p:graphicFrame>
      <p:sp>
        <p:nvSpPr>
          <p:cNvPr id="4" name="Slide Number Placeholder 3">
            <a:extLst>
              <a:ext uri="{FF2B5EF4-FFF2-40B4-BE49-F238E27FC236}">
                <a16:creationId xmlns:a16="http://schemas.microsoft.com/office/drawing/2014/main" id="{3E2A8AA4-F568-3C02-501D-14F2E81A17C9}"/>
              </a:ext>
            </a:extLst>
          </p:cNvPr>
          <p:cNvSpPr>
            <a:spLocks noGrp="1"/>
          </p:cNvSpPr>
          <p:nvPr>
            <p:ph type="sldNum" sz="quarter" idx="12"/>
          </p:nvPr>
        </p:nvSpPr>
        <p:spPr/>
        <p:txBody>
          <a:bodyPr/>
          <a:lstStyle/>
          <a:p>
            <a:fld id="{C02A2637-A5A3-49FA-B214-6E67543099EF}" type="slidenum">
              <a:rPr lang="en-US" smtClean="0"/>
              <a:t>16</a:t>
            </a:fld>
            <a:endParaRPr lang="en-US"/>
          </a:p>
        </p:txBody>
      </p:sp>
    </p:spTree>
    <p:extLst>
      <p:ext uri="{BB962C8B-B14F-4D97-AF65-F5344CB8AC3E}">
        <p14:creationId xmlns:p14="http://schemas.microsoft.com/office/powerpoint/2010/main" val="580542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A0940-D5E0-55F2-C495-E45BE1760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C9BC9-DDD6-A8DB-4B0D-CABB87BF3E5B}"/>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8. DEVELOPMENT &amp; INTEGRATION</a:t>
            </a:r>
          </a:p>
        </p:txBody>
      </p:sp>
      <p:sp>
        <p:nvSpPr>
          <p:cNvPr id="3" name="Content Placeholder 2">
            <a:extLst>
              <a:ext uri="{FF2B5EF4-FFF2-40B4-BE49-F238E27FC236}">
                <a16:creationId xmlns:a16="http://schemas.microsoft.com/office/drawing/2014/main" id="{7AC207B6-E95F-EFB3-31EA-50262612D0E5}"/>
              </a:ext>
            </a:extLst>
          </p:cNvPr>
          <p:cNvSpPr>
            <a:spLocks noGrp="1"/>
          </p:cNvSpPr>
          <p:nvPr>
            <p:ph idx="1"/>
          </p:nvPr>
        </p:nvSpPr>
        <p:spPr/>
        <p:txBody>
          <a:bodyPr>
            <a:normAutofit/>
          </a:bodyPr>
          <a:lstStyle/>
          <a:p>
            <a:pPr marL="0" indent="0">
              <a:buNone/>
            </a:pPr>
            <a:r>
              <a:rPr lang="en-IN" sz="2200" b="1" dirty="0">
                <a:latin typeface="Times New Roman" panose="02020603050405020304" pitchFamily="18" charset="0"/>
                <a:cs typeface="Times New Roman" panose="02020603050405020304" pitchFamily="18" charset="0"/>
              </a:rPr>
              <a:t>Challenges &amp; Solutions</a:t>
            </a:r>
          </a:p>
          <a:p>
            <a:pPr lvl="0"/>
            <a:r>
              <a:rPr lang="en-IN" sz="2200" b="1" dirty="0">
                <a:latin typeface="Times New Roman" panose="02020603050405020304" pitchFamily="18" charset="0"/>
                <a:cs typeface="Times New Roman" panose="02020603050405020304" pitchFamily="18" charset="0"/>
              </a:rPr>
              <a:t>Challenge:</a:t>
            </a:r>
            <a:r>
              <a:rPr lang="en-IN" sz="2200" dirty="0">
                <a:latin typeface="Times New Roman" panose="02020603050405020304" pitchFamily="18" charset="0"/>
                <a:cs typeface="Times New Roman" panose="02020603050405020304" pitchFamily="18" charset="0"/>
              </a:rPr>
              <a:t> Hallucinated yet plausible responses.</a:t>
            </a:r>
            <a:br>
              <a:rPr lang="en-IN" sz="2200"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Solution:</a:t>
            </a:r>
            <a:r>
              <a:rPr lang="en-IN" sz="2200" dirty="0">
                <a:latin typeface="Times New Roman" panose="02020603050405020304" pitchFamily="18" charset="0"/>
                <a:cs typeface="Times New Roman" panose="02020603050405020304" pitchFamily="18" charset="0"/>
              </a:rPr>
              <a:t> Sentence-level NLI verification.</a:t>
            </a:r>
          </a:p>
          <a:p>
            <a:pPr lvl="0"/>
            <a:r>
              <a:rPr lang="en-IN" sz="2200" b="1" dirty="0">
                <a:latin typeface="Times New Roman" panose="02020603050405020304" pitchFamily="18" charset="0"/>
                <a:cs typeface="Times New Roman" panose="02020603050405020304" pitchFamily="18" charset="0"/>
              </a:rPr>
              <a:t>Challenge:</a:t>
            </a:r>
            <a:r>
              <a:rPr lang="en-IN" sz="2200" dirty="0">
                <a:latin typeface="Times New Roman" panose="02020603050405020304" pitchFamily="18" charset="0"/>
                <a:cs typeface="Times New Roman" panose="02020603050405020304" pitchFamily="18" charset="0"/>
              </a:rPr>
              <a:t> Incorrect or insufficient retrieved evidence.</a:t>
            </a:r>
            <a:br>
              <a:rPr lang="en-IN" sz="2200"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Solution:</a:t>
            </a:r>
            <a:r>
              <a:rPr lang="en-IN" sz="2200" dirty="0">
                <a:latin typeface="Times New Roman" panose="02020603050405020304" pitchFamily="18" charset="0"/>
                <a:cs typeface="Times New Roman" panose="02020603050405020304" pitchFamily="18" charset="0"/>
              </a:rPr>
              <a:t> Query reformulation and re-retrieval.</a:t>
            </a:r>
          </a:p>
          <a:p>
            <a:pPr lvl="0"/>
            <a:r>
              <a:rPr lang="en-IN" sz="2200" b="1" dirty="0">
                <a:latin typeface="Times New Roman" panose="02020603050405020304" pitchFamily="18" charset="0"/>
                <a:cs typeface="Times New Roman" panose="02020603050405020304" pitchFamily="18" charset="0"/>
              </a:rPr>
              <a:t>Challenge:</a:t>
            </a:r>
            <a:r>
              <a:rPr lang="en-IN" sz="2200" dirty="0">
                <a:latin typeface="Times New Roman" panose="02020603050405020304" pitchFamily="18" charset="0"/>
                <a:cs typeface="Times New Roman" panose="02020603050405020304" pitchFamily="18" charset="0"/>
              </a:rPr>
              <a:t> Balancing reliability and answer coverage.</a:t>
            </a:r>
            <a:br>
              <a:rPr lang="en-IN" sz="2200"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Solution:</a:t>
            </a:r>
            <a:r>
              <a:rPr lang="en-IN" sz="2200" dirty="0">
                <a:latin typeface="Times New Roman" panose="02020603050405020304" pitchFamily="18" charset="0"/>
                <a:cs typeface="Times New Roman" panose="02020603050405020304" pitchFamily="18" charset="0"/>
              </a:rPr>
              <a:t> Tiered abstention instead of binary refusal.</a:t>
            </a:r>
          </a:p>
          <a:p>
            <a:endParaRPr lang="en-US" sz="2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079DA86-CA05-636E-BF86-D0D87C9345DA}"/>
              </a:ext>
            </a:extLst>
          </p:cNvPr>
          <p:cNvSpPr>
            <a:spLocks noGrp="1"/>
          </p:cNvSpPr>
          <p:nvPr>
            <p:ph type="sldNum" sz="quarter" idx="12"/>
          </p:nvPr>
        </p:nvSpPr>
        <p:spPr/>
        <p:txBody>
          <a:bodyPr/>
          <a:lstStyle/>
          <a:p>
            <a:fld id="{C02A2637-A5A3-49FA-B214-6E67543099EF}" type="slidenum">
              <a:rPr lang="en-US" smtClean="0"/>
              <a:t>17</a:t>
            </a:fld>
            <a:endParaRPr lang="en-US"/>
          </a:p>
        </p:txBody>
      </p:sp>
    </p:spTree>
    <p:extLst>
      <p:ext uri="{BB962C8B-B14F-4D97-AF65-F5344CB8AC3E}">
        <p14:creationId xmlns:p14="http://schemas.microsoft.com/office/powerpoint/2010/main" val="2979400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411480" y="146304"/>
            <a:ext cx="11338560" cy="594360"/>
          </a:xfrm>
          <a:prstGeom prst="rect">
            <a:avLst/>
          </a:prstGeom>
          <a:noFill/>
          <a:ln/>
        </p:spPr>
        <p:txBody>
          <a:bodyPr wrap="square" lIns="0" tIns="0" rIns="0" bIns="0" rtlCol="0" anchor="ctr"/>
          <a:lstStyle/>
          <a:p>
            <a:pPr marL="0" indent="0" algn="ctr">
              <a:buNone/>
            </a:pPr>
            <a:r>
              <a:rPr lang="en-US" sz="2700" b="1" dirty="0">
                <a:solidFill>
                  <a:srgbClr val="FFFFFF"/>
                </a:solidFill>
                <a:latin typeface="Times New Roman"/>
              </a:rPr>
              <a:t>MedHallu</a:t>
            </a:r>
            <a:endParaRPr lang="en-US" sz="1600" dirty="0"/>
          </a:p>
        </p:txBody>
      </p:sp>
      <p:sp>
        <p:nvSpPr>
          <p:cNvPr id="6" name="Text 4"/>
          <p:cNvSpPr/>
          <p:nvPr/>
        </p:nvSpPr>
        <p:spPr>
          <a:xfrm>
            <a:off x="685800" y="1600200"/>
            <a:ext cx="3840480" cy="457200"/>
          </a:xfrm>
          <a:prstGeom prst="rect">
            <a:avLst/>
          </a:prstGeom>
          <a:noFill/>
          <a:ln/>
        </p:spPr>
        <p:txBody>
          <a:bodyPr wrap="square" lIns="0" tIns="0" rIns="0" bIns="0" rtlCol="0" anchor="ctr"/>
          <a:lstStyle/>
          <a:p>
            <a:pPr marL="0" indent="0" algn="l">
              <a:spcAft>
                <a:spcPts val="800"/>
              </a:spcAft>
              <a:buNone/>
              <a:defRPr sz="1800">
                <a:latin typeface="Times New Roman"/>
              </a:defRPr>
            </a:pPr>
            <a:r>
              <a:rPr lang="en-US" sz="1800" b="1" dirty="0" err="1">
                <a:solidFill>
                  <a:srgbClr val="232323"/>
                </a:solidFill>
                <a:latin typeface="Times New Roman"/>
              </a:rPr>
              <a:t>MedHallu</a:t>
            </a:r>
            <a:endParaRPr lang="en-US" sz="1800" b="1" dirty="0">
              <a:solidFill>
                <a:srgbClr val="232323"/>
              </a:solidFill>
              <a:latin typeface="Times New Roman"/>
            </a:endParaRPr>
          </a:p>
          <a:p>
            <a:pPr marL="0" indent="0" algn="l">
              <a:spcAft>
                <a:spcPts val="800"/>
              </a:spcAft>
              <a:buNone/>
              <a:defRPr sz="1800">
                <a:latin typeface="Times New Roman"/>
              </a:defRPr>
            </a:pPr>
            <a:r>
              <a:rPr lang="en-US" sz="1800" i="1" dirty="0">
                <a:solidFill>
                  <a:srgbClr val="232323"/>
                </a:solidFill>
                <a:latin typeface="Times New Roman"/>
              </a:rPr>
              <a:t>Primary — sentence-level hallucination labels</a:t>
            </a:r>
            <a:endParaRPr lang="en-US" sz="1050" dirty="0"/>
          </a:p>
        </p:txBody>
      </p:sp>
      <p:sp>
        <p:nvSpPr>
          <p:cNvPr id="7" name="Text 5"/>
          <p:cNvSpPr/>
          <p:nvPr/>
        </p:nvSpPr>
        <p:spPr>
          <a:xfrm>
            <a:off x="685800" y="2423160"/>
            <a:ext cx="3840480" cy="274320"/>
          </a:xfrm>
          <a:prstGeom prst="rect">
            <a:avLst/>
          </a:prstGeom>
          <a:noFill/>
          <a:ln/>
        </p:spPr>
        <p:txBody>
          <a:bodyPr wrap="square" lIns="0" tIns="0" rIns="0" bIns="0" rtlCol="0" anchor="ctr"/>
          <a:lstStyle/>
          <a:p>
            <a:pPr marL="0" indent="0" algn="l">
              <a:spcAft>
                <a:spcPts val="800"/>
              </a:spcAft>
              <a:buNone/>
              <a:defRPr sz="1800">
                <a:latin typeface="Times New Roman"/>
              </a:defRPr>
            </a:pPr>
            <a:r>
              <a:rPr lang="en-US" sz="1800" dirty="0">
                <a:solidFill>
                  <a:srgbClr val="232323"/>
                </a:solidFill>
                <a:latin typeface="Times New Roman"/>
              </a:rPr>
              <a:t>arXiv:2502.14302</a:t>
            </a:r>
            <a:endParaRPr lang="en-US" sz="950" dirty="0"/>
          </a:p>
        </p:txBody>
      </p:sp>
      <p:sp>
        <p:nvSpPr>
          <p:cNvPr id="8" name="Text 6"/>
          <p:cNvSpPr/>
          <p:nvPr/>
        </p:nvSpPr>
        <p:spPr>
          <a:xfrm>
            <a:off x="4709160" y="1252728"/>
            <a:ext cx="6858000" cy="1051560"/>
          </a:xfrm>
          <a:prstGeom prst="rect">
            <a:avLst/>
          </a:prstGeom>
          <a:noFill/>
          <a:ln/>
        </p:spPr>
        <p:txBody>
          <a:bodyPr wrap="square" lIns="0" tIns="0" rIns="0" bIns="0" rtlCol="0" anchor="ctr"/>
          <a:lstStyle/>
          <a:p>
            <a:pPr marL="0" indent="0" algn="l">
              <a:spcAft>
                <a:spcPts val="800"/>
              </a:spcAft>
              <a:buNone/>
              <a:defRPr sz="1800">
                <a:latin typeface="Times New Roman"/>
              </a:defRPr>
            </a:pPr>
            <a:r>
              <a:rPr lang="en-US" sz="1800" dirty="0">
                <a:solidFill>
                  <a:srgbClr val="232323"/>
                </a:solidFill>
                <a:latin typeface="Times New Roman"/>
              </a:rPr>
              <a:t>10,000 medical QA pairs derived from PubMedQA, each with a ground-truth answer and a systematically generated hallucinated answer, labeled by difficulty (easy/medium/hard) and hallucination category. Two splits: pqa_labeled (1,000 human-quality) and pqa_artificial (9,000). Free via Hugging Face datasets library.</a:t>
            </a:r>
          </a:p>
          <a:p>
            <a:pPr marL="0" indent="0" algn="l">
              <a:spcAft>
                <a:spcPts val="800"/>
              </a:spcAft>
              <a:buNone/>
              <a:defRPr sz="1800">
                <a:latin typeface="Times New Roman"/>
              </a:defRPr>
            </a:pPr>
            <a:endParaRPr lang="en-US" sz="1050" dirty="0"/>
          </a:p>
        </p:txBody>
      </p:sp>
      <p:sp>
        <p:nvSpPr>
          <p:cNvPr id="9" name="Text 7">
            <a:hlinkClick r:id="rId3"/>
          </p:cNvPr>
          <p:cNvSpPr/>
          <p:nvPr/>
        </p:nvSpPr>
        <p:spPr>
          <a:xfrm>
            <a:off x="4709160" y="2404872"/>
            <a:ext cx="6858000" cy="274320"/>
          </a:xfrm>
          <a:prstGeom prst="rect">
            <a:avLst/>
          </a:prstGeom>
          <a:noFill/>
          <a:ln/>
        </p:spPr>
        <p:txBody>
          <a:bodyPr wrap="square" lIns="0" tIns="0" rIns="0" bIns="0" rtlCol="0" anchor="ctr"/>
          <a:lstStyle/>
          <a:p>
            <a:pPr marL="0" indent="0" algn="l">
              <a:spcAft>
                <a:spcPts val="800"/>
              </a:spcAft>
              <a:buNone/>
              <a:defRPr sz="1800">
                <a:latin typeface="Times New Roman"/>
              </a:defRPr>
            </a:pPr>
            <a:r>
              <a:rPr lang="en-US" sz="1800" u="sng" dirty="0">
                <a:solidFill>
                  <a:srgbClr val="4472C4"/>
                </a:solidFill>
                <a:latin typeface="Times New Roman"/>
                <a:hlinkClick r:id="rId3">
                  <a:extLst>
                    <a:ext uri="{A12FA001-AC4F-418D-AE19-62706E023703}">
                      <ahyp:hlinkClr xmlns:ahyp="http://schemas.microsoft.com/office/drawing/2018/hyperlinkcolor" val="tx"/>
                    </a:ext>
                  </a:extLst>
                </a:hlinkClick>
              </a:rPr>
              <a:t>https://huggingface.co/datasets/UTAustin-AIHealth/MedHallu</a:t>
            </a:r>
            <a:endParaRPr lang="en-US" sz="950" dirty="0"/>
          </a:p>
        </p:txBody>
      </p:sp>
      <p:sp>
        <p:nvSpPr>
          <p:cNvPr id="10" name="Shape 8"/>
          <p:cNvSpPr/>
          <p:nvPr/>
        </p:nvSpPr>
        <p:spPr>
          <a:xfrm>
            <a:off x="457200" y="2752343"/>
            <a:ext cx="11274552" cy="1883665"/>
          </a:xfrm>
          <a:prstGeom prst="roundRect">
            <a:avLst>
              <a:gd name="adj" fmla="val 3333"/>
            </a:avLst>
          </a:prstGeom>
          <a:solidFill>
            <a:srgbClr val="F4F6F7"/>
          </a:solidFill>
          <a:ln/>
        </p:spPr>
        <p:txBody>
          <a:bodyPr/>
          <a:lstStyle/>
          <a:p>
            <a:endParaRPr dirty="0">
              <a:highlight>
                <a:srgbClr val="C6D9F1"/>
              </a:highlight>
            </a:endParaRPr>
          </a:p>
        </p:txBody>
      </p:sp>
      <p:sp>
        <p:nvSpPr>
          <p:cNvPr id="11" name="Text 9"/>
          <p:cNvSpPr/>
          <p:nvPr/>
        </p:nvSpPr>
        <p:spPr>
          <a:xfrm>
            <a:off x="685800" y="3044952"/>
            <a:ext cx="3840480" cy="365760"/>
          </a:xfrm>
          <a:prstGeom prst="rect">
            <a:avLst/>
          </a:prstGeom>
          <a:noFill/>
          <a:ln/>
        </p:spPr>
        <p:txBody>
          <a:bodyPr wrap="square" lIns="0" tIns="0" rIns="0" bIns="0" rtlCol="0" anchor="ctr"/>
          <a:lstStyle/>
          <a:p>
            <a:pPr marL="0" indent="0" algn="l">
              <a:spcAft>
                <a:spcPts val="800"/>
              </a:spcAft>
              <a:buNone/>
              <a:defRPr sz="1800">
                <a:latin typeface="Times New Roman"/>
              </a:defRPr>
            </a:pPr>
            <a:r>
              <a:rPr lang="en-US" sz="1800" b="1" dirty="0">
                <a:solidFill>
                  <a:srgbClr val="232323"/>
                </a:solidFill>
                <a:latin typeface="Times New Roman"/>
              </a:rPr>
              <a:t>MIRAGE / MedRAG Toolkit</a:t>
            </a:r>
            <a:endParaRPr lang="en-US" sz="1600" dirty="0"/>
          </a:p>
        </p:txBody>
      </p:sp>
      <p:sp>
        <p:nvSpPr>
          <p:cNvPr id="12" name="Text 10"/>
          <p:cNvSpPr/>
          <p:nvPr/>
        </p:nvSpPr>
        <p:spPr>
          <a:xfrm>
            <a:off x="685800" y="3383280"/>
            <a:ext cx="3840480" cy="457200"/>
          </a:xfrm>
          <a:prstGeom prst="rect">
            <a:avLst/>
          </a:prstGeom>
          <a:noFill/>
          <a:ln/>
        </p:spPr>
        <p:txBody>
          <a:bodyPr wrap="square" lIns="0" tIns="0" rIns="0" bIns="0" rtlCol="0" anchor="ctr"/>
          <a:lstStyle/>
          <a:p>
            <a:pPr marL="0" indent="0" algn="l">
              <a:spcAft>
                <a:spcPts val="800"/>
              </a:spcAft>
              <a:buNone/>
              <a:defRPr sz="1800">
                <a:latin typeface="Times New Roman"/>
              </a:defRPr>
            </a:pPr>
            <a:r>
              <a:rPr lang="en-US" sz="1800" i="1" dirty="0">
                <a:solidFill>
                  <a:srgbClr val="232323"/>
                </a:solidFill>
                <a:latin typeface="Times New Roman"/>
              </a:rPr>
              <a:t>Retrieval corpora + RAG pipeline components</a:t>
            </a:r>
            <a:endParaRPr lang="en-US" sz="1050" dirty="0"/>
          </a:p>
        </p:txBody>
      </p:sp>
      <p:sp>
        <p:nvSpPr>
          <p:cNvPr id="13" name="Text 11"/>
          <p:cNvSpPr/>
          <p:nvPr/>
        </p:nvSpPr>
        <p:spPr>
          <a:xfrm>
            <a:off x="685800" y="4206240"/>
            <a:ext cx="3840480" cy="274320"/>
          </a:xfrm>
          <a:prstGeom prst="rect">
            <a:avLst/>
          </a:prstGeom>
          <a:noFill/>
          <a:ln/>
        </p:spPr>
        <p:txBody>
          <a:bodyPr wrap="square" lIns="0" tIns="0" rIns="0" bIns="0" rtlCol="0" anchor="ctr"/>
          <a:lstStyle/>
          <a:p>
            <a:pPr marL="0" indent="0" algn="l">
              <a:spcAft>
                <a:spcPts val="800"/>
              </a:spcAft>
              <a:buNone/>
              <a:defRPr sz="1800">
                <a:latin typeface="Times New Roman"/>
              </a:defRPr>
            </a:pPr>
            <a:r>
              <a:rPr lang="en-US" sz="1800" dirty="0">
                <a:solidFill>
                  <a:srgbClr val="232323"/>
                </a:solidFill>
                <a:latin typeface="Times New Roman"/>
              </a:rPr>
              <a:t>arXiv:2402.13178</a:t>
            </a:r>
            <a:endParaRPr lang="en-US" sz="950" dirty="0"/>
          </a:p>
        </p:txBody>
      </p:sp>
      <p:sp>
        <p:nvSpPr>
          <p:cNvPr id="14" name="Text 12"/>
          <p:cNvSpPr/>
          <p:nvPr/>
        </p:nvSpPr>
        <p:spPr>
          <a:xfrm>
            <a:off x="4709160" y="3035808"/>
            <a:ext cx="6858000" cy="1051560"/>
          </a:xfrm>
          <a:prstGeom prst="rect">
            <a:avLst/>
          </a:prstGeom>
          <a:noFill/>
          <a:ln/>
        </p:spPr>
        <p:txBody>
          <a:bodyPr wrap="square" lIns="0" tIns="0" rIns="0" bIns="0" rtlCol="0" anchor="ctr"/>
          <a:lstStyle/>
          <a:p>
            <a:pPr marL="0" indent="0" algn="l">
              <a:spcAft>
                <a:spcPts val="800"/>
              </a:spcAft>
              <a:buNone/>
              <a:defRPr sz="1800">
                <a:latin typeface="Times New Roman"/>
              </a:defRPr>
            </a:pPr>
            <a:r>
              <a:rPr lang="en-US" sz="1800" dirty="0">
                <a:solidFill>
                  <a:srgbClr val="232323"/>
                </a:solidFill>
                <a:latin typeface="Times New Roman"/>
              </a:rPr>
              <a:t>7,663 medical QA questions across five benchmarks (MMLU-Med, MedQA-US, MedMCQA, PubMedQA*, BioASQ-Y/N), bundled with the MedRAG toolkit covering five corpora, four retrievers, and six LLMs. Used to build the retrieval half of the pipeline.</a:t>
            </a:r>
          </a:p>
          <a:p>
            <a:pPr marL="0" indent="0" algn="l">
              <a:spcAft>
                <a:spcPts val="800"/>
              </a:spcAft>
              <a:buNone/>
              <a:defRPr sz="1800">
                <a:latin typeface="Times New Roman"/>
              </a:defRPr>
            </a:pPr>
            <a:endParaRPr lang="en-US" sz="1050" dirty="0"/>
          </a:p>
        </p:txBody>
      </p:sp>
      <p:sp>
        <p:nvSpPr>
          <p:cNvPr id="15" name="Text 13">
            <a:hlinkClick r:id="rId4"/>
          </p:cNvPr>
          <p:cNvSpPr/>
          <p:nvPr/>
        </p:nvSpPr>
        <p:spPr>
          <a:xfrm>
            <a:off x="4709160" y="4187952"/>
            <a:ext cx="6858000" cy="274320"/>
          </a:xfrm>
          <a:prstGeom prst="rect">
            <a:avLst/>
          </a:prstGeom>
          <a:noFill/>
          <a:ln/>
        </p:spPr>
        <p:txBody>
          <a:bodyPr wrap="square" lIns="0" tIns="0" rIns="0" bIns="0" rtlCol="0" anchor="ctr"/>
          <a:lstStyle/>
          <a:p>
            <a:pPr marL="0" indent="0" algn="l">
              <a:spcAft>
                <a:spcPts val="800"/>
              </a:spcAft>
              <a:buNone/>
              <a:defRPr sz="1800">
                <a:latin typeface="Times New Roman"/>
              </a:defRPr>
            </a:pPr>
            <a:r>
              <a:rPr lang="en-US" sz="1800" u="sng" dirty="0">
                <a:solidFill>
                  <a:srgbClr val="4472C4"/>
                </a:solidFill>
                <a:latin typeface="Times New Roman"/>
                <a:hlinkClick r:id="rId4">
                  <a:extLst>
                    <a:ext uri="{A12FA001-AC4F-418D-AE19-62706E023703}">
                      <ahyp:hlinkClr xmlns:ahyp="http://schemas.microsoft.com/office/drawing/2018/hyperlinkcolor" val="tx"/>
                    </a:ext>
                  </a:extLst>
                </a:hlinkClick>
              </a:rPr>
              <a:t>https://github.com/Teddy-XiongGZ/MIRAGE  |  https://github.com/Teddy-XiongGZ/MedRAG</a:t>
            </a:r>
            <a:endParaRPr lang="en-US" sz="950" dirty="0"/>
          </a:p>
        </p:txBody>
      </p:sp>
      <p:sp>
        <p:nvSpPr>
          <p:cNvPr id="16" name="Shape 14"/>
          <p:cNvSpPr/>
          <p:nvPr/>
        </p:nvSpPr>
        <p:spPr>
          <a:xfrm>
            <a:off x="457200" y="4818888"/>
            <a:ext cx="11274552" cy="1709928"/>
          </a:xfrm>
          <a:prstGeom prst="roundRect">
            <a:avLst>
              <a:gd name="adj" fmla="val 3333"/>
            </a:avLst>
          </a:prstGeom>
          <a:solidFill>
            <a:srgbClr val="F4F6F7"/>
          </a:solidFill>
          <a:ln/>
        </p:spPr>
        <p:txBody>
          <a:bodyPr/>
          <a:lstStyle/>
          <a:p>
            <a:endParaRPr/>
          </a:p>
        </p:txBody>
      </p:sp>
      <p:sp>
        <p:nvSpPr>
          <p:cNvPr id="17" name="Text 15"/>
          <p:cNvSpPr/>
          <p:nvPr/>
        </p:nvSpPr>
        <p:spPr>
          <a:xfrm>
            <a:off x="685800" y="4828032"/>
            <a:ext cx="3840480" cy="365760"/>
          </a:xfrm>
          <a:prstGeom prst="rect">
            <a:avLst/>
          </a:prstGeom>
          <a:noFill/>
          <a:ln/>
        </p:spPr>
        <p:txBody>
          <a:bodyPr wrap="square" lIns="0" tIns="0" rIns="0" bIns="0" rtlCol="0" anchor="ctr"/>
          <a:lstStyle/>
          <a:p>
            <a:pPr marL="0" indent="0" algn="l">
              <a:spcAft>
                <a:spcPts val="800"/>
              </a:spcAft>
              <a:buNone/>
              <a:defRPr sz="1800">
                <a:latin typeface="Times New Roman"/>
              </a:defRPr>
            </a:pPr>
            <a:r>
              <a:rPr lang="en-US" sz="1800" b="1" dirty="0">
                <a:solidFill>
                  <a:srgbClr val="232323"/>
                </a:solidFill>
                <a:latin typeface="Times New Roman"/>
              </a:rPr>
              <a:t>PubMedQA (raw)</a:t>
            </a:r>
            <a:endParaRPr lang="en-US" sz="1600" dirty="0"/>
          </a:p>
        </p:txBody>
      </p:sp>
      <p:sp>
        <p:nvSpPr>
          <p:cNvPr id="18" name="Text 16"/>
          <p:cNvSpPr/>
          <p:nvPr/>
        </p:nvSpPr>
        <p:spPr>
          <a:xfrm>
            <a:off x="685800" y="5166360"/>
            <a:ext cx="3840480" cy="457200"/>
          </a:xfrm>
          <a:prstGeom prst="rect">
            <a:avLst/>
          </a:prstGeom>
          <a:noFill/>
          <a:ln/>
        </p:spPr>
        <p:txBody>
          <a:bodyPr wrap="square" lIns="0" tIns="0" rIns="0" bIns="0" rtlCol="0" anchor="ctr"/>
          <a:lstStyle/>
          <a:p>
            <a:pPr marL="0" indent="0" algn="l">
              <a:spcAft>
                <a:spcPts val="800"/>
              </a:spcAft>
              <a:buNone/>
              <a:defRPr sz="1800">
                <a:latin typeface="Times New Roman"/>
              </a:defRPr>
            </a:pPr>
            <a:r>
              <a:rPr lang="en-US" sz="1800" i="1" dirty="0">
                <a:solidFill>
                  <a:srgbClr val="232323"/>
                </a:solidFill>
                <a:latin typeface="Times New Roman"/>
              </a:rPr>
              <a:t>Ground-truth evidence for entailment/NLI checking</a:t>
            </a:r>
            <a:endParaRPr lang="en-US" sz="1050" dirty="0"/>
          </a:p>
        </p:txBody>
      </p:sp>
      <p:sp>
        <p:nvSpPr>
          <p:cNvPr id="19" name="Text 17"/>
          <p:cNvSpPr/>
          <p:nvPr/>
        </p:nvSpPr>
        <p:spPr>
          <a:xfrm>
            <a:off x="685800" y="5989320"/>
            <a:ext cx="3840480" cy="274320"/>
          </a:xfrm>
          <a:prstGeom prst="rect">
            <a:avLst/>
          </a:prstGeom>
          <a:noFill/>
          <a:ln/>
        </p:spPr>
        <p:txBody>
          <a:bodyPr wrap="square" lIns="0" tIns="0" rIns="0" bIns="0" rtlCol="0" anchor="ctr"/>
          <a:lstStyle/>
          <a:p>
            <a:pPr marL="0" indent="0" algn="l">
              <a:spcAft>
                <a:spcPts val="800"/>
              </a:spcAft>
              <a:buNone/>
              <a:defRPr sz="1800">
                <a:latin typeface="Times New Roman"/>
              </a:defRPr>
            </a:pPr>
            <a:r>
              <a:rPr lang="en-US" sz="1800" dirty="0">
                <a:solidFill>
                  <a:srgbClr val="232323"/>
                </a:solidFill>
                <a:latin typeface="Times New Roman"/>
              </a:rPr>
              <a:t>qiaojin/PubMedQA</a:t>
            </a:r>
            <a:endParaRPr lang="en-US" sz="950" dirty="0"/>
          </a:p>
        </p:txBody>
      </p:sp>
      <p:sp>
        <p:nvSpPr>
          <p:cNvPr id="20" name="Text 18"/>
          <p:cNvSpPr/>
          <p:nvPr/>
        </p:nvSpPr>
        <p:spPr>
          <a:xfrm>
            <a:off x="4709160" y="4818888"/>
            <a:ext cx="6858000" cy="1051560"/>
          </a:xfrm>
          <a:prstGeom prst="rect">
            <a:avLst/>
          </a:prstGeom>
          <a:noFill/>
          <a:ln/>
        </p:spPr>
        <p:txBody>
          <a:bodyPr wrap="square" lIns="0" tIns="0" rIns="0" bIns="0" rtlCol="0" anchor="ctr"/>
          <a:lstStyle/>
          <a:p>
            <a:pPr>
              <a:spcAft>
                <a:spcPts val="800"/>
              </a:spcAft>
              <a:defRPr sz="1800">
                <a:latin typeface="Times New Roman"/>
              </a:defRPr>
            </a:pPr>
            <a:r>
              <a:rPr lang="en-US" sz="1800" dirty="0">
                <a:solidFill>
                  <a:srgbClr val="232323"/>
                </a:solidFill>
                <a:latin typeface="Times New Roman"/>
              </a:rPr>
              <a:t>Original biomedical QA dataset with real PubMed abstracts as supporting context. Since </a:t>
            </a:r>
            <a:r>
              <a:rPr lang="en-US" sz="1800" dirty="0" err="1">
                <a:solidFill>
                  <a:srgbClr val="232323"/>
                </a:solidFill>
                <a:latin typeface="Times New Roman"/>
              </a:rPr>
              <a:t>MedHallu</a:t>
            </a:r>
            <a:r>
              <a:rPr lang="en-US" sz="1800" dirty="0">
                <a:solidFill>
                  <a:srgbClr val="232323"/>
                </a:solidFill>
                <a:latin typeface="Times New Roman"/>
              </a:rPr>
              <a:t> and MIRAGE are both derived from it, using the raw version provides authentic evidence passages to verify generated claims against. Free via Hugging Face.</a:t>
            </a:r>
            <a:endParaRPr lang="en-US" sz="1050" dirty="0"/>
          </a:p>
        </p:txBody>
      </p:sp>
      <p:sp>
        <p:nvSpPr>
          <p:cNvPr id="21" name="Text 19">
            <a:hlinkClick r:id="rId5"/>
          </p:cNvPr>
          <p:cNvSpPr/>
          <p:nvPr/>
        </p:nvSpPr>
        <p:spPr>
          <a:xfrm>
            <a:off x="4709160" y="5971032"/>
            <a:ext cx="6858000" cy="274320"/>
          </a:xfrm>
          <a:prstGeom prst="rect">
            <a:avLst/>
          </a:prstGeom>
          <a:noFill/>
          <a:ln/>
        </p:spPr>
        <p:txBody>
          <a:bodyPr wrap="square" lIns="0" tIns="0" rIns="0" bIns="0" rtlCol="0" anchor="ctr"/>
          <a:lstStyle/>
          <a:p>
            <a:pPr marL="0" indent="0" algn="l">
              <a:spcAft>
                <a:spcPts val="800"/>
              </a:spcAft>
              <a:buNone/>
              <a:defRPr sz="1800">
                <a:latin typeface="Times New Roman"/>
              </a:defRPr>
            </a:pPr>
            <a:r>
              <a:rPr lang="en-US" sz="1800" u="sng" dirty="0">
                <a:solidFill>
                  <a:srgbClr val="4472C4"/>
                </a:solidFill>
                <a:latin typeface="Times New Roman"/>
                <a:hlinkClick r:id="rId5">
                  <a:extLst>
                    <a:ext uri="{A12FA001-AC4F-418D-AE19-62706E023703}">
                      <ahyp:hlinkClr xmlns:ahyp="http://schemas.microsoft.com/office/drawing/2018/hyperlinkcolor" val="tx"/>
                    </a:ext>
                  </a:extLst>
                </a:hlinkClick>
              </a:rPr>
              <a:t>https://huggingface.co/datasets/qiaojin/PubMedQA</a:t>
            </a:r>
            <a:endParaRPr lang="en-US" sz="950" dirty="0"/>
          </a:p>
        </p:txBody>
      </p:sp>
      <p:sp>
        <p:nvSpPr>
          <p:cNvPr id="22" name="Rectangle 21"/>
          <p:cNvSpPr/>
          <p:nvPr/>
        </p:nvSpPr>
        <p:spPr>
          <a:xfrm>
            <a:off x="0" y="0"/>
            <a:ext cx="12801600" cy="969264"/>
          </a:xfrm>
          <a:prstGeom prst="rect">
            <a:avLst/>
          </a:prstGeom>
          <a:solidFill>
            <a:srgbClr val="538B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3600" b="1" dirty="0">
                <a:latin typeface="Times New Roman" panose="02020603050405020304" pitchFamily="18" charset="0"/>
                <a:cs typeface="Times New Roman" panose="02020603050405020304" pitchFamily="18" charset="0"/>
              </a:rPr>
              <a:t>9. DATASET USED</a:t>
            </a:r>
            <a:endParaRPr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6962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F5CFE-0475-3B85-B05F-B78BE647E2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0C2EA-FFDD-49C5-AE05-7C6901F21664}"/>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10. PROTOTYPE / RESEARCH FRAMEWORK</a:t>
            </a:r>
          </a:p>
        </p:txBody>
      </p:sp>
      <p:sp>
        <p:nvSpPr>
          <p:cNvPr id="3" name="Content Placeholder 2">
            <a:extLst>
              <a:ext uri="{FF2B5EF4-FFF2-40B4-BE49-F238E27FC236}">
                <a16:creationId xmlns:a16="http://schemas.microsoft.com/office/drawing/2014/main" id="{67C69253-CF8D-860D-CE31-04D728A9A98F}"/>
              </a:ext>
            </a:extLst>
          </p:cNvPr>
          <p:cNvSpPr>
            <a:spLocks noGrp="1"/>
          </p:cNvSpPr>
          <p:nvPr>
            <p:ph idx="1"/>
          </p:nvPr>
        </p:nvSpPr>
        <p:spPr>
          <a:xfrm>
            <a:off x="640080" y="1512146"/>
            <a:ext cx="11521440" cy="5022428"/>
          </a:xfrm>
        </p:spPr>
        <p:txBody>
          <a:bodyPr>
            <a:noAutofit/>
          </a:bodyPr>
          <a:lstStyle/>
          <a:p>
            <a:pPr marL="0" indent="0">
              <a:buNone/>
            </a:pPr>
            <a:r>
              <a:rPr lang="en-US" sz="2200" b="1" dirty="0">
                <a:latin typeface="Times New Roman" panose="02020603050405020304" pitchFamily="18" charset="0"/>
                <a:cs typeface="Times New Roman" panose="02020603050405020304" pitchFamily="18" charset="0"/>
              </a:rPr>
              <a:t>RESEARCH FRAMEWORK SETUP</a:t>
            </a:r>
            <a:endParaRPr lang="en-US" sz="2200"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 User submits a medical query to the RAG system.</a:t>
            </a:r>
          </a:p>
          <a:p>
            <a:pPr marL="0" indent="0">
              <a:buNone/>
            </a:pPr>
            <a:r>
              <a:rPr lang="en-US" sz="2200" dirty="0">
                <a:latin typeface="Times New Roman" panose="02020603050405020304" pitchFamily="18" charset="0"/>
                <a:cs typeface="Times New Roman" panose="02020603050405020304" pitchFamily="18" charset="0"/>
              </a:rPr>
              <a:t>• Relevant clinical documents are retrieved using vector/hybrid search.</a:t>
            </a:r>
          </a:p>
          <a:p>
            <a:pPr marL="0" indent="0">
              <a:buNone/>
            </a:pPr>
            <a:r>
              <a:rPr lang="en-US" sz="2200" dirty="0">
                <a:latin typeface="Times New Roman" panose="02020603050405020304" pitchFamily="18" charset="0"/>
                <a:cs typeface="Times New Roman" panose="02020603050405020304" pitchFamily="18" charset="0"/>
              </a:rPr>
              <a:t>• The LLM generates an evidence-grounded response from the retrieved context.</a:t>
            </a:r>
          </a:p>
          <a:p>
            <a:pPr marL="0" indent="0">
              <a:buNone/>
            </a:pPr>
            <a:r>
              <a:rPr lang="en-US" sz="2200" dirty="0">
                <a:latin typeface="Times New Roman" panose="02020603050405020304" pitchFamily="18" charset="0"/>
                <a:cs typeface="Times New Roman" panose="02020603050405020304" pitchFamily="18" charset="0"/>
              </a:rPr>
              <a:t>• The response is split into individual sentences or claims.</a:t>
            </a:r>
          </a:p>
          <a:p>
            <a:pPr marL="0" indent="0">
              <a:buNone/>
            </a:pPr>
            <a:r>
              <a:rPr lang="en-US" sz="2200" dirty="0">
                <a:latin typeface="Times New Roman" panose="02020603050405020304" pitchFamily="18" charset="0"/>
                <a:cs typeface="Times New Roman" panose="02020603050405020304" pitchFamily="18" charset="0"/>
              </a:rPr>
              <a:t>• Each claim is verified against the retrieved evidence using an NLI model.</a:t>
            </a:r>
          </a:p>
          <a:p>
            <a:pPr marL="0" indent="0">
              <a:buNone/>
            </a:pPr>
            <a:r>
              <a:rPr lang="en-US" sz="2200" dirty="0">
                <a:latin typeface="Times New Roman" panose="02020603050405020304" pitchFamily="18" charset="0"/>
                <a:cs typeface="Times New Roman" panose="02020603050405020304" pitchFamily="18" charset="0"/>
              </a:rPr>
              <a:t>• Based on the verification result, the system:</a:t>
            </a:r>
          </a:p>
          <a:p>
            <a:pPr marL="0" indent="0">
              <a:buNone/>
            </a:pPr>
            <a:r>
              <a:rPr lang="en-US" sz="2200" dirty="0">
                <a:latin typeface="Times New Roman" panose="02020603050405020304" pitchFamily="18" charset="0"/>
                <a:cs typeface="Times New Roman" panose="02020603050405020304" pitchFamily="18" charset="0"/>
              </a:rPr>
              <a:t>  – Displays supported sentences.</a:t>
            </a:r>
          </a:p>
          <a:p>
            <a:pPr marL="0" indent="0">
              <a:buNone/>
            </a:pPr>
            <a:r>
              <a:rPr lang="en-US" sz="2200" dirty="0">
                <a:latin typeface="Times New Roman" panose="02020603050405020304" pitchFamily="18" charset="0"/>
                <a:cs typeface="Times New Roman" panose="02020603050405020304" pitchFamily="18" charset="0"/>
              </a:rPr>
              <a:t>  – Suppresses contradicted or unsupported claims.</a:t>
            </a:r>
          </a:p>
          <a:p>
            <a:pPr marL="0" indent="0">
              <a:buNone/>
            </a:pPr>
            <a:r>
              <a:rPr lang="en-US" sz="2200" dirty="0">
                <a:latin typeface="Times New Roman" panose="02020603050405020304" pitchFamily="18" charset="0"/>
                <a:cs typeface="Times New Roman" panose="02020603050405020304" pitchFamily="18" charset="0"/>
              </a:rPr>
              <a:t>  – Performs re-retrieval when evidence is insufficient.</a:t>
            </a:r>
          </a:p>
          <a:p>
            <a:pPr marL="0" indent="0">
              <a:buNone/>
            </a:pPr>
            <a:r>
              <a:rPr lang="en-US" sz="2200" dirty="0">
                <a:latin typeface="Times New Roman" panose="02020603050405020304" pitchFamily="18" charset="0"/>
                <a:cs typeface="Times New Roman" panose="02020603050405020304" pitchFamily="18" charset="0"/>
              </a:rPr>
              <a:t>  – Flags uncertain content as unverified.</a:t>
            </a:r>
          </a:p>
          <a:p>
            <a:pPr marL="0" indent="0">
              <a:buNone/>
            </a:pPr>
            <a:r>
              <a:rPr lang="en-US" sz="2200" dirty="0">
                <a:latin typeface="Times New Roman" panose="02020603050405020304" pitchFamily="18" charset="0"/>
                <a:cs typeface="Times New Roman" panose="02020603050405020304" pitchFamily="18" charset="0"/>
              </a:rPr>
              <a:t>• The final verified response is presented to the user.</a:t>
            </a:r>
          </a:p>
          <a:p>
            <a:pPr marL="0" indent="0">
              <a:buNone/>
            </a:pPr>
            <a:r>
              <a:rPr lang="en-US" sz="2200" dirty="0">
                <a:latin typeface="Times New Roman" panose="02020603050405020304" pitchFamily="18" charset="0"/>
                <a:cs typeface="Times New Roman" panose="02020603050405020304" pitchFamily="18" charset="0"/>
              </a:rPr>
              <a:t>• The system is evaluated using MIRAGE, </a:t>
            </a:r>
            <a:r>
              <a:rPr lang="en-US" sz="2200" dirty="0" err="1">
                <a:latin typeface="Times New Roman" panose="02020603050405020304" pitchFamily="18" charset="0"/>
                <a:cs typeface="Times New Roman" panose="02020603050405020304" pitchFamily="18" charset="0"/>
              </a:rPr>
              <a:t>RAGCare</a:t>
            </a:r>
            <a:r>
              <a:rPr lang="en-US" sz="2200" dirty="0">
                <a:latin typeface="Times New Roman" panose="02020603050405020304" pitchFamily="18" charset="0"/>
                <a:cs typeface="Times New Roman" panose="02020603050405020304" pitchFamily="18" charset="0"/>
              </a:rPr>
              <a:t>-QA, and </a:t>
            </a:r>
            <a:r>
              <a:rPr lang="en-US" sz="2200" dirty="0" err="1">
                <a:latin typeface="Times New Roman" panose="02020603050405020304" pitchFamily="18" charset="0"/>
                <a:cs typeface="Times New Roman" panose="02020603050405020304" pitchFamily="18" charset="0"/>
              </a:rPr>
              <a:t>RAGTruth</a:t>
            </a:r>
            <a:r>
              <a:rPr lang="en-US" sz="2200" dirty="0">
                <a:latin typeface="Times New Roman" panose="02020603050405020304" pitchFamily="18" charset="0"/>
                <a:cs typeface="Times New Roman" panose="02020603050405020304" pitchFamily="18" charset="0"/>
              </a:rPr>
              <a:t> benchmarks.</a:t>
            </a:r>
            <a:endParaRPr lang="en-IN" sz="2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1EEEB21-EAE8-24B9-3953-DCF90309D6F6}"/>
              </a:ext>
            </a:extLst>
          </p:cNvPr>
          <p:cNvSpPr>
            <a:spLocks noGrp="1"/>
          </p:cNvSpPr>
          <p:nvPr>
            <p:ph type="sldNum" sz="quarter" idx="12"/>
          </p:nvPr>
        </p:nvSpPr>
        <p:spPr/>
        <p:txBody>
          <a:bodyPr/>
          <a:lstStyle/>
          <a:p>
            <a:fld id="{C02A2637-A5A3-49FA-B214-6E67543099EF}" type="slidenum">
              <a:rPr lang="en-US" smtClean="0"/>
              <a:t>19</a:t>
            </a:fld>
            <a:endParaRPr lang="en-US"/>
          </a:p>
        </p:txBody>
      </p:sp>
    </p:spTree>
    <p:extLst>
      <p:ext uri="{BB962C8B-B14F-4D97-AF65-F5344CB8AC3E}">
        <p14:creationId xmlns:p14="http://schemas.microsoft.com/office/powerpoint/2010/main" val="584425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B415F-784C-C90D-DEAB-0F577D3FE9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1B37C-A001-5A2B-7307-1BDF7F193189}"/>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REFERENCES </a:t>
            </a:r>
          </a:p>
        </p:txBody>
      </p:sp>
      <p:sp>
        <p:nvSpPr>
          <p:cNvPr id="4" name="Slide Number Placeholder 3">
            <a:extLst>
              <a:ext uri="{FF2B5EF4-FFF2-40B4-BE49-F238E27FC236}">
                <a16:creationId xmlns:a16="http://schemas.microsoft.com/office/drawing/2014/main" id="{D96A7CEE-8015-D395-AA50-72EBBFD9D619}"/>
              </a:ext>
            </a:extLst>
          </p:cNvPr>
          <p:cNvSpPr>
            <a:spLocks noGrp="1"/>
          </p:cNvSpPr>
          <p:nvPr>
            <p:ph type="sldNum" sz="quarter" idx="12"/>
          </p:nvPr>
        </p:nvSpPr>
        <p:spPr/>
        <p:txBody>
          <a:bodyPr/>
          <a:lstStyle/>
          <a:p>
            <a:fld id="{C02A2637-A5A3-49FA-B214-6E67543099EF}" type="slidenum">
              <a:rPr lang="en-US" smtClean="0"/>
              <a:t>20</a:t>
            </a:fld>
            <a:endParaRPr lang="en-US"/>
          </a:p>
        </p:txBody>
      </p:sp>
      <p:sp>
        <p:nvSpPr>
          <p:cNvPr id="8" name="Content Placeholder 7">
            <a:extLst>
              <a:ext uri="{FF2B5EF4-FFF2-40B4-BE49-F238E27FC236}">
                <a16:creationId xmlns:a16="http://schemas.microsoft.com/office/drawing/2014/main" id="{69D95E9D-703F-B1BE-695C-C2BC74C59227}"/>
              </a:ext>
            </a:extLst>
          </p:cNvPr>
          <p:cNvSpPr txBox="1">
            <a:spLocks noGrp="1"/>
          </p:cNvSpPr>
          <p:nvPr>
            <p:ph idx="1"/>
          </p:nvPr>
        </p:nvSpPr>
        <p:spPr>
          <a:xfrm>
            <a:off x="639763" y="1512888"/>
            <a:ext cx="11522075" cy="5286715"/>
          </a:xfrm>
          <a:prstGeom prst="rect">
            <a:avLst/>
          </a:prstGeom>
          <a:noFill/>
        </p:spPr>
        <p:txBody>
          <a:bodyPr wrap="square" lIns="109728" rIns="109728">
            <a:spAutoFit/>
          </a:bodyPr>
          <a:lstStyle/>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C. Niu, Y. Wu, J. Zhu, S. Xu, K. Shum, R. Zhong, J. Song, and T. Zhang, “</a:t>
            </a:r>
            <a:r>
              <a:rPr lang="en-IN" sz="2000" dirty="0" err="1">
                <a:latin typeface="Times New Roman" panose="02020603050405020304" pitchFamily="18" charset="0"/>
                <a:cs typeface="Times New Roman" panose="02020603050405020304" pitchFamily="18" charset="0"/>
              </a:rPr>
              <a:t>RAGTruth</a:t>
            </a:r>
            <a:r>
              <a:rPr lang="en-IN" sz="2000" dirty="0">
                <a:latin typeface="Times New Roman" panose="02020603050405020304" pitchFamily="18" charset="0"/>
                <a:cs typeface="Times New Roman" panose="02020603050405020304" pitchFamily="18" charset="0"/>
              </a:rPr>
              <a:t>: A Hallucination Corpus for Developing Trustworthy Retrieval-Augmented Language Models,” in </a:t>
            </a:r>
            <a:r>
              <a:rPr lang="en-IN" sz="2000" i="1" dirty="0">
                <a:latin typeface="Times New Roman" panose="02020603050405020304" pitchFamily="18" charset="0"/>
                <a:cs typeface="Times New Roman" panose="02020603050405020304" pitchFamily="18" charset="0"/>
              </a:rPr>
              <a:t>Proc. 62nd Annu. Meeting Assoc. </a:t>
            </a:r>
            <a:r>
              <a:rPr lang="en-IN" sz="2000" i="1" dirty="0" err="1">
                <a:latin typeface="Times New Roman" panose="02020603050405020304" pitchFamily="18" charset="0"/>
                <a:cs typeface="Times New Roman" panose="02020603050405020304" pitchFamily="18" charset="0"/>
              </a:rPr>
              <a:t>Comput</a:t>
            </a:r>
            <a:r>
              <a:rPr lang="en-IN" sz="2000" i="1" dirty="0">
                <a:latin typeface="Times New Roman" panose="02020603050405020304" pitchFamily="18" charset="0"/>
                <a:cs typeface="Times New Roman" panose="02020603050405020304" pitchFamily="18" charset="0"/>
              </a:rPr>
              <a:t>. Linguistics (ACL)</a:t>
            </a:r>
            <a:r>
              <a:rPr lang="en-IN" sz="2000" dirty="0">
                <a:latin typeface="Times New Roman" panose="02020603050405020304" pitchFamily="18" charset="0"/>
                <a:cs typeface="Times New Roman" panose="02020603050405020304" pitchFamily="18" charset="0"/>
              </a:rPr>
              <a:t>, vol. 1, 2024, pp. 10862–10878,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10.18653/v1/2024.acl-long.585. </a:t>
            </a:r>
            <a:r>
              <a:rPr lang="en-IN" sz="2000" dirty="0">
                <a:latin typeface="Times New Roman" panose="02020603050405020304" pitchFamily="18" charset="0"/>
                <a:cs typeface="Times New Roman" panose="02020603050405020304" pitchFamily="18" charset="0"/>
                <a:hlinkClick r:id="rId3"/>
              </a:rPr>
              <a:t>Paper Link</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Y. Liu, Q. Yang, J. Tang, T. Guo, C. Wang, P. Li, S. Xu, X. Gao, Z. Li, J. Liu, and Y. Wen, “Reducing Hallucinations of Large Language Models via Hierarchical Semantic Piece,” </a:t>
            </a:r>
            <a:r>
              <a:rPr lang="en-IN" sz="2000" i="1" dirty="0">
                <a:latin typeface="Times New Roman" panose="02020603050405020304" pitchFamily="18" charset="0"/>
                <a:cs typeface="Times New Roman" panose="02020603050405020304" pitchFamily="18" charset="0"/>
              </a:rPr>
              <a:t>Complex Intell. Syst.</a:t>
            </a:r>
            <a:r>
              <a:rPr lang="en-IN" sz="2000" dirty="0">
                <a:latin typeface="Times New Roman" panose="02020603050405020304" pitchFamily="18" charset="0"/>
                <a:cs typeface="Times New Roman" panose="02020603050405020304" pitchFamily="18" charset="0"/>
              </a:rPr>
              <a:t>, vol. 11, Art. no. 231, 2025,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10.1007/s40747-025-01833-9. </a:t>
            </a:r>
            <a:r>
              <a:rPr lang="en-IN" sz="2000" dirty="0">
                <a:latin typeface="Times New Roman" panose="02020603050405020304" pitchFamily="18" charset="0"/>
                <a:cs typeface="Times New Roman" panose="02020603050405020304" pitchFamily="18" charset="0"/>
                <a:hlinkClick r:id="rId4"/>
              </a:rPr>
              <a:t>Paper Link</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“Reducing Hallucinations in RAG through Multi-Signal Relevance Scoring,” </a:t>
            </a:r>
            <a:r>
              <a:rPr lang="en-IN" sz="2000" i="1" dirty="0">
                <a:latin typeface="Times New Roman" panose="02020603050405020304" pitchFamily="18" charset="0"/>
                <a:cs typeface="Times New Roman" panose="02020603050405020304" pitchFamily="18" charset="0"/>
              </a:rPr>
              <a:t>Procedia </a:t>
            </a:r>
            <a:r>
              <a:rPr lang="en-IN" sz="2000" i="1" dirty="0" err="1">
                <a:latin typeface="Times New Roman" panose="02020603050405020304" pitchFamily="18" charset="0"/>
                <a:cs typeface="Times New Roman" panose="02020603050405020304" pitchFamily="18" charset="0"/>
              </a:rPr>
              <a:t>Comput</a:t>
            </a:r>
            <a:r>
              <a:rPr lang="en-IN" sz="2000" i="1" dirty="0">
                <a:latin typeface="Times New Roman" panose="02020603050405020304" pitchFamily="18" charset="0"/>
                <a:cs typeface="Times New Roman" panose="02020603050405020304" pitchFamily="18" charset="0"/>
              </a:rPr>
              <a:t>. Sci.</a:t>
            </a:r>
            <a:r>
              <a:rPr lang="en-IN" sz="2000" dirty="0">
                <a:latin typeface="Times New Roman" panose="02020603050405020304" pitchFamily="18" charset="0"/>
                <a:cs typeface="Times New Roman" panose="02020603050405020304" pitchFamily="18" charset="0"/>
              </a:rPr>
              <a:t>, vol. 282, pp. 3147–3156, 2026,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10.1016/j.procs.2026.06.080. </a:t>
            </a:r>
            <a:r>
              <a:rPr lang="en-IN" sz="2000" dirty="0">
                <a:latin typeface="Times New Roman" panose="02020603050405020304" pitchFamily="18" charset="0"/>
                <a:cs typeface="Times New Roman" panose="02020603050405020304" pitchFamily="18" charset="0"/>
                <a:hlinkClick r:id="rId5"/>
              </a:rPr>
              <a:t>Paper Link</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P. </a:t>
            </a:r>
            <a:r>
              <a:rPr lang="en-IN" sz="2000" dirty="0" err="1">
                <a:latin typeface="Times New Roman" panose="02020603050405020304" pitchFamily="18" charset="0"/>
                <a:cs typeface="Times New Roman" panose="02020603050405020304" pitchFamily="18" charset="0"/>
              </a:rPr>
              <a:t>Manakul</a:t>
            </a:r>
            <a:r>
              <a:rPr lang="en-IN" sz="2000" dirty="0">
                <a:latin typeface="Times New Roman" panose="02020603050405020304" pitchFamily="18" charset="0"/>
                <a:cs typeface="Times New Roman" panose="02020603050405020304" pitchFamily="18" charset="0"/>
              </a:rPr>
              <a:t>, A. </a:t>
            </a:r>
            <a:r>
              <a:rPr lang="en-IN" sz="2000" dirty="0" err="1">
                <a:latin typeface="Times New Roman" panose="02020603050405020304" pitchFamily="18" charset="0"/>
                <a:cs typeface="Times New Roman" panose="02020603050405020304" pitchFamily="18" charset="0"/>
              </a:rPr>
              <a:t>Liusie</a:t>
            </a:r>
            <a:r>
              <a:rPr lang="en-IN" sz="2000" dirty="0">
                <a:latin typeface="Times New Roman" panose="02020603050405020304" pitchFamily="18" charset="0"/>
                <a:cs typeface="Times New Roman" panose="02020603050405020304" pitchFamily="18" charset="0"/>
              </a:rPr>
              <a:t>, and M. J. F. Gales, “</a:t>
            </a:r>
            <a:r>
              <a:rPr lang="en-IN" sz="2000" dirty="0" err="1">
                <a:latin typeface="Times New Roman" panose="02020603050405020304" pitchFamily="18" charset="0"/>
                <a:cs typeface="Times New Roman" panose="02020603050405020304" pitchFamily="18" charset="0"/>
              </a:rPr>
              <a:t>SelfCheckGPT</a:t>
            </a:r>
            <a:r>
              <a:rPr lang="en-IN" sz="2000" dirty="0">
                <a:latin typeface="Times New Roman" panose="02020603050405020304" pitchFamily="18" charset="0"/>
                <a:cs typeface="Times New Roman" panose="02020603050405020304" pitchFamily="18" charset="0"/>
              </a:rPr>
              <a:t>: Zero-Resource Black-Box Hallucination Detection for Generative Large Language Models,” in </a:t>
            </a:r>
            <a:r>
              <a:rPr lang="en-IN" sz="2000" i="1" dirty="0">
                <a:latin typeface="Times New Roman" panose="02020603050405020304" pitchFamily="18" charset="0"/>
                <a:cs typeface="Times New Roman" panose="02020603050405020304" pitchFamily="18" charset="0"/>
              </a:rPr>
              <a:t>Proc. 2023 Conf. Empirical Methods Natural Language Process. (EMNLP)</a:t>
            </a:r>
            <a:r>
              <a:rPr lang="en-IN" sz="2000" dirty="0">
                <a:latin typeface="Times New Roman" panose="02020603050405020304" pitchFamily="18" charset="0"/>
                <a:cs typeface="Times New Roman" panose="02020603050405020304" pitchFamily="18" charset="0"/>
              </a:rPr>
              <a:t>, 2023, pp. 9004–9017,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10.18653/v1/2023.emnlp-main.557. </a:t>
            </a:r>
            <a:r>
              <a:rPr lang="en-IN" sz="2000" dirty="0">
                <a:latin typeface="Times New Roman" panose="02020603050405020304" pitchFamily="18" charset="0"/>
                <a:cs typeface="Times New Roman" panose="02020603050405020304" pitchFamily="18" charset="0"/>
                <a:hlinkClick r:id="rId6"/>
              </a:rPr>
              <a:t>Paper Link</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S. Min, K. Krishna, X. Lyu, M. Lewis, W.-T. Yih, P. Koh, M. </a:t>
            </a:r>
            <a:r>
              <a:rPr lang="en-IN" sz="2000" dirty="0" err="1">
                <a:latin typeface="Times New Roman" panose="02020603050405020304" pitchFamily="18" charset="0"/>
                <a:cs typeface="Times New Roman" panose="02020603050405020304" pitchFamily="18" charset="0"/>
              </a:rPr>
              <a:t>Iyyer</a:t>
            </a:r>
            <a:r>
              <a:rPr lang="en-IN" sz="2000" dirty="0">
                <a:latin typeface="Times New Roman" panose="02020603050405020304" pitchFamily="18" charset="0"/>
                <a:cs typeface="Times New Roman" panose="02020603050405020304" pitchFamily="18" charset="0"/>
              </a:rPr>
              <a:t>, L. Zettlemoyer, and H. </a:t>
            </a:r>
            <a:r>
              <a:rPr lang="en-IN" sz="2000" dirty="0" err="1">
                <a:latin typeface="Times New Roman" panose="02020603050405020304" pitchFamily="18" charset="0"/>
                <a:cs typeface="Times New Roman" panose="02020603050405020304" pitchFamily="18" charset="0"/>
              </a:rPr>
              <a:t>Hajishirzi</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FActScore</a:t>
            </a:r>
            <a:r>
              <a:rPr lang="en-IN" sz="2000" dirty="0">
                <a:latin typeface="Times New Roman" panose="02020603050405020304" pitchFamily="18" charset="0"/>
                <a:cs typeface="Times New Roman" panose="02020603050405020304" pitchFamily="18" charset="0"/>
              </a:rPr>
              <a:t>: Fine-Grained Atomic Evaluation of Factual Precision in Long Form Text Generation,” in </a:t>
            </a:r>
            <a:r>
              <a:rPr lang="en-IN" sz="2000" i="1" dirty="0">
                <a:latin typeface="Times New Roman" panose="02020603050405020304" pitchFamily="18" charset="0"/>
                <a:cs typeface="Times New Roman" panose="02020603050405020304" pitchFamily="18" charset="0"/>
              </a:rPr>
              <a:t>Proc. 2023 Conf. Empirical Methods Natural Language Process. (EMNLP)</a:t>
            </a:r>
            <a:r>
              <a:rPr lang="en-IN" sz="2000" dirty="0">
                <a:latin typeface="Times New Roman" panose="02020603050405020304" pitchFamily="18" charset="0"/>
                <a:cs typeface="Times New Roman" panose="02020603050405020304" pitchFamily="18" charset="0"/>
              </a:rPr>
              <a:t>, 2023, pp. 12076–12100. </a:t>
            </a:r>
            <a:r>
              <a:rPr lang="en-IN" sz="2000" dirty="0">
                <a:latin typeface="Times New Roman" panose="02020603050405020304" pitchFamily="18" charset="0"/>
                <a:cs typeface="Times New Roman" panose="02020603050405020304" pitchFamily="18" charset="0"/>
                <a:hlinkClick r:id="rId7"/>
              </a:rPr>
              <a:t>Paper Link</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0070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FEE43-43A7-AF3C-7EFF-6CA47E5030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9E4937-F552-8761-771F-2EF5AA22970D}"/>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REFERENCES </a:t>
            </a:r>
          </a:p>
        </p:txBody>
      </p:sp>
      <p:sp>
        <p:nvSpPr>
          <p:cNvPr id="4" name="Slide Number Placeholder 3">
            <a:extLst>
              <a:ext uri="{FF2B5EF4-FFF2-40B4-BE49-F238E27FC236}">
                <a16:creationId xmlns:a16="http://schemas.microsoft.com/office/drawing/2014/main" id="{2F71D57B-0615-A46C-4F4F-D5493C77C84C}"/>
              </a:ext>
            </a:extLst>
          </p:cNvPr>
          <p:cNvSpPr>
            <a:spLocks noGrp="1"/>
          </p:cNvSpPr>
          <p:nvPr>
            <p:ph type="sldNum" sz="quarter" idx="12"/>
          </p:nvPr>
        </p:nvSpPr>
        <p:spPr/>
        <p:txBody>
          <a:bodyPr/>
          <a:lstStyle/>
          <a:p>
            <a:fld id="{C02A2637-A5A3-49FA-B214-6E67543099EF}" type="slidenum">
              <a:rPr lang="en-US" smtClean="0"/>
              <a:t>21</a:t>
            </a:fld>
            <a:endParaRPr lang="en-US"/>
          </a:p>
        </p:txBody>
      </p:sp>
      <p:sp>
        <p:nvSpPr>
          <p:cNvPr id="8" name="Content Placeholder 7">
            <a:extLst>
              <a:ext uri="{FF2B5EF4-FFF2-40B4-BE49-F238E27FC236}">
                <a16:creationId xmlns:a16="http://schemas.microsoft.com/office/drawing/2014/main" id="{54D0C7AF-59FD-79C7-DD8B-7E46A6A5CF18}"/>
              </a:ext>
            </a:extLst>
          </p:cNvPr>
          <p:cNvSpPr txBox="1">
            <a:spLocks noGrp="1"/>
          </p:cNvSpPr>
          <p:nvPr>
            <p:ph idx="1"/>
          </p:nvPr>
        </p:nvSpPr>
        <p:spPr>
          <a:xfrm>
            <a:off x="639763" y="1512888"/>
            <a:ext cx="11522075" cy="6025379"/>
          </a:xfrm>
          <a:prstGeom prst="rect">
            <a:avLst/>
          </a:prstGeom>
          <a:noFill/>
        </p:spPr>
        <p:txBody>
          <a:bodyPr wrap="square" lIns="109728" rIns="109728">
            <a:spAutoFit/>
          </a:bodyPr>
          <a:lstStyle/>
          <a:p>
            <a:pPr marL="457200" indent="-457200">
              <a:buFont typeface="+mj-lt"/>
              <a:buAutoNum type="arabicPeriod" startAt="6"/>
            </a:pPr>
            <a:r>
              <a:rPr lang="en-IN" sz="2000" dirty="0">
                <a:latin typeface="Times New Roman" panose="02020603050405020304" pitchFamily="18" charset="0"/>
                <a:cs typeface="Times New Roman" panose="02020603050405020304" pitchFamily="18" charset="0"/>
              </a:rPr>
              <a:t>. Cao, F. Wei, W. Li, and S. Li, “Faithful to the Original: Fact Aware Neural Abstractive Summarization,” in </a:t>
            </a:r>
            <a:r>
              <a:rPr lang="en-IN" sz="2000" i="1" dirty="0">
                <a:latin typeface="Times New Roman" panose="02020603050405020304" pitchFamily="18" charset="0"/>
                <a:cs typeface="Times New Roman" panose="02020603050405020304" pitchFamily="18" charset="0"/>
              </a:rPr>
              <a:t>Proc. 32nd AAAI Conf. </a:t>
            </a:r>
            <a:r>
              <a:rPr lang="en-IN" sz="2000" i="1" dirty="0" err="1">
                <a:latin typeface="Times New Roman" panose="02020603050405020304" pitchFamily="18" charset="0"/>
                <a:cs typeface="Times New Roman" panose="02020603050405020304" pitchFamily="18" charset="0"/>
              </a:rPr>
              <a:t>Artif</a:t>
            </a:r>
            <a:r>
              <a:rPr lang="en-IN" sz="2000" i="1" dirty="0">
                <a:latin typeface="Times New Roman" panose="02020603050405020304" pitchFamily="18" charset="0"/>
                <a:cs typeface="Times New Roman" panose="02020603050405020304" pitchFamily="18" charset="0"/>
              </a:rPr>
              <a:t>. Intell. (AAAI)</a:t>
            </a:r>
            <a:r>
              <a:rPr lang="en-IN" sz="2000" dirty="0">
                <a:latin typeface="Times New Roman" panose="02020603050405020304" pitchFamily="18" charset="0"/>
                <a:cs typeface="Times New Roman" panose="02020603050405020304" pitchFamily="18" charset="0"/>
              </a:rPr>
              <a:t>, vol. 32, no. 1, 2018, pp. 4784–4791,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10.1609/aaai.v32i1.11912. </a:t>
            </a:r>
            <a:r>
              <a:rPr lang="en-IN" sz="2000" dirty="0">
                <a:latin typeface="Times New Roman" panose="02020603050405020304" pitchFamily="18" charset="0"/>
                <a:cs typeface="Times New Roman" panose="02020603050405020304" pitchFamily="18" charset="0"/>
                <a:hlinkClick r:id="rId2"/>
              </a:rPr>
              <a:t>Paper Link</a:t>
            </a:r>
            <a:endParaRPr lang="en-IN" sz="2000" dirty="0">
              <a:latin typeface="Times New Roman" panose="02020603050405020304" pitchFamily="18" charset="0"/>
              <a:cs typeface="Times New Roman" panose="02020603050405020304" pitchFamily="18" charset="0"/>
            </a:endParaRPr>
          </a:p>
          <a:p>
            <a:pPr marL="457200" lvl="0" indent="-457200">
              <a:buFont typeface="+mj-lt"/>
              <a:buAutoNum type="arabicPeriod" startAt="6"/>
            </a:pPr>
            <a:r>
              <a:rPr lang="en-IN" sz="2000" dirty="0">
                <a:latin typeface="Times New Roman" panose="02020603050405020304" pitchFamily="18" charset="0"/>
                <a:cs typeface="Times New Roman" panose="02020603050405020304" pitchFamily="18" charset="0"/>
              </a:rPr>
              <a:t>L. Gao, Z. Dai, P. </a:t>
            </a:r>
            <a:r>
              <a:rPr lang="en-IN" sz="2000" dirty="0" err="1">
                <a:latin typeface="Times New Roman" panose="02020603050405020304" pitchFamily="18" charset="0"/>
                <a:cs typeface="Times New Roman" panose="02020603050405020304" pitchFamily="18" charset="0"/>
              </a:rPr>
              <a:t>Pasupat</a:t>
            </a:r>
            <a:r>
              <a:rPr lang="en-IN" sz="2000" dirty="0">
                <a:latin typeface="Times New Roman" panose="02020603050405020304" pitchFamily="18" charset="0"/>
                <a:cs typeface="Times New Roman" panose="02020603050405020304" pitchFamily="18" charset="0"/>
              </a:rPr>
              <a:t>, A. Chen, A. T. Chaganty, Y. Fan, V. Y. Zhao, N. Lao, H. Lee, D.-C. Juan, and K. </a:t>
            </a:r>
            <a:r>
              <a:rPr lang="en-IN" sz="2000" dirty="0" err="1">
                <a:latin typeface="Times New Roman" panose="02020603050405020304" pitchFamily="18" charset="0"/>
                <a:cs typeface="Times New Roman" panose="02020603050405020304" pitchFamily="18" charset="0"/>
              </a:rPr>
              <a:t>Guu</a:t>
            </a:r>
            <a:r>
              <a:rPr lang="en-IN" sz="2000" dirty="0">
                <a:latin typeface="Times New Roman" panose="02020603050405020304" pitchFamily="18" charset="0"/>
                <a:cs typeface="Times New Roman" panose="02020603050405020304" pitchFamily="18" charset="0"/>
              </a:rPr>
              <a:t>, “RARR: Researching and Revising What Language Models Say, Using Language Models,” in </a:t>
            </a:r>
            <a:r>
              <a:rPr lang="en-IN" sz="2000" i="1" dirty="0">
                <a:latin typeface="Times New Roman" panose="02020603050405020304" pitchFamily="18" charset="0"/>
                <a:cs typeface="Times New Roman" panose="02020603050405020304" pitchFamily="18" charset="0"/>
              </a:rPr>
              <a:t>Proc. 61st Annu. Meeting Assoc. </a:t>
            </a:r>
            <a:r>
              <a:rPr lang="en-IN" sz="2000" i="1" dirty="0" err="1">
                <a:latin typeface="Times New Roman" panose="02020603050405020304" pitchFamily="18" charset="0"/>
                <a:cs typeface="Times New Roman" panose="02020603050405020304" pitchFamily="18" charset="0"/>
              </a:rPr>
              <a:t>Comput</a:t>
            </a:r>
            <a:r>
              <a:rPr lang="en-IN" sz="2000" i="1" dirty="0">
                <a:latin typeface="Times New Roman" panose="02020603050405020304" pitchFamily="18" charset="0"/>
                <a:cs typeface="Times New Roman" panose="02020603050405020304" pitchFamily="18" charset="0"/>
              </a:rPr>
              <a:t>. Linguistics (ACL)</a:t>
            </a:r>
            <a:r>
              <a:rPr lang="en-IN" sz="2000" dirty="0">
                <a:latin typeface="Times New Roman" panose="02020603050405020304" pitchFamily="18" charset="0"/>
                <a:cs typeface="Times New Roman" panose="02020603050405020304" pitchFamily="18" charset="0"/>
              </a:rPr>
              <a:t>, vol. 1, 2023, pp. 16477–16508,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10.18653/v1/2023.acl-long.910. </a:t>
            </a:r>
            <a:r>
              <a:rPr lang="en-IN" sz="2000" dirty="0">
                <a:latin typeface="Times New Roman" panose="02020603050405020304" pitchFamily="18" charset="0"/>
                <a:cs typeface="Times New Roman" panose="02020603050405020304" pitchFamily="18" charset="0"/>
                <a:hlinkClick r:id="rId3"/>
              </a:rPr>
              <a:t>Paper Link</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startAt="6"/>
            </a:pPr>
            <a:r>
              <a:rPr lang="en-IN" sz="2000" dirty="0">
                <a:latin typeface="Times New Roman" panose="02020603050405020304" pitchFamily="18" charset="0"/>
                <a:cs typeface="Times New Roman" panose="02020603050405020304" pitchFamily="18" charset="0"/>
              </a:rPr>
              <a:t>C. Zakka </a:t>
            </a:r>
            <a:r>
              <a:rPr lang="en-IN" sz="2000" i="1" dirty="0">
                <a:latin typeface="Times New Roman" panose="02020603050405020304" pitchFamily="18" charset="0"/>
                <a:cs typeface="Times New Roman" panose="02020603050405020304" pitchFamily="18" charset="0"/>
              </a:rPr>
              <a:t>et al.</a:t>
            </a:r>
            <a:r>
              <a:rPr lang="en-IN" sz="2000" dirty="0">
                <a:latin typeface="Times New Roman" panose="02020603050405020304" pitchFamily="18" charset="0"/>
                <a:cs typeface="Times New Roman" panose="02020603050405020304" pitchFamily="18" charset="0"/>
              </a:rPr>
              <a:t>, “Almanac: Retrieval-Augmented Language Models for Clinical Medicine,” </a:t>
            </a:r>
            <a:r>
              <a:rPr lang="en-IN" sz="2000" i="1" dirty="0">
                <a:latin typeface="Times New Roman" panose="02020603050405020304" pitchFamily="18" charset="0"/>
                <a:cs typeface="Times New Roman" panose="02020603050405020304" pitchFamily="18" charset="0"/>
              </a:rPr>
              <a:t>NEJM AI</a:t>
            </a:r>
            <a:r>
              <a:rPr lang="en-IN" sz="2000" dirty="0">
                <a:latin typeface="Times New Roman" panose="02020603050405020304" pitchFamily="18" charset="0"/>
                <a:cs typeface="Times New Roman" panose="02020603050405020304" pitchFamily="18" charset="0"/>
              </a:rPr>
              <a:t>, vol. 1, no. 2, 2024,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10.1056/AIoa2300068. </a:t>
            </a:r>
            <a:r>
              <a:rPr lang="en-IN" sz="2000" dirty="0">
                <a:latin typeface="Times New Roman" panose="02020603050405020304" pitchFamily="18" charset="0"/>
                <a:cs typeface="Times New Roman" panose="02020603050405020304" pitchFamily="18" charset="0"/>
                <a:hlinkClick r:id="rId4"/>
              </a:rPr>
              <a:t>Paper Link</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startAt="6"/>
            </a:pPr>
            <a:r>
              <a:rPr lang="en-IN" sz="2000" dirty="0">
                <a:latin typeface="Times New Roman" panose="02020603050405020304" pitchFamily="18" charset="0"/>
                <a:cs typeface="Times New Roman" panose="02020603050405020304" pitchFamily="18" charset="0"/>
              </a:rPr>
              <a:t>G. Xiong, Q. Jin, Z. Lu, and A. Zhang, “Benchmarking Retrieval-Augmented Generation for Medicine,” in </a:t>
            </a:r>
            <a:r>
              <a:rPr lang="en-IN" sz="2000" i="1" dirty="0">
                <a:latin typeface="Times New Roman" panose="02020603050405020304" pitchFamily="18" charset="0"/>
                <a:cs typeface="Times New Roman" panose="02020603050405020304" pitchFamily="18" charset="0"/>
              </a:rPr>
              <a:t>Findings Assoc. </a:t>
            </a:r>
            <a:r>
              <a:rPr lang="en-IN" sz="2000" i="1" dirty="0" err="1">
                <a:latin typeface="Times New Roman" panose="02020603050405020304" pitchFamily="18" charset="0"/>
                <a:cs typeface="Times New Roman" panose="02020603050405020304" pitchFamily="18" charset="0"/>
              </a:rPr>
              <a:t>Comput</a:t>
            </a:r>
            <a:r>
              <a:rPr lang="en-IN" sz="2000" i="1" dirty="0">
                <a:latin typeface="Times New Roman" panose="02020603050405020304" pitchFamily="18" charset="0"/>
                <a:cs typeface="Times New Roman" panose="02020603050405020304" pitchFamily="18" charset="0"/>
              </a:rPr>
              <a:t>. Linguistics: ACL 2024</a:t>
            </a:r>
            <a:r>
              <a:rPr lang="en-IN" sz="2000" dirty="0">
                <a:latin typeface="Times New Roman" panose="02020603050405020304" pitchFamily="18" charset="0"/>
                <a:cs typeface="Times New Roman" panose="02020603050405020304" pitchFamily="18" charset="0"/>
              </a:rPr>
              <a:t>, 2024, pp. 6232–6246. </a:t>
            </a:r>
            <a:r>
              <a:rPr lang="en-IN" sz="2000" dirty="0">
                <a:latin typeface="Times New Roman" panose="02020603050405020304" pitchFamily="18" charset="0"/>
                <a:cs typeface="Times New Roman" panose="02020603050405020304" pitchFamily="18" charset="0"/>
                <a:hlinkClick r:id="rId5"/>
              </a:rPr>
              <a:t>Paper Link</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startAt="6"/>
            </a:pPr>
            <a:r>
              <a:rPr lang="en-IN" sz="2000" dirty="0">
                <a:latin typeface="Times New Roman" panose="02020603050405020304" pitchFamily="18" charset="0"/>
                <a:cs typeface="Times New Roman" panose="02020603050405020304" pitchFamily="18" charset="0"/>
              </a:rPr>
              <a:t>J. Lee, H. Cha, Y. Hwangbo, and W. Cheon, “Enhancing Large Language Model Reliability: Minimizing Hallucinations with Dual Retrieval-Augmented Generation Based on the Latest Diabetes Guidelines,” </a:t>
            </a:r>
            <a:r>
              <a:rPr lang="en-IN" sz="2000" i="1" dirty="0">
                <a:latin typeface="Times New Roman" panose="02020603050405020304" pitchFamily="18" charset="0"/>
                <a:cs typeface="Times New Roman" panose="02020603050405020304" pitchFamily="18" charset="0"/>
              </a:rPr>
              <a:t>J. Pers. Med.</a:t>
            </a:r>
            <a:r>
              <a:rPr lang="en-IN" sz="2000" dirty="0">
                <a:latin typeface="Times New Roman" panose="02020603050405020304" pitchFamily="18" charset="0"/>
                <a:cs typeface="Times New Roman" panose="02020603050405020304" pitchFamily="18" charset="0"/>
              </a:rPr>
              <a:t>, vol. 14, no. 12, Art. no. 1131, 2024,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10.3390/jpm14121131. </a:t>
            </a:r>
            <a:r>
              <a:rPr lang="en-IN" sz="2000" dirty="0">
                <a:latin typeface="Times New Roman" panose="02020603050405020304" pitchFamily="18" charset="0"/>
                <a:cs typeface="Times New Roman" panose="02020603050405020304" pitchFamily="18" charset="0"/>
                <a:hlinkClick r:id="rId6"/>
              </a:rPr>
              <a:t>Paper Link</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startAt="6"/>
            </a:pPr>
            <a:r>
              <a:rPr lang="en-IN" sz="2000" dirty="0">
                <a:latin typeface="Times New Roman" panose="02020603050405020304" pitchFamily="18" charset="0"/>
                <a:cs typeface="Times New Roman" panose="02020603050405020304" pitchFamily="18" charset="0"/>
              </a:rPr>
              <a:t>. Cao, F. Wei, W. Li, and S. Li, “Faithful to the Original: Fact Aware Neural Abstractive Summarization,” in </a:t>
            </a:r>
            <a:r>
              <a:rPr lang="en-IN" sz="2000" i="1" dirty="0">
                <a:latin typeface="Times New Roman" panose="02020603050405020304" pitchFamily="18" charset="0"/>
                <a:cs typeface="Times New Roman" panose="02020603050405020304" pitchFamily="18" charset="0"/>
              </a:rPr>
              <a:t>Proc. 32nd AAAI Conf. </a:t>
            </a:r>
            <a:r>
              <a:rPr lang="en-IN" sz="2000" i="1" dirty="0" err="1">
                <a:latin typeface="Times New Roman" panose="02020603050405020304" pitchFamily="18" charset="0"/>
                <a:cs typeface="Times New Roman" panose="02020603050405020304" pitchFamily="18" charset="0"/>
              </a:rPr>
              <a:t>Artif</a:t>
            </a:r>
            <a:r>
              <a:rPr lang="en-IN" sz="2000" i="1" dirty="0">
                <a:latin typeface="Times New Roman" panose="02020603050405020304" pitchFamily="18" charset="0"/>
                <a:cs typeface="Times New Roman" panose="02020603050405020304" pitchFamily="18" charset="0"/>
              </a:rPr>
              <a:t>. Intell. (AAAI)</a:t>
            </a:r>
            <a:r>
              <a:rPr lang="en-IN" sz="2000" dirty="0">
                <a:latin typeface="Times New Roman" panose="02020603050405020304" pitchFamily="18" charset="0"/>
                <a:cs typeface="Times New Roman" panose="02020603050405020304" pitchFamily="18" charset="0"/>
              </a:rPr>
              <a:t>, vol. 32, no. 1, 2018, pp. 4784–4791,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10.1609/aaai.v32i1.11912. </a:t>
            </a:r>
            <a:r>
              <a:rPr lang="en-IN" sz="2000" dirty="0">
                <a:latin typeface="Times New Roman" panose="02020603050405020304" pitchFamily="18" charset="0"/>
                <a:cs typeface="Times New Roman" panose="02020603050405020304" pitchFamily="18" charset="0"/>
                <a:hlinkClick r:id="rId2"/>
              </a:rPr>
              <a:t>Paper Link</a:t>
            </a:r>
            <a:endParaRPr lang="en-IN" sz="2000" dirty="0">
              <a:latin typeface="Times New Roman" panose="02020603050405020304" pitchFamily="18" charset="0"/>
              <a:cs typeface="Times New Roman" panose="02020603050405020304" pitchFamily="18" charset="0"/>
            </a:endParaRPr>
          </a:p>
          <a:p>
            <a:pPr marL="457200" indent="-457200">
              <a:spcAft>
                <a:spcPts val="1100"/>
              </a:spcAft>
              <a:buFont typeface="+mj-lt"/>
              <a:buAutoNum type="arabicPeriod" startAt="6"/>
            </a:pPr>
            <a:endParaRPr lang="en-IN" sz="2000" u="sng" dirty="0">
              <a:solidFill>
                <a:srgbClr val="538BCF"/>
              </a:solidFill>
              <a:latin typeface="Times New Roman" panose="02020603050405020304" pitchFamily="18" charset="0"/>
              <a:cs typeface="Times New Roman" panose="02020603050405020304" pitchFamily="18" charset="0"/>
              <a:hlinkClick r:id="rId7"/>
            </a:endParaRPr>
          </a:p>
        </p:txBody>
      </p:sp>
    </p:spTree>
    <p:extLst>
      <p:ext uri="{BB962C8B-B14F-4D97-AF65-F5344CB8AC3E}">
        <p14:creationId xmlns:p14="http://schemas.microsoft.com/office/powerpoint/2010/main" val="4051530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F1065-D361-2683-0353-60D5EC4DEE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99162F-E5AE-E002-3388-85784FB6F9E0}"/>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REFERENCES </a:t>
            </a:r>
          </a:p>
        </p:txBody>
      </p:sp>
      <p:sp>
        <p:nvSpPr>
          <p:cNvPr id="4" name="Slide Number Placeholder 3">
            <a:extLst>
              <a:ext uri="{FF2B5EF4-FFF2-40B4-BE49-F238E27FC236}">
                <a16:creationId xmlns:a16="http://schemas.microsoft.com/office/drawing/2014/main" id="{C2A45AB1-6CAD-9142-2D12-B120D4E2E1FF}"/>
              </a:ext>
            </a:extLst>
          </p:cNvPr>
          <p:cNvSpPr>
            <a:spLocks noGrp="1"/>
          </p:cNvSpPr>
          <p:nvPr>
            <p:ph type="sldNum" sz="quarter" idx="12"/>
          </p:nvPr>
        </p:nvSpPr>
        <p:spPr/>
        <p:txBody>
          <a:bodyPr/>
          <a:lstStyle/>
          <a:p>
            <a:fld id="{C02A2637-A5A3-49FA-B214-6E67543099EF}" type="slidenum">
              <a:rPr lang="en-US" smtClean="0"/>
              <a:t>22</a:t>
            </a:fld>
            <a:endParaRPr lang="en-US"/>
          </a:p>
        </p:txBody>
      </p:sp>
      <p:sp>
        <p:nvSpPr>
          <p:cNvPr id="8" name="Content Placeholder 7">
            <a:extLst>
              <a:ext uri="{FF2B5EF4-FFF2-40B4-BE49-F238E27FC236}">
                <a16:creationId xmlns:a16="http://schemas.microsoft.com/office/drawing/2014/main" id="{B5CB52AC-DD51-4615-3FD4-A60DD94AAB08}"/>
              </a:ext>
            </a:extLst>
          </p:cNvPr>
          <p:cNvSpPr txBox="1">
            <a:spLocks noGrp="1"/>
          </p:cNvSpPr>
          <p:nvPr>
            <p:ph idx="1"/>
          </p:nvPr>
        </p:nvSpPr>
        <p:spPr>
          <a:xfrm>
            <a:off x="639763" y="1512888"/>
            <a:ext cx="11522075" cy="5348270"/>
          </a:xfrm>
          <a:prstGeom prst="rect">
            <a:avLst/>
          </a:prstGeom>
          <a:noFill/>
        </p:spPr>
        <p:txBody>
          <a:bodyPr wrap="square" lIns="109728" rIns="109728">
            <a:spAutoFit/>
          </a:bodyPr>
          <a:lstStyle/>
          <a:p>
            <a:pPr marL="457200" indent="-457200">
              <a:buFont typeface="+mj-lt"/>
              <a:buAutoNum type="arabicPeriod" startAt="12"/>
            </a:pPr>
            <a:r>
              <a:rPr lang="en-IN" sz="2000" dirty="0">
                <a:latin typeface="Times New Roman" panose="02020603050405020304" pitchFamily="18" charset="0"/>
                <a:cs typeface="Times New Roman" panose="02020603050405020304" pitchFamily="18" charset="0"/>
              </a:rPr>
              <a:t>. Cao, F. Wei, W. Li, and S. Li, “Faithful to the Original: Fact Aware Neural Abstractive Summarization,” in </a:t>
            </a:r>
            <a:r>
              <a:rPr lang="en-IN" sz="2000" i="1" dirty="0">
                <a:latin typeface="Times New Roman" panose="02020603050405020304" pitchFamily="18" charset="0"/>
                <a:cs typeface="Times New Roman" panose="02020603050405020304" pitchFamily="18" charset="0"/>
              </a:rPr>
              <a:t>Proc. 32nd AAAI Conf. </a:t>
            </a:r>
            <a:r>
              <a:rPr lang="en-IN" sz="2000" i="1" dirty="0" err="1">
                <a:latin typeface="Times New Roman" panose="02020603050405020304" pitchFamily="18" charset="0"/>
                <a:cs typeface="Times New Roman" panose="02020603050405020304" pitchFamily="18" charset="0"/>
              </a:rPr>
              <a:t>Artif</a:t>
            </a:r>
            <a:r>
              <a:rPr lang="en-IN" sz="2000" i="1" dirty="0">
                <a:latin typeface="Times New Roman" panose="02020603050405020304" pitchFamily="18" charset="0"/>
                <a:cs typeface="Times New Roman" panose="02020603050405020304" pitchFamily="18" charset="0"/>
              </a:rPr>
              <a:t>. Intell. (AAAI)</a:t>
            </a:r>
            <a:r>
              <a:rPr lang="en-IN" sz="2000" dirty="0">
                <a:latin typeface="Times New Roman" panose="02020603050405020304" pitchFamily="18" charset="0"/>
                <a:cs typeface="Times New Roman" panose="02020603050405020304" pitchFamily="18" charset="0"/>
              </a:rPr>
              <a:t>, vol. 32, no. 1, 2018, pp. 4784–4791,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10.1609/aaai.v32i1.11912. </a:t>
            </a:r>
            <a:r>
              <a:rPr lang="en-IN" sz="2000" dirty="0">
                <a:latin typeface="Times New Roman" panose="02020603050405020304" pitchFamily="18" charset="0"/>
                <a:cs typeface="Times New Roman" panose="02020603050405020304" pitchFamily="18" charset="0"/>
                <a:hlinkClick r:id="rId2"/>
              </a:rPr>
              <a:t>Paper Link</a:t>
            </a:r>
            <a:endParaRPr lang="en-IN" sz="2000" dirty="0">
              <a:latin typeface="Times New Roman" panose="02020603050405020304" pitchFamily="18" charset="0"/>
              <a:cs typeface="Times New Roman" panose="02020603050405020304" pitchFamily="18" charset="0"/>
            </a:endParaRPr>
          </a:p>
          <a:p>
            <a:pPr marL="457200" indent="-457200">
              <a:buFont typeface="+mj-lt"/>
              <a:buAutoNum type="arabicPeriod" startAt="12"/>
            </a:pPr>
            <a:r>
              <a:rPr lang="en-IN" sz="2000" dirty="0">
                <a:latin typeface="Times New Roman" panose="02020603050405020304" pitchFamily="18" charset="0"/>
                <a:cs typeface="Times New Roman" panose="02020603050405020304" pitchFamily="18" charset="0"/>
              </a:rPr>
              <a:t>A. Fink </a:t>
            </a:r>
            <a:r>
              <a:rPr lang="en-IN" sz="2000" i="1" dirty="0">
                <a:latin typeface="Times New Roman" panose="02020603050405020304" pitchFamily="18" charset="0"/>
                <a:cs typeface="Times New Roman" panose="02020603050405020304" pitchFamily="18" charset="0"/>
              </a:rPr>
              <a:t>et al.</a:t>
            </a:r>
            <a:r>
              <a:rPr lang="en-IN" sz="2000" dirty="0">
                <a:latin typeface="Times New Roman" panose="02020603050405020304" pitchFamily="18" charset="0"/>
                <a:cs typeface="Times New Roman" panose="02020603050405020304" pitchFamily="18" charset="0"/>
              </a:rPr>
              <a:t>, “Retrieval-Augmented Generation Improves Precision and Trust of a GPT-4 Model for Emergency Radiology Diagnosis and Classification: A Proof-of-Concept Study,” </a:t>
            </a:r>
            <a:r>
              <a:rPr lang="en-IN" sz="2000" i="1" dirty="0">
                <a:latin typeface="Times New Roman" panose="02020603050405020304" pitchFamily="18" charset="0"/>
                <a:cs typeface="Times New Roman" panose="02020603050405020304" pitchFamily="18" charset="0"/>
              </a:rPr>
              <a:t>Eur. </a:t>
            </a:r>
            <a:r>
              <a:rPr lang="en-IN" sz="2000" i="1" dirty="0" err="1">
                <a:latin typeface="Times New Roman" panose="02020603050405020304" pitchFamily="18" charset="0"/>
                <a:cs typeface="Times New Roman" panose="02020603050405020304" pitchFamily="18" charset="0"/>
              </a:rPr>
              <a:t>Radiol</a:t>
            </a:r>
            <a:r>
              <a:rPr lang="en-IN" sz="2000" i="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vol. 35, pp. 5091–5098, 2025,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10.1007/s00330-025-11445-z. </a:t>
            </a:r>
            <a:r>
              <a:rPr lang="en-IN" sz="2000" dirty="0">
                <a:latin typeface="Times New Roman" panose="02020603050405020304" pitchFamily="18" charset="0"/>
                <a:cs typeface="Times New Roman" panose="02020603050405020304" pitchFamily="18" charset="0"/>
                <a:hlinkClick r:id="rId3"/>
              </a:rPr>
              <a:t>Paper Link</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startAt="12"/>
            </a:pPr>
            <a:r>
              <a:rPr lang="en-IN" sz="2000" dirty="0">
                <a:latin typeface="Times New Roman" panose="02020603050405020304" pitchFamily="18" charset="0"/>
                <a:cs typeface="Times New Roman" panose="02020603050405020304" pitchFamily="18" charset="0"/>
              </a:rPr>
              <a:t>Y. Fukui, Y. Kawata, K. Kobashi, Y. Nagatani, and H. Iguchi, “Evaluation of a Retrieval-Augmented Generation System Using a Japanese Institutional Nuclear Medicine Manual and Large Language Model-Automated Scoring,” </a:t>
            </a:r>
            <a:r>
              <a:rPr lang="en-IN" sz="2000" i="1" dirty="0" err="1">
                <a:latin typeface="Times New Roman" panose="02020603050405020304" pitchFamily="18" charset="0"/>
                <a:cs typeface="Times New Roman" panose="02020603050405020304" pitchFamily="18" charset="0"/>
              </a:rPr>
              <a:t>Radiol</a:t>
            </a:r>
            <a:r>
              <a:rPr lang="en-IN" sz="2000" i="1" dirty="0">
                <a:latin typeface="Times New Roman" panose="02020603050405020304" pitchFamily="18" charset="0"/>
                <a:cs typeface="Times New Roman" panose="02020603050405020304" pitchFamily="18" charset="0"/>
              </a:rPr>
              <a:t>. Phys. Technol.</a:t>
            </a:r>
            <a:r>
              <a:rPr lang="en-IN" sz="2000" dirty="0">
                <a:latin typeface="Times New Roman" panose="02020603050405020304" pitchFamily="18" charset="0"/>
                <a:cs typeface="Times New Roman" panose="02020603050405020304" pitchFamily="18" charset="0"/>
              </a:rPr>
              <a:t>, vol. 18, pp. 861–876, 2025,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10.1007/s12194-025-00941-y. </a:t>
            </a:r>
            <a:r>
              <a:rPr lang="en-IN" sz="2000" dirty="0">
                <a:latin typeface="Times New Roman" panose="02020603050405020304" pitchFamily="18" charset="0"/>
                <a:cs typeface="Times New Roman" panose="02020603050405020304" pitchFamily="18" charset="0"/>
                <a:hlinkClick r:id="rId4"/>
              </a:rPr>
              <a:t>Paper Link</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startAt="12"/>
            </a:pP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RAGCare</a:t>
            </a:r>
            <a:r>
              <a:rPr lang="en-IN" sz="2000" dirty="0">
                <a:latin typeface="Times New Roman" panose="02020603050405020304" pitchFamily="18" charset="0"/>
                <a:cs typeface="Times New Roman" panose="02020603050405020304" pitchFamily="18" charset="0"/>
              </a:rPr>
              <a:t>-QA: A Benchmark Dataset for Evaluating Retrieval-Augmented Generation Pipelines in Theoretical Medical Knowledge,” </a:t>
            </a:r>
            <a:r>
              <a:rPr lang="en-IN" sz="2000" i="1" dirty="0">
                <a:latin typeface="Times New Roman" panose="02020603050405020304" pitchFamily="18" charset="0"/>
                <a:cs typeface="Times New Roman" panose="02020603050405020304" pitchFamily="18" charset="0"/>
              </a:rPr>
              <a:t>Data Brief</a:t>
            </a:r>
            <a:r>
              <a:rPr lang="en-IN" sz="2000" dirty="0">
                <a:latin typeface="Times New Roman" panose="02020603050405020304" pitchFamily="18" charset="0"/>
                <a:cs typeface="Times New Roman" panose="02020603050405020304" pitchFamily="18" charset="0"/>
              </a:rPr>
              <a:t>, vol. 63, Art. no. 112146, 2025,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10.1016/j.dib.2025.112146. </a:t>
            </a:r>
            <a:r>
              <a:rPr lang="en-IN" sz="2000" dirty="0">
                <a:latin typeface="Times New Roman" panose="02020603050405020304" pitchFamily="18" charset="0"/>
                <a:cs typeface="Times New Roman" panose="02020603050405020304" pitchFamily="18" charset="0"/>
                <a:hlinkClick r:id="rId5"/>
              </a:rPr>
              <a:t>Paper Link</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startAt="12"/>
            </a:pPr>
            <a:r>
              <a:rPr lang="en-IN" sz="2000" dirty="0">
                <a:latin typeface="Times New Roman" panose="02020603050405020304" pitchFamily="18" charset="0"/>
                <a:cs typeface="Times New Roman" panose="02020603050405020304" pitchFamily="18" charset="0"/>
              </a:rPr>
              <a:t>H. Jung, K. Cho, T. J. Jun, and Y.-H. Kim, “RAG in Clinical Practice: A Cautionary Tale of AI ‘Truthfulness’,” </a:t>
            </a:r>
            <a:r>
              <a:rPr lang="en-IN" sz="2000" i="1" dirty="0" err="1">
                <a:latin typeface="Times New Roman" panose="02020603050405020304" pitchFamily="18" charset="0"/>
                <a:cs typeface="Times New Roman" panose="02020603050405020304" pitchFamily="18" charset="0"/>
              </a:rPr>
              <a:t>npj</a:t>
            </a:r>
            <a:r>
              <a:rPr lang="en-IN" sz="2000" i="1" dirty="0">
                <a:latin typeface="Times New Roman" panose="02020603050405020304" pitchFamily="18" charset="0"/>
                <a:cs typeface="Times New Roman" panose="02020603050405020304" pitchFamily="18" charset="0"/>
              </a:rPr>
              <a:t> Health Syst.</a:t>
            </a:r>
            <a:r>
              <a:rPr lang="en-IN" sz="2000" dirty="0">
                <a:latin typeface="Times New Roman" panose="02020603050405020304" pitchFamily="18" charset="0"/>
                <a:cs typeface="Times New Roman" panose="02020603050405020304" pitchFamily="18" charset="0"/>
              </a:rPr>
              <a:t>, vol. 3, Art. no. 57, 2026,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10.1038/s44401-026-00115-x. </a:t>
            </a:r>
            <a:r>
              <a:rPr lang="en-IN" sz="2000" dirty="0">
                <a:latin typeface="Times New Roman" panose="02020603050405020304" pitchFamily="18" charset="0"/>
                <a:cs typeface="Times New Roman" panose="02020603050405020304" pitchFamily="18" charset="0"/>
                <a:hlinkClick r:id="rId6"/>
              </a:rPr>
              <a:t>Paper Link</a:t>
            </a:r>
            <a:endParaRPr lang="en-IN" sz="2000" dirty="0">
              <a:latin typeface="Times New Roman" panose="02020603050405020304" pitchFamily="18" charset="0"/>
              <a:cs typeface="Times New Roman" panose="02020603050405020304" pitchFamily="18" charset="0"/>
            </a:endParaRPr>
          </a:p>
          <a:p>
            <a:pPr marL="457200" indent="-457200">
              <a:spcAft>
                <a:spcPts val="1100"/>
              </a:spcAft>
              <a:buFont typeface="+mj-lt"/>
              <a:buAutoNum type="arabicPeriod" startAt="12"/>
            </a:pPr>
            <a:endParaRPr lang="en-IN" sz="2000" u="sng" dirty="0">
              <a:solidFill>
                <a:srgbClr val="538BCF"/>
              </a:solidFill>
              <a:latin typeface="Times New Roman" panose="02020603050405020304" pitchFamily="18" charset="0"/>
              <a:cs typeface="Times New Roman" panose="02020603050405020304" pitchFamily="18" charset="0"/>
              <a:hlinkClick r:id="rId7"/>
            </a:endParaRPr>
          </a:p>
        </p:txBody>
      </p:sp>
    </p:spTree>
    <p:extLst>
      <p:ext uri="{BB962C8B-B14F-4D97-AF65-F5344CB8AC3E}">
        <p14:creationId xmlns:p14="http://schemas.microsoft.com/office/powerpoint/2010/main" val="8357629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1C20E-542A-2504-557D-C9E6C3BC9150}"/>
              </a:ext>
            </a:extLst>
          </p:cNvPr>
          <p:cNvSpPr>
            <a:spLocks noGrp="1"/>
          </p:cNvSpPr>
          <p:nvPr>
            <p:ph type="title"/>
          </p:nvPr>
        </p:nvSpPr>
        <p:spPr>
          <a:solidFill>
            <a:schemeClr val="tx2">
              <a:lumMod val="60000"/>
              <a:lumOff val="40000"/>
            </a:schemeClr>
          </a:solidFill>
        </p:spPr>
        <p:txBody>
          <a:bodyPr>
            <a:normAutofit/>
          </a:bodyPr>
          <a:lstStyle/>
          <a:p>
            <a:r>
              <a:rPr lang="en-IN" sz="4400" b="1" dirty="0">
                <a:solidFill>
                  <a:schemeClr val="bg1"/>
                </a:solidFill>
                <a:latin typeface="Times New Roman" panose="02020603050405020304" pitchFamily="18" charset="0"/>
                <a:cs typeface="Times New Roman" panose="02020603050405020304" pitchFamily="18" charset="0"/>
              </a:rPr>
              <a:t>TIMELINE/ GANTT CHART</a:t>
            </a:r>
          </a:p>
        </p:txBody>
      </p:sp>
      <p:pic>
        <p:nvPicPr>
          <p:cNvPr id="6" name="Content Placeholder 5">
            <a:extLst>
              <a:ext uri="{FF2B5EF4-FFF2-40B4-BE49-F238E27FC236}">
                <a16:creationId xmlns:a16="http://schemas.microsoft.com/office/drawing/2014/main" id="{5E2FF5C0-0AF2-84CF-8C2D-7AAB0D5E4D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9765" y="1706563"/>
            <a:ext cx="10862070" cy="4827587"/>
          </a:xfrm>
          <a:prstGeom prst="rect">
            <a:avLst/>
          </a:prstGeom>
        </p:spPr>
      </p:pic>
      <p:sp>
        <p:nvSpPr>
          <p:cNvPr id="4" name="Slide Number Placeholder 3">
            <a:extLst>
              <a:ext uri="{FF2B5EF4-FFF2-40B4-BE49-F238E27FC236}">
                <a16:creationId xmlns:a16="http://schemas.microsoft.com/office/drawing/2014/main" id="{F00B5C69-250B-3135-33C8-F939CF4E4605}"/>
              </a:ext>
            </a:extLst>
          </p:cNvPr>
          <p:cNvSpPr>
            <a:spLocks noGrp="1"/>
          </p:cNvSpPr>
          <p:nvPr>
            <p:ph type="sldNum" sz="quarter" idx="12"/>
          </p:nvPr>
        </p:nvSpPr>
        <p:spPr/>
        <p:txBody>
          <a:bodyPr/>
          <a:lstStyle/>
          <a:p>
            <a:fld id="{C02A2637-A5A3-49FA-B214-6E67543099EF}" type="slidenum">
              <a:rPr lang="en-US" smtClean="0"/>
              <a:t>23</a:t>
            </a:fld>
            <a:endParaRPr lang="en-US"/>
          </a:p>
        </p:txBody>
      </p:sp>
    </p:spTree>
    <p:extLst>
      <p:ext uri="{BB962C8B-B14F-4D97-AF65-F5344CB8AC3E}">
        <p14:creationId xmlns:p14="http://schemas.microsoft.com/office/powerpoint/2010/main" val="37596846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2E6E5E-DA5C-1D2E-DA38-8B0B5F6C570F}"/>
              </a:ext>
            </a:extLst>
          </p:cNvPr>
          <p:cNvSpPr>
            <a:spLocks noGrp="1"/>
          </p:cNvSpPr>
          <p:nvPr>
            <p:ph type="sldNum" sz="quarter" idx="12"/>
          </p:nvPr>
        </p:nvSpPr>
        <p:spPr/>
        <p:txBody>
          <a:bodyPr/>
          <a:lstStyle/>
          <a:p>
            <a:fld id="{C02A2637-A5A3-49FA-B214-6E67543099EF}" type="slidenum">
              <a:rPr lang="en-US" smtClean="0"/>
              <a:t>24</a:t>
            </a:fld>
            <a:endParaRPr lang="en-US"/>
          </a:p>
        </p:txBody>
      </p:sp>
      <p:pic>
        <p:nvPicPr>
          <p:cNvPr id="4" name="Picture 3">
            <a:extLst>
              <a:ext uri="{FF2B5EF4-FFF2-40B4-BE49-F238E27FC236}">
                <a16:creationId xmlns:a16="http://schemas.microsoft.com/office/drawing/2014/main" id="{926E0C6A-7044-3AB8-3304-551BB2596465}"/>
              </a:ext>
            </a:extLst>
          </p:cNvPr>
          <p:cNvPicPr>
            <a:picLocks noChangeAspect="1"/>
          </p:cNvPicPr>
          <p:nvPr/>
        </p:nvPicPr>
        <p:blipFill>
          <a:blip r:embed="rId2"/>
          <a:stretch>
            <a:fillRect/>
          </a:stretch>
        </p:blipFill>
        <p:spPr>
          <a:xfrm>
            <a:off x="640080" y="457201"/>
            <a:ext cx="11399520" cy="6412230"/>
          </a:xfrm>
          <a:prstGeom prst="rect">
            <a:avLst/>
          </a:prstGeom>
        </p:spPr>
      </p:pic>
    </p:spTree>
    <p:extLst>
      <p:ext uri="{BB962C8B-B14F-4D97-AF65-F5344CB8AC3E}">
        <p14:creationId xmlns:p14="http://schemas.microsoft.com/office/powerpoint/2010/main" val="3515425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819401"/>
            <a:ext cx="11521440" cy="1219200"/>
          </a:xfrm>
        </p:spPr>
        <p:txBody>
          <a:bodyPr>
            <a:normAutofit fontScale="90000"/>
          </a:bodyPr>
          <a:lstStyle/>
          <a:p>
            <a:r>
              <a:rPr lang="en-US" sz="10000" b="1" dirty="0">
                <a:solidFill>
                  <a:schemeClr val="tx2">
                    <a:lumMod val="60000"/>
                    <a:lumOff val="40000"/>
                  </a:schemeClr>
                </a:solidFill>
                <a:latin typeface="Times New Roman" pitchFamily="18" charset="0"/>
                <a:cs typeface="Times New Roman" pitchFamily="18" charset="0"/>
              </a:rPr>
              <a:t>Thank You</a:t>
            </a:r>
          </a:p>
        </p:txBody>
      </p:sp>
      <p:sp>
        <p:nvSpPr>
          <p:cNvPr id="3" name="Slide Number Placeholder 2"/>
          <p:cNvSpPr>
            <a:spLocks noGrp="1"/>
          </p:cNvSpPr>
          <p:nvPr>
            <p:ph type="sldNum" sz="quarter" idx="12"/>
          </p:nvPr>
        </p:nvSpPr>
        <p:spPr/>
        <p:txBody>
          <a:bodyPr/>
          <a:lstStyle/>
          <a:p>
            <a:fld id="{C02A2637-A5A3-49FA-B214-6E67543099EF}" type="slidenum">
              <a:rPr lang="en-US" smtClean="0"/>
              <a:t>25</a:t>
            </a:fld>
            <a:endParaRPr lang="en-US"/>
          </a:p>
        </p:txBody>
      </p:sp>
    </p:spTree>
    <p:extLst>
      <p:ext uri="{BB962C8B-B14F-4D97-AF65-F5344CB8AC3E}">
        <p14:creationId xmlns:p14="http://schemas.microsoft.com/office/powerpoint/2010/main" val="27503980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15968</TotalTime>
  <Words>6066</Words>
  <Application>Microsoft Office PowerPoint</Application>
  <PresentationFormat>Custom</PresentationFormat>
  <Paragraphs>426</Paragraphs>
  <Slides>25</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Times New Roman</vt:lpstr>
      <vt:lpstr>Wingdings</vt:lpstr>
      <vt:lpstr>Office Theme</vt:lpstr>
      <vt:lpstr>SENTENCE-LEVEL DETECTION AND TIERED ABSTENTION FRAMEWORK FOR REDUCING HALLUCINATIONS IN DOMAIN-SPECIFIC  RAG SYSTEMS</vt:lpstr>
      <vt:lpstr>CONTENTS</vt:lpstr>
      <vt:lpstr>1.ABSTRACT</vt:lpstr>
      <vt:lpstr>2. INTRODUCTION</vt:lpstr>
      <vt:lpstr>3.LITERATURE SURVEY</vt:lpstr>
      <vt:lpstr>LITERATURE SURVEY (CONTD..,)</vt:lpstr>
      <vt:lpstr>LITERATURE SURVEY (CONTD..,)</vt:lpstr>
      <vt:lpstr>LITERATURE SURVEY (CONTD..,)</vt:lpstr>
      <vt:lpstr>PowerPoint Presentation</vt:lpstr>
      <vt:lpstr>5. OBJECTIVES</vt:lpstr>
      <vt:lpstr>6. MODULE IDENTIFICATION</vt:lpstr>
      <vt:lpstr>PowerPoint Presentation</vt:lpstr>
      <vt:lpstr>8. DEVELOPMENT &amp; INTEGRATION</vt:lpstr>
      <vt:lpstr>8. DEVELOPMENT &amp; INTEGRATION</vt:lpstr>
      <vt:lpstr>8. DEVELOPMENT &amp; INTEGRATION</vt:lpstr>
      <vt:lpstr>8. DEVELOPMENT &amp; INTEGRATION</vt:lpstr>
      <vt:lpstr>8. DEVELOPMENT &amp; INTEGRATION</vt:lpstr>
      <vt:lpstr>PowerPoint Presentation</vt:lpstr>
      <vt:lpstr>10. PROTOTYPE / RESEARCH FRAMEWORK</vt:lpstr>
      <vt:lpstr>REFERENCES </vt:lpstr>
      <vt:lpstr>REFERENCES </vt:lpstr>
      <vt:lpstr>REFERENCES </vt:lpstr>
      <vt:lpstr>TIMELINE/ GANTT CHART</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APPROACH TO REDUCE LOAD ON CHANGE IMPACT ANALYSIS OVER SOFTWARE DEVELOPMENT</dc:title>
  <dc:creator>admin</dc:creator>
  <cp:lastModifiedBy>Sonal Agnihotri</cp:lastModifiedBy>
  <cp:revision>137</cp:revision>
  <dcterms:created xsi:type="dcterms:W3CDTF">2020-07-13T09:49:45Z</dcterms:created>
  <dcterms:modified xsi:type="dcterms:W3CDTF">2026-09-30T05:11:32Z</dcterms:modified>
</cp:coreProperties>
</file>